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79099" autoAdjust="0"/>
  </p:normalViewPr>
  <p:slideViewPr>
    <p:cSldViewPr snapToGrid="0" snapToObjects="1">
      <p:cViewPr varScale="1">
        <p:scale>
          <a:sx n="68" d="100"/>
          <a:sy n="68" d="100"/>
        </p:scale>
        <p:origin x="1032"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6913877"/>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오늘은 Java의 클래스와 객체를 다시 정리해보는 시간입니다.
다들 지난 학기에 한 번씩은 배우셨을 텐데, 시간이 지나면 '클래스가 뭐였더라' 하게 되잖아요.
오늘 목표는 새로운 걸 많이 배우는 게 아니라, '아 맞아, 클래스가 이런 거였지' 하고 다시 떠올리는 겁니다.
그래서 자동차나 동물 같은 예제 대신, 제가 실제로 일해봤던 편집샵 상품 관리를 예제로 끝까지 끌고 갈 거예요.
화면에 보이는 Product, 이 하나로 처음부터 끝까지 갑니다.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내내 이 질문 하나만 들고 가려고 합니다.
"Java에서 우리는 왜 클래스를 사용할까?"
문법을 순서대로 나열하는 발표가 아니라, 이 질문에 답하는 과정이라고 생각해 주세요.
아래 흐름처럼, 먼저 문제 상황을 보고, 클래스를 만들고, 객체를 만들고, 생성자와 메서드를 거쳐서
마지막엔 실제로 제가 만든 상품관리 프로그램까지 갑니다. 그리고 다시 이 질문으로 돌아올 거예요.</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클래스가 왜 필요한지부터 보겠습니다.
상품 하나를 관리한다고 하면 이름, 가격, 재고. 변수 세 개면 충분하죠. 여기까진 아무 문제 없습니다.
그런데 상품이 두 개가 되면 name1, price1, stock1 / name2, price2, stock2 이렇게 늘어나요.
실제 편집샵은 상품이 100개, 200개씩 됩니다. 그럼 변수가 300개가 되는 거예요.
문제는 길이만이 아닙니다. price2가 어떤 상품 가격인지는 이름 붙이는 규칙에만 기대고 있고,
나중에 '할인율' 하나 추가하자고 하면 전부 다 손대야 합니다.
즉, 데이터끼리 묶여 있지 않아서 생기는 문제예요.</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여기서 자연스럽게 나오는 게 클래스입니다.
상품이라는 대상이 항상 이름, 가격, 재고를 가진다면, 그걸 미리 한 번만 정의해두자는 거예요.
이렇게 Product라는 클래스를 만들어두면, 이제 '상품'이라는 개념이 코드 안에 생깁니다.
클래스는 흔히 설계도에 비유하는데, 정확히는 '객체가 어떤 데이터와 기능을 가질지 정의해 둔 것'입니다.
지금 이 코드 자체는 아직 상품이 아니에요. 상품을 어떻게 만들지 적어둔 것뿐입니다.
실제 ERL Hoodie, Diesel Jeans는 이 정의를 바탕으로 뒤에서 만들어집니다.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클래스 안에 선언한 이 변수들을 필드라고 부릅니다.
쉽게 말하면 '객체가 가지고 있는 데이터', 혹은 '상태'예요.
name은 상품명, price는 가격, stock은 재고. 딱 그 정도로만 기억하시면 됩니다.
중요한 건 이겁니다. 필드의 종류는 클래스가 정하지만, 그 값은 객체마다 다르다는 것.
ERL Hoodie도 name, price, stock을 갖고 Diesel Jeans도 갖는데, 안에 들어있는 값은 서로 다르죠.
이게 뒤에서 나올 '같은 클래스, 다른 객체'의 출발점입니다.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여기서 헷갈리기 쉬운 부분을 정리하고 갑니다. 클래스와 객체는 다른 겁니다.
클래스는 정의고, 객체는 그 정의로 실제로 만들어진 실체예요.
Product 클래스는 하나지만, 그걸로 만들 수 있는 객체는 몇 개든 만들 수 있습니다.
ERL Hoodie 객체, Diesel Jeans 객체. 둘 다 name, price, stock을 갖고 있지만 값은 각자 다르죠.
편집샵으로 치면, 상품 등록 양식은 하나인데 그 양식으로 등록된 상품은 수백 개인 것과 같습니다.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실제로 객체를 만들어 봅니다. 이 한 줄이 오늘 발표에서 제일 중요한 줄이에요.
한 줄이지만 사실 세 가지가 들어 있습니다.
맨 앞의 Product는 클래스 이름이면서, 동시에 product1이라는 변수의 자료형입니다. int나 String 자리에 Product가 온 거죠.
가운데 product1은 참조 변수입니다. 만들어진 객체를 가리키는 이름이에요.
그리고 오른쪽 new Product(...)가 실제로 객체를 만드는 부분입니다.
여기서 하나만 정확히 하고 갈게요. product1이 객체다, 라고 말하기 쉬운데
정확히는 product1은 Product 객체를 가리키는 참조 변수입니다. 다음 슬라이드에서 그림으로 보겠습니다.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그림으로 보면 이렇습니다. 왼쪽이 참조 변수, 오른쪽이 실제 객체예요.
product1은 Erl hoodie 정보를 가진 객체를 가리키고, product2는 Diesel Jeans 객체를 가리킵니다.
new Product가 두 번 실행됐기 때문에 객체도 두 개가 만들어졌어요.
그리고 이 두 객체는 같은 Product 클래스로 만들어졌지만, name, price, stock 값은 각자 따로 가지고 있습니다.
그래서 product1 쪽 값을 바꿔도 product2는 아무 영향을 안 받습니다.
이 부분은 뒤에서 재고가 줄어드는 걸로 직접 확인할 거예요.</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그럼 new Product("Erl hoodie", 450000, 3) 할 때 그 값들은 어디로 갈까요? 생성자로 갑니다.
생성자는 객체가 만들어질 때 자동으로 호출돼서, 전달받은 값으로 객체의 첫 상태를 정해주는 부분이에요.
특징이 두 개 있는데, 이름이 클래스 이름과 똑같고, 반환형을 안 씁니다. void도 안 써요.
그리고 this가 나오는데 여기서는 딱 이 정도만 기억하시면 됩니다.
this.price 는 '지금 만들어지고 있는 이 객체의 price 필드'고, 오른쪽 price는 '전달받은 값'입니다.
이름이 같아서 헷갈리니까 this로 구분해주는 거예요.
오른쪽 그림처럼 450000이라는 값이 매개변수를 거쳐서 결국 객체의 필드에 저장되는 흐름입니다.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지금까지는 데이터였고, 이번엔 기능입니다. 메서드는 객체가 할 수 있는 동작이에요.
Product에는 두 개가 있습니다. showInfo()는 상품 정보를 출력하고, sell()은 재고가 있으면 하나 팔고 재고를 줄입니다.
여기서 눈여겨볼 게 하나 있어요. 메서드 안에서 price나 stock을 그냥 이름만 써서 쓰고 있죠.
이게 '자기 객체의 필드'를 쓴다는 뜻입니다.
그래서 아래처럼 product1.sell() 을 호출하면, product1이 가리키는 객체의 sell()이 실행되고
그 안에서 쓰는 stock도 그 객체의 stock입니다. Diesel Jeans 재고는 건드리지 않아요.</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슬라이드가 오늘 발표에서 제일 중요한 장면입니다.
처음에 ERL Hoodie 재고가 3, Diesel Jeans가 5였어요.
여기서 product1.sell()을 두 번, product2.sell()을 한 번 호출합니다.
결과를 보면 ERL Hoodie는 3에서 1로 두 번 줄었고, Diesel Jeans는 5에서 4로 한 번만 줄었습니다.
같은 클래스로 만들어졌고, 똑같은 sell() 메서드를 썼는데 결과가 다르죠.
메서드는 클래스에 한 번만 정의돼 있지만, 그 메서드가 건드리는 데이터는 각 객체의 것이기 때문입니다.
이게 클래스와 객체를 구분해야 하는 이유예요.</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제가 실제로 작성한 Product.java입니다. 한 줄씩 읽지는 않을게요.
화면처럼 크게 세 덩어리로 보시면 됩니다.
왼쪽 위는 필드, 객체가 가지는 데이터고요. 그 아래는 생성자, 객체가 만들어질 때 첫 상태를 정해주는 부분입니다.
오른쪽은 메서드, 객체가 할 수 있는 일이에요. showInfo()랑 sell() 두 개가 들어 있습니다.
메서드 안을 보시면 name이나 stock을 그냥 이름으로 쓰고 있죠. 자기 객체의 필드를 쓴다는 뜻입니다.
오늘 앞에서 따로따로 본 개념들이 사실은 이 한 파일 안에 다 들어 있었던 거예요.
클래스가 '데이터와 기능을 한 곳에 묶은 것'이라는 게 이 화면에 그대로 보입니다.</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그리고 이 Product 클래스를 실제로 쓰는 프로그램이 Main.java입니다.
동작은 간단해요. 상품 객체 두 개를 만들고, 목록을 보여주고, 몇 번 상품을 팔지 입력받습니다.
입력한 번호에 따라 해당 객체의 sell()을 호출하고, 마지막에 두 상품 정보를 다시 출력합니다.
여기서 Scanner나 if문 문법은 오늘 주제가 아니니까 넘어갈게요.
봐주실 부분은 4번입니다. 사용자가 1번을 고르면 product1.sell()이 실행돼요.
우리가 앞에서 본 '참조 변수 → 객체 → 메서드' 흐름이 실제 프로그램에서 그대로 쓰이고 있는 겁니다.</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실제로 실행한 결과입니다. 저는 1번, ERL Hoodie를 선택했어요.
출력을 한 줄씩 읽지는 않을게요. 오른쪽 두 개만 봐주세요.
1번을 선택했더니 product1이 가리키는 객체의 sell()이 실행돼서 재고가 3에서 2로 줄었습니다.
반면 product2가 가리키는 Diesel Jeans 객체는 재고가 5 그대로예요. 호출을 안 했으니까요.
앞에서 그림으로만 보던 '객체마다 데이터가 따로 있다'가 실제 실행 결과로 확인된 겁니다.</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그래서 처음 질문으로 돌아오겠습니다. Java에서 우리는 왜 클래스를 사용할까요?
오늘 답은 이겁니다.
현실의 한 대상을 표현하는 데이터와 기능을 하나의 클래스로 묶어두고,
필요할 때마다 객체로 찍어내서 각자의 상태를 관리하기 위해서입니다.
상품 100개를 변수 300개로 관리하던 문제에서 출발해서,
Product 클래스 하나로 ERL Hoodie도 Diesel Jeans도 만들 수 있는 데까지 왔습니다.
오늘은 여기까지고요, 질문 있으시면 편하게 해주세요. 감사합니다.</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214"/>
        </a:solidFill>
        <a:effectLst/>
      </p:bgPr>
    </p:bg>
    <p:spTree>
      <p:nvGrpSpPr>
        <p:cNvPr id="1" name=""/>
        <p:cNvGrpSpPr/>
        <p:nvPr/>
      </p:nvGrpSpPr>
      <p:grpSpPr>
        <a:xfrm>
          <a:off x="0" y="0"/>
          <a:ext cx="0" cy="0"/>
          <a:chOff x="0" y="0"/>
          <a:chExt cx="0" cy="0"/>
        </a:xfrm>
      </p:grpSpPr>
      <p:sp>
        <p:nvSpPr>
          <p:cNvPr id="2" name="Text 0"/>
          <p:cNvSpPr txBox="1"/>
          <p:nvPr/>
        </p:nvSpPr>
        <p:spPr>
          <a:xfrm>
            <a:off x="365760" y="5074920"/>
            <a:ext cx="11521440" cy="822960"/>
          </a:xfrm>
          <a:prstGeom prst="rect">
            <a:avLst/>
          </a:prstGeom>
          <a:noFill/>
          <a:ln/>
        </p:spPr>
        <p:txBody>
          <a:bodyPr wrap="square" lIns="0" tIns="0" rIns="0" bIns="0" rtlCol="0" anchor="ctr"/>
          <a:lstStyle/>
          <a:p>
            <a:pPr marL="0" indent="0" algn="l">
              <a:buNone/>
            </a:pPr>
            <a:r>
              <a:rPr lang="en-US" sz="3400" dirty="0">
                <a:solidFill>
                  <a:srgbClr val="1E2026"/>
                </a:solidFill>
                <a:latin typeface="Consolas" pitchFamily="34" charset="0"/>
                <a:ea typeface="Consolas" pitchFamily="34" charset="-122"/>
                <a:cs typeface="Consolas" pitchFamily="34" charset="-120"/>
              </a:rPr>
              <a:t>new Product("Erl hoodie", 450000, 3);</a:t>
            </a:r>
            <a:endParaRPr lang="en-US" sz="3400" dirty="0"/>
          </a:p>
        </p:txBody>
      </p:sp>
      <p:sp>
        <p:nvSpPr>
          <p:cNvPr id="3" name="Shape 1"/>
          <p:cNvSpPr/>
          <p:nvPr/>
        </p:nvSpPr>
        <p:spPr>
          <a:xfrm>
            <a:off x="685800" y="960120"/>
            <a:ext cx="1600200" cy="292608"/>
          </a:xfrm>
          <a:prstGeom prst="roundRect">
            <a:avLst>
              <a:gd name="adj" fmla="val 50000"/>
            </a:avLst>
          </a:prstGeom>
          <a:solidFill>
            <a:srgbClr val="24262C"/>
          </a:solidFill>
          <a:ln w="12700">
            <a:solidFill>
              <a:srgbClr val="24262C"/>
            </a:solidFill>
            <a:prstDash val="solid"/>
          </a:ln>
        </p:spPr>
      </p:sp>
      <p:sp>
        <p:nvSpPr>
          <p:cNvPr id="4" name="Text 2"/>
          <p:cNvSpPr txBox="1"/>
          <p:nvPr/>
        </p:nvSpPr>
        <p:spPr>
          <a:xfrm>
            <a:off x="685800" y="960120"/>
            <a:ext cx="1600200" cy="292608"/>
          </a:xfrm>
          <a:prstGeom prst="rect">
            <a:avLst/>
          </a:prstGeom>
          <a:noFill/>
          <a:ln/>
        </p:spPr>
        <p:txBody>
          <a:bodyPr wrap="square" lIns="0" tIns="0" rIns="0" bIns="0" rtlCol="0" anchor="ctr"/>
          <a:lstStyle/>
          <a:p>
            <a:pPr marL="0" indent="0" algn="ctr">
              <a:buNone/>
            </a:pPr>
            <a:r>
              <a:rPr lang="en-US" sz="1100" b="1" dirty="0">
                <a:solidFill>
                  <a:srgbClr val="FF8A66"/>
                </a:solidFill>
                <a:latin typeface="맑은 고딕" pitchFamily="34" charset="0"/>
                <a:ea typeface="맑은 고딕" pitchFamily="34" charset="-122"/>
                <a:cs typeface="맑은 고딕" pitchFamily="34" charset="-120"/>
              </a:rPr>
              <a:t>Java 복습 세션</a:t>
            </a:r>
            <a:endParaRPr lang="en-US" sz="1100" dirty="0"/>
          </a:p>
        </p:txBody>
      </p:sp>
      <p:sp>
        <p:nvSpPr>
          <p:cNvPr id="5" name="Text 3"/>
          <p:cNvSpPr txBox="1"/>
          <p:nvPr/>
        </p:nvSpPr>
        <p:spPr>
          <a:xfrm>
            <a:off x="685800" y="1600200"/>
            <a:ext cx="10058400" cy="640080"/>
          </a:xfrm>
          <a:prstGeom prst="rect">
            <a:avLst/>
          </a:prstGeom>
          <a:noFill/>
          <a:ln/>
        </p:spPr>
        <p:txBody>
          <a:bodyPr wrap="square" lIns="0" tIns="0" rIns="0" bIns="0" rtlCol="0" anchor="ctr"/>
          <a:lstStyle/>
          <a:p>
            <a:pPr marL="0" indent="0">
              <a:buNone/>
            </a:pPr>
            <a:r>
              <a:rPr lang="en-US" sz="3000" dirty="0">
                <a:solidFill>
                  <a:srgbClr val="9A9AA2"/>
                </a:solidFill>
                <a:latin typeface="맑은 고딕" pitchFamily="34" charset="0"/>
                <a:ea typeface="맑은 고딕" pitchFamily="34" charset="-122"/>
                <a:cs typeface="맑은 고딕" pitchFamily="34" charset="-120"/>
              </a:rPr>
              <a:t>편집샵 상품으로 다시 배우는</a:t>
            </a:r>
            <a:endParaRPr lang="en-US" sz="3000" dirty="0"/>
          </a:p>
        </p:txBody>
      </p:sp>
      <p:sp>
        <p:nvSpPr>
          <p:cNvPr id="6" name="Text 4"/>
          <p:cNvSpPr txBox="1"/>
          <p:nvPr/>
        </p:nvSpPr>
        <p:spPr>
          <a:xfrm>
            <a:off x="685800" y="2194560"/>
            <a:ext cx="10058400" cy="1005840"/>
          </a:xfrm>
          <a:prstGeom prst="rect">
            <a:avLst/>
          </a:prstGeom>
          <a:noFill/>
          <a:ln/>
        </p:spPr>
        <p:txBody>
          <a:bodyPr wrap="square" lIns="0" tIns="0" rIns="0" bIns="0" rtlCol="0" anchor="ctr"/>
          <a:lstStyle/>
          <a:p>
            <a:pPr marL="0" indent="0">
              <a:buNone/>
            </a:pPr>
            <a:r>
              <a:rPr lang="en-US" sz="5400" b="1" dirty="0">
                <a:solidFill>
                  <a:srgbClr val="FFFFFF"/>
                </a:solidFill>
                <a:latin typeface="맑은 고딕" pitchFamily="34" charset="0"/>
                <a:ea typeface="맑은 고딕" pitchFamily="34" charset="-122"/>
                <a:cs typeface="맑은 고딕" pitchFamily="34" charset="-120"/>
              </a:rPr>
              <a:t>Java 클래스와 객체</a:t>
            </a:r>
            <a:endParaRPr lang="en-US" sz="5400" dirty="0"/>
          </a:p>
        </p:txBody>
      </p:sp>
      <p:sp>
        <p:nvSpPr>
          <p:cNvPr id="7" name="Text 5"/>
          <p:cNvSpPr txBox="1"/>
          <p:nvPr/>
        </p:nvSpPr>
        <p:spPr>
          <a:xfrm>
            <a:off x="685800" y="3657600"/>
            <a:ext cx="8686800" cy="822960"/>
          </a:xfrm>
          <a:prstGeom prst="rect">
            <a:avLst/>
          </a:prstGeom>
          <a:noFill/>
          <a:ln/>
        </p:spPr>
        <p:txBody>
          <a:bodyPr wrap="square" lIns="0" tIns="0" rIns="0" bIns="0" rtlCol="0" anchor="ctr"/>
          <a:lstStyle/>
          <a:p>
            <a:pPr marL="0" indent="0">
              <a:lnSpc>
                <a:spcPts val="2400"/>
              </a:lnSpc>
              <a:buNone/>
            </a:pPr>
            <a:r>
              <a:rPr lang="en-US" sz="1500" dirty="0">
                <a:solidFill>
                  <a:srgbClr val="8E8E96"/>
                </a:solidFill>
                <a:latin typeface="맑은 고딕" pitchFamily="34" charset="0"/>
                <a:ea typeface="맑은 고딕" pitchFamily="34" charset="-122"/>
                <a:cs typeface="맑은 고딕" pitchFamily="34" charset="-120"/>
              </a:rPr>
              <a:t>Product 클래스 하나로 따라가는</a:t>
            </a:r>
            <a:endParaRPr lang="en-US" sz="1500" dirty="0"/>
          </a:p>
          <a:p>
            <a:pPr marL="0" indent="0">
              <a:lnSpc>
                <a:spcPts val="2400"/>
              </a:lnSpc>
              <a:buNone/>
            </a:pPr>
            <a:r>
              <a:rPr lang="en-US" sz="1500" dirty="0">
                <a:solidFill>
                  <a:srgbClr val="8E8E96"/>
                </a:solidFill>
                <a:latin typeface="맑은 고딕" pitchFamily="34" charset="0"/>
                <a:ea typeface="맑은 고딕" pitchFamily="34" charset="-122"/>
                <a:cs typeface="맑은 고딕" pitchFamily="34" charset="-120"/>
              </a:rPr>
              <a:t>클래스 → 필드 → 객체 → 생성자 → 메서드 → 실제 상품관리 프로그램</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11214"/>
        </a:solidFill>
        <a:effectLst/>
      </p:bgPr>
    </p:bg>
    <p:spTree>
      <p:nvGrpSpPr>
        <p:cNvPr id="1" name=""/>
        <p:cNvGrpSpPr/>
        <p:nvPr/>
      </p:nvGrpSpPr>
      <p:grpSpPr>
        <a:xfrm>
          <a:off x="0" y="0"/>
          <a:ext cx="0" cy="0"/>
          <a:chOff x="0" y="0"/>
          <a:chExt cx="0" cy="0"/>
        </a:xfrm>
      </p:grpSpPr>
      <p:sp>
        <p:nvSpPr>
          <p:cNvPr id="2" name="Shape 0"/>
          <p:cNvSpPr/>
          <p:nvPr/>
        </p:nvSpPr>
        <p:spPr>
          <a:xfrm>
            <a:off x="685800" y="914400"/>
            <a:ext cx="1371600" cy="292608"/>
          </a:xfrm>
          <a:prstGeom prst="roundRect">
            <a:avLst>
              <a:gd name="adj" fmla="val 50000"/>
            </a:avLst>
          </a:prstGeom>
          <a:solidFill>
            <a:srgbClr val="24262C"/>
          </a:solidFill>
          <a:ln w="12700">
            <a:solidFill>
              <a:srgbClr val="24262C"/>
            </a:solidFill>
            <a:prstDash val="solid"/>
          </a:ln>
        </p:spPr>
      </p:sp>
      <p:sp>
        <p:nvSpPr>
          <p:cNvPr id="3" name="Text 1"/>
          <p:cNvSpPr txBox="1"/>
          <p:nvPr/>
        </p:nvSpPr>
        <p:spPr>
          <a:xfrm>
            <a:off x="685800" y="914400"/>
            <a:ext cx="1371600" cy="292608"/>
          </a:xfrm>
          <a:prstGeom prst="rect">
            <a:avLst/>
          </a:prstGeom>
          <a:noFill/>
          <a:ln/>
        </p:spPr>
        <p:txBody>
          <a:bodyPr wrap="square" lIns="0" tIns="0" rIns="0" bIns="0" rtlCol="0" anchor="ctr"/>
          <a:lstStyle/>
          <a:p>
            <a:pPr marL="0" indent="0" algn="ctr">
              <a:buNone/>
            </a:pPr>
            <a:r>
              <a:rPr lang="en-US" sz="1100" b="1" dirty="0">
                <a:solidFill>
                  <a:srgbClr val="FF8A66"/>
                </a:solidFill>
                <a:latin typeface="맑은 고딕" pitchFamily="34" charset="0"/>
                <a:ea typeface="맑은 고딕" pitchFamily="34" charset="-122"/>
                <a:cs typeface="맑은 고딕" pitchFamily="34" charset="-120"/>
              </a:rPr>
              <a:t>오늘의 질문</a:t>
            </a:r>
            <a:endParaRPr lang="en-US" sz="1100" dirty="0"/>
          </a:p>
        </p:txBody>
      </p:sp>
      <p:sp>
        <p:nvSpPr>
          <p:cNvPr id="4" name="Text 2"/>
          <p:cNvSpPr txBox="1"/>
          <p:nvPr/>
        </p:nvSpPr>
        <p:spPr>
          <a:xfrm>
            <a:off x="685800" y="1554480"/>
            <a:ext cx="10789920" cy="731520"/>
          </a:xfrm>
          <a:prstGeom prst="rect">
            <a:avLst/>
          </a:prstGeom>
          <a:noFill/>
          <a:ln/>
        </p:spPr>
        <p:txBody>
          <a:bodyPr wrap="square" lIns="0" tIns="0" rIns="0" bIns="0" rtlCol="0" anchor="ctr"/>
          <a:lstStyle/>
          <a:p>
            <a:pPr marL="0" indent="0">
              <a:buNone/>
            </a:pPr>
            <a:r>
              <a:rPr lang="en-US" sz="4000" b="1" dirty="0">
                <a:solidFill>
                  <a:srgbClr val="9A9AA2"/>
                </a:solidFill>
                <a:latin typeface="맑은 고딕" pitchFamily="34" charset="0"/>
                <a:ea typeface="맑은 고딕" pitchFamily="34" charset="-122"/>
                <a:cs typeface="맑은 고딕" pitchFamily="34" charset="-120"/>
              </a:rPr>
              <a:t>Java에서 우리는</a:t>
            </a:r>
            <a:endParaRPr lang="en-US" sz="4000" dirty="0"/>
          </a:p>
        </p:txBody>
      </p:sp>
      <p:sp>
        <p:nvSpPr>
          <p:cNvPr id="5" name="Text 3"/>
          <p:cNvSpPr txBox="1"/>
          <p:nvPr/>
        </p:nvSpPr>
        <p:spPr>
          <a:xfrm>
            <a:off x="685800" y="2286000"/>
            <a:ext cx="10789920" cy="868680"/>
          </a:xfrm>
          <a:prstGeom prst="rect">
            <a:avLst/>
          </a:prstGeom>
          <a:noFill/>
          <a:ln/>
        </p:spPr>
        <p:txBody>
          <a:bodyPr wrap="square" lIns="0" tIns="0" rIns="0" bIns="0" rtlCol="0" anchor="ctr"/>
          <a:lstStyle/>
          <a:p>
            <a:pPr marL="0" indent="0">
              <a:buNone/>
            </a:pPr>
            <a:r>
              <a:rPr lang="en-US" sz="4600" b="1" dirty="0">
                <a:solidFill>
                  <a:srgbClr val="FFFFFF"/>
                </a:solidFill>
                <a:latin typeface="맑은 고딕" pitchFamily="34" charset="0"/>
                <a:ea typeface="맑은 고딕" pitchFamily="34" charset="-122"/>
                <a:cs typeface="맑은 고딕" pitchFamily="34" charset="-120"/>
              </a:rPr>
              <a:t>왜 클래스를 사용할까?</a:t>
            </a:r>
            <a:endParaRPr lang="en-US" sz="4600" dirty="0"/>
          </a:p>
        </p:txBody>
      </p:sp>
      <p:sp>
        <p:nvSpPr>
          <p:cNvPr id="6" name="Text 4"/>
          <p:cNvSpPr txBox="1"/>
          <p:nvPr/>
        </p:nvSpPr>
        <p:spPr>
          <a:xfrm>
            <a:off x="685800" y="3246120"/>
            <a:ext cx="10789920" cy="365760"/>
          </a:xfrm>
          <a:prstGeom prst="rect">
            <a:avLst/>
          </a:prstGeom>
          <a:noFill/>
          <a:ln/>
        </p:spPr>
        <p:txBody>
          <a:bodyPr wrap="square" lIns="0" tIns="0" rIns="0" bIns="0" rtlCol="0" anchor="ctr"/>
          <a:lstStyle/>
          <a:p>
            <a:pPr marL="0" indent="0">
              <a:buNone/>
            </a:pPr>
            <a:r>
              <a:rPr lang="en-US" sz="1500" dirty="0">
                <a:solidFill>
                  <a:srgbClr val="8E8E96"/>
                </a:solidFill>
                <a:latin typeface="맑은 고딕" pitchFamily="34" charset="0"/>
                <a:ea typeface="맑은 고딕" pitchFamily="34" charset="-122"/>
                <a:cs typeface="맑은 고딕" pitchFamily="34" charset="-120"/>
              </a:rPr>
              <a:t>이 질문 하나만 들고 가겠습니다. 마지막 슬라이드에서 다시 만납니다.</a:t>
            </a:r>
            <a:endParaRPr lang="en-US" sz="1500" dirty="0"/>
          </a:p>
        </p:txBody>
      </p:sp>
      <p:sp>
        <p:nvSpPr>
          <p:cNvPr id="7" name="Text 5"/>
          <p:cNvSpPr txBox="1"/>
          <p:nvPr/>
        </p:nvSpPr>
        <p:spPr>
          <a:xfrm>
            <a:off x="685800" y="4160520"/>
            <a:ext cx="3657600" cy="274320"/>
          </a:xfrm>
          <a:prstGeom prst="rect">
            <a:avLst/>
          </a:prstGeom>
          <a:noFill/>
          <a:ln/>
        </p:spPr>
        <p:txBody>
          <a:bodyPr wrap="square" lIns="0" tIns="0" rIns="0" bIns="0" rtlCol="0" anchor="ctr"/>
          <a:lstStyle/>
          <a:p>
            <a:pPr marL="0" indent="0">
              <a:buNone/>
            </a:pPr>
            <a:r>
              <a:rPr lang="en-US" sz="1200" b="1" dirty="0">
                <a:solidFill>
                  <a:srgbClr val="6E6E78"/>
                </a:solidFill>
                <a:latin typeface="맑은 고딕" pitchFamily="34" charset="0"/>
                <a:ea typeface="맑은 고딕" pitchFamily="34" charset="-122"/>
                <a:cs typeface="맑은 고딕" pitchFamily="34" charset="-120"/>
              </a:rPr>
              <a:t>오늘의 흐름</a:t>
            </a:r>
            <a:endParaRPr lang="en-US" sz="1200" dirty="0"/>
          </a:p>
        </p:txBody>
      </p:sp>
      <p:sp>
        <p:nvSpPr>
          <p:cNvPr id="8" name="Shape 6"/>
          <p:cNvSpPr/>
          <p:nvPr/>
        </p:nvSpPr>
        <p:spPr>
          <a:xfrm>
            <a:off x="685800" y="4526280"/>
            <a:ext cx="1420324" cy="384048"/>
          </a:xfrm>
          <a:prstGeom prst="roundRect">
            <a:avLst>
              <a:gd name="adj" fmla="val 23810"/>
            </a:avLst>
          </a:prstGeom>
          <a:solidFill>
            <a:srgbClr val="232428"/>
          </a:solidFill>
          <a:ln w="12700">
            <a:solidFill>
              <a:srgbClr val="232428"/>
            </a:solidFill>
            <a:prstDash val="solid"/>
          </a:ln>
        </p:spPr>
      </p:sp>
      <p:sp>
        <p:nvSpPr>
          <p:cNvPr id="9" name="Text 7"/>
          <p:cNvSpPr txBox="1"/>
          <p:nvPr/>
        </p:nvSpPr>
        <p:spPr>
          <a:xfrm>
            <a:off x="685800" y="4526280"/>
            <a:ext cx="1420324" cy="384048"/>
          </a:xfrm>
          <a:prstGeom prst="rect">
            <a:avLst/>
          </a:prstGeom>
          <a:noFill/>
          <a:ln/>
        </p:spPr>
        <p:txBody>
          <a:bodyPr wrap="square" lIns="0" tIns="0" rIns="0" bIns="0" rtlCol="0" anchor="ctr"/>
          <a:lstStyle/>
          <a:p>
            <a:pPr marL="0" indent="0" algn="ctr">
              <a:buNone/>
            </a:pPr>
            <a:r>
              <a:rPr lang="en-US" sz="1150" dirty="0">
                <a:solidFill>
                  <a:srgbClr val="9A9AA2"/>
                </a:solidFill>
                <a:latin typeface="맑은 고딕" pitchFamily="34" charset="0"/>
                <a:ea typeface="맑은 고딕" pitchFamily="34" charset="-122"/>
                <a:cs typeface="맑은 고딕" pitchFamily="34" charset="-120"/>
              </a:rPr>
              <a:t>문제</a:t>
            </a:r>
            <a:endParaRPr lang="en-US" sz="1150" dirty="0"/>
          </a:p>
        </p:txBody>
      </p:sp>
      <p:sp>
        <p:nvSpPr>
          <p:cNvPr id="10" name="Shape 8"/>
          <p:cNvSpPr/>
          <p:nvPr/>
        </p:nvSpPr>
        <p:spPr>
          <a:xfrm>
            <a:off x="2252428" y="4526280"/>
            <a:ext cx="1420324" cy="384048"/>
          </a:xfrm>
          <a:prstGeom prst="roundRect">
            <a:avLst>
              <a:gd name="adj" fmla="val 23810"/>
            </a:avLst>
          </a:prstGeom>
          <a:solidFill>
            <a:srgbClr val="232428"/>
          </a:solidFill>
          <a:ln w="12700">
            <a:solidFill>
              <a:srgbClr val="232428"/>
            </a:solidFill>
            <a:prstDash val="solid"/>
          </a:ln>
        </p:spPr>
      </p:sp>
      <p:sp>
        <p:nvSpPr>
          <p:cNvPr id="11" name="Text 9"/>
          <p:cNvSpPr txBox="1"/>
          <p:nvPr/>
        </p:nvSpPr>
        <p:spPr>
          <a:xfrm>
            <a:off x="2252428" y="4526280"/>
            <a:ext cx="1420324" cy="384048"/>
          </a:xfrm>
          <a:prstGeom prst="rect">
            <a:avLst/>
          </a:prstGeom>
          <a:noFill/>
          <a:ln/>
        </p:spPr>
        <p:txBody>
          <a:bodyPr wrap="square" lIns="0" tIns="0" rIns="0" bIns="0" rtlCol="0" anchor="ctr"/>
          <a:lstStyle/>
          <a:p>
            <a:pPr marL="0" indent="0" algn="ctr">
              <a:buNone/>
            </a:pPr>
            <a:r>
              <a:rPr lang="en-US" sz="1150" dirty="0">
                <a:solidFill>
                  <a:srgbClr val="9A9AA2"/>
                </a:solidFill>
                <a:latin typeface="맑은 고딕" pitchFamily="34" charset="0"/>
                <a:ea typeface="맑은 고딕" pitchFamily="34" charset="-122"/>
                <a:cs typeface="맑은 고딕" pitchFamily="34" charset="-120"/>
              </a:rPr>
              <a:t>클래스</a:t>
            </a:r>
            <a:endParaRPr lang="en-US" sz="1150" dirty="0"/>
          </a:p>
        </p:txBody>
      </p:sp>
      <p:sp>
        <p:nvSpPr>
          <p:cNvPr id="12" name="Shape 10"/>
          <p:cNvSpPr/>
          <p:nvPr/>
        </p:nvSpPr>
        <p:spPr>
          <a:xfrm>
            <a:off x="3819057" y="4526280"/>
            <a:ext cx="1420324" cy="384048"/>
          </a:xfrm>
          <a:prstGeom prst="roundRect">
            <a:avLst>
              <a:gd name="adj" fmla="val 23810"/>
            </a:avLst>
          </a:prstGeom>
          <a:solidFill>
            <a:srgbClr val="232428"/>
          </a:solidFill>
          <a:ln w="12700">
            <a:solidFill>
              <a:srgbClr val="232428"/>
            </a:solidFill>
            <a:prstDash val="solid"/>
          </a:ln>
        </p:spPr>
      </p:sp>
      <p:sp>
        <p:nvSpPr>
          <p:cNvPr id="13" name="Text 11"/>
          <p:cNvSpPr txBox="1"/>
          <p:nvPr/>
        </p:nvSpPr>
        <p:spPr>
          <a:xfrm>
            <a:off x="3819057" y="4526280"/>
            <a:ext cx="1420324" cy="384048"/>
          </a:xfrm>
          <a:prstGeom prst="rect">
            <a:avLst/>
          </a:prstGeom>
          <a:noFill/>
          <a:ln/>
        </p:spPr>
        <p:txBody>
          <a:bodyPr wrap="square" lIns="0" tIns="0" rIns="0" bIns="0" rtlCol="0" anchor="ctr"/>
          <a:lstStyle/>
          <a:p>
            <a:pPr marL="0" indent="0" algn="ctr">
              <a:buNone/>
            </a:pPr>
            <a:r>
              <a:rPr lang="en-US" sz="1150" dirty="0">
                <a:solidFill>
                  <a:srgbClr val="9A9AA2"/>
                </a:solidFill>
                <a:latin typeface="맑은 고딕" pitchFamily="34" charset="0"/>
                <a:ea typeface="맑은 고딕" pitchFamily="34" charset="-122"/>
                <a:cs typeface="맑은 고딕" pitchFamily="34" charset="-120"/>
              </a:rPr>
              <a:t>객체</a:t>
            </a:r>
            <a:endParaRPr lang="en-US" sz="1150" dirty="0"/>
          </a:p>
        </p:txBody>
      </p:sp>
      <p:sp>
        <p:nvSpPr>
          <p:cNvPr id="14" name="Shape 12"/>
          <p:cNvSpPr/>
          <p:nvPr/>
        </p:nvSpPr>
        <p:spPr>
          <a:xfrm>
            <a:off x="5385685" y="4526280"/>
            <a:ext cx="1420324" cy="384048"/>
          </a:xfrm>
          <a:prstGeom prst="roundRect">
            <a:avLst>
              <a:gd name="adj" fmla="val 23810"/>
            </a:avLst>
          </a:prstGeom>
          <a:solidFill>
            <a:srgbClr val="232428"/>
          </a:solidFill>
          <a:ln w="12700">
            <a:solidFill>
              <a:srgbClr val="232428"/>
            </a:solidFill>
            <a:prstDash val="solid"/>
          </a:ln>
        </p:spPr>
      </p:sp>
      <p:sp>
        <p:nvSpPr>
          <p:cNvPr id="15" name="Text 13"/>
          <p:cNvSpPr txBox="1"/>
          <p:nvPr/>
        </p:nvSpPr>
        <p:spPr>
          <a:xfrm>
            <a:off x="5385685" y="4526280"/>
            <a:ext cx="1420324" cy="384048"/>
          </a:xfrm>
          <a:prstGeom prst="rect">
            <a:avLst/>
          </a:prstGeom>
          <a:noFill/>
          <a:ln/>
        </p:spPr>
        <p:txBody>
          <a:bodyPr wrap="square" lIns="0" tIns="0" rIns="0" bIns="0" rtlCol="0" anchor="ctr"/>
          <a:lstStyle/>
          <a:p>
            <a:pPr marL="0" indent="0" algn="ctr">
              <a:buNone/>
            </a:pPr>
            <a:r>
              <a:rPr lang="en-US" sz="1150" dirty="0">
                <a:solidFill>
                  <a:srgbClr val="9A9AA2"/>
                </a:solidFill>
                <a:latin typeface="맑은 고딕" pitchFamily="34" charset="0"/>
                <a:ea typeface="맑은 고딕" pitchFamily="34" charset="-122"/>
                <a:cs typeface="맑은 고딕" pitchFamily="34" charset="-120"/>
              </a:rPr>
              <a:t>생성자</a:t>
            </a:r>
            <a:endParaRPr lang="en-US" sz="1150" dirty="0"/>
          </a:p>
        </p:txBody>
      </p:sp>
      <p:sp>
        <p:nvSpPr>
          <p:cNvPr id="16" name="Shape 14"/>
          <p:cNvSpPr/>
          <p:nvPr/>
        </p:nvSpPr>
        <p:spPr>
          <a:xfrm>
            <a:off x="6952314" y="4526280"/>
            <a:ext cx="1420324" cy="384048"/>
          </a:xfrm>
          <a:prstGeom prst="roundRect">
            <a:avLst>
              <a:gd name="adj" fmla="val 23810"/>
            </a:avLst>
          </a:prstGeom>
          <a:solidFill>
            <a:srgbClr val="232428"/>
          </a:solidFill>
          <a:ln w="12700">
            <a:solidFill>
              <a:srgbClr val="232428"/>
            </a:solidFill>
            <a:prstDash val="solid"/>
          </a:ln>
        </p:spPr>
      </p:sp>
      <p:sp>
        <p:nvSpPr>
          <p:cNvPr id="17" name="Text 15"/>
          <p:cNvSpPr txBox="1"/>
          <p:nvPr/>
        </p:nvSpPr>
        <p:spPr>
          <a:xfrm>
            <a:off x="6952314" y="4526280"/>
            <a:ext cx="1420324" cy="384048"/>
          </a:xfrm>
          <a:prstGeom prst="rect">
            <a:avLst/>
          </a:prstGeom>
          <a:noFill/>
          <a:ln/>
        </p:spPr>
        <p:txBody>
          <a:bodyPr wrap="square" lIns="0" tIns="0" rIns="0" bIns="0" rtlCol="0" anchor="ctr"/>
          <a:lstStyle/>
          <a:p>
            <a:pPr marL="0" indent="0" algn="ctr">
              <a:buNone/>
            </a:pPr>
            <a:r>
              <a:rPr lang="en-US" sz="1150" dirty="0">
                <a:solidFill>
                  <a:srgbClr val="9A9AA2"/>
                </a:solidFill>
                <a:latin typeface="맑은 고딕" pitchFamily="34" charset="0"/>
                <a:ea typeface="맑은 고딕" pitchFamily="34" charset="-122"/>
                <a:cs typeface="맑은 고딕" pitchFamily="34" charset="-120"/>
              </a:rPr>
              <a:t>메서드</a:t>
            </a:r>
            <a:endParaRPr lang="en-US" sz="1150" dirty="0"/>
          </a:p>
        </p:txBody>
      </p:sp>
      <p:sp>
        <p:nvSpPr>
          <p:cNvPr id="18" name="Shape 16"/>
          <p:cNvSpPr/>
          <p:nvPr/>
        </p:nvSpPr>
        <p:spPr>
          <a:xfrm>
            <a:off x="8518942" y="4526280"/>
            <a:ext cx="1420324" cy="384048"/>
          </a:xfrm>
          <a:prstGeom prst="roundRect">
            <a:avLst>
              <a:gd name="adj" fmla="val 23810"/>
            </a:avLst>
          </a:prstGeom>
          <a:solidFill>
            <a:srgbClr val="232428"/>
          </a:solidFill>
          <a:ln w="12700">
            <a:solidFill>
              <a:srgbClr val="232428"/>
            </a:solidFill>
            <a:prstDash val="solid"/>
          </a:ln>
        </p:spPr>
      </p:sp>
      <p:sp>
        <p:nvSpPr>
          <p:cNvPr id="19" name="Text 17"/>
          <p:cNvSpPr txBox="1"/>
          <p:nvPr/>
        </p:nvSpPr>
        <p:spPr>
          <a:xfrm>
            <a:off x="8518942" y="4526280"/>
            <a:ext cx="1420324" cy="384048"/>
          </a:xfrm>
          <a:prstGeom prst="rect">
            <a:avLst/>
          </a:prstGeom>
          <a:noFill/>
          <a:ln/>
        </p:spPr>
        <p:txBody>
          <a:bodyPr wrap="square" lIns="0" tIns="0" rIns="0" bIns="0" rtlCol="0" anchor="ctr"/>
          <a:lstStyle/>
          <a:p>
            <a:pPr marL="0" indent="0" algn="ctr">
              <a:buNone/>
            </a:pPr>
            <a:r>
              <a:rPr lang="en-US" sz="1150" dirty="0">
                <a:solidFill>
                  <a:srgbClr val="9A9AA2"/>
                </a:solidFill>
                <a:latin typeface="맑은 고딕" pitchFamily="34" charset="0"/>
                <a:ea typeface="맑은 고딕" pitchFamily="34" charset="-122"/>
                <a:cs typeface="맑은 고딕" pitchFamily="34" charset="-120"/>
              </a:rPr>
              <a:t>실제 프로그램</a:t>
            </a:r>
            <a:endParaRPr lang="en-US" sz="1150" dirty="0"/>
          </a:p>
        </p:txBody>
      </p:sp>
      <p:sp>
        <p:nvSpPr>
          <p:cNvPr id="20" name="Shape 18"/>
          <p:cNvSpPr/>
          <p:nvPr/>
        </p:nvSpPr>
        <p:spPr>
          <a:xfrm>
            <a:off x="10085571" y="4526280"/>
            <a:ext cx="1420324" cy="384048"/>
          </a:xfrm>
          <a:prstGeom prst="roundRect">
            <a:avLst>
              <a:gd name="adj" fmla="val 23810"/>
            </a:avLst>
          </a:prstGeom>
          <a:solidFill>
            <a:srgbClr val="232428"/>
          </a:solidFill>
          <a:ln w="12700">
            <a:solidFill>
              <a:srgbClr val="232428"/>
            </a:solidFill>
            <a:prstDash val="solid"/>
          </a:ln>
        </p:spPr>
      </p:sp>
      <p:sp>
        <p:nvSpPr>
          <p:cNvPr id="21" name="Text 19"/>
          <p:cNvSpPr txBox="1"/>
          <p:nvPr/>
        </p:nvSpPr>
        <p:spPr>
          <a:xfrm>
            <a:off x="10085571" y="4526280"/>
            <a:ext cx="1420324" cy="384048"/>
          </a:xfrm>
          <a:prstGeom prst="rect">
            <a:avLst/>
          </a:prstGeom>
          <a:noFill/>
          <a:ln/>
        </p:spPr>
        <p:txBody>
          <a:bodyPr wrap="square" lIns="0" tIns="0" rIns="0" bIns="0" rtlCol="0" anchor="ctr"/>
          <a:lstStyle/>
          <a:p>
            <a:pPr marL="0" indent="0" algn="ctr">
              <a:buNone/>
            </a:pPr>
            <a:r>
              <a:rPr lang="en-US" sz="1150" dirty="0">
                <a:solidFill>
                  <a:srgbClr val="9A9AA2"/>
                </a:solidFill>
                <a:latin typeface="맑은 고딕" pitchFamily="34" charset="0"/>
                <a:ea typeface="맑은 고딕" pitchFamily="34" charset="-122"/>
                <a:cs typeface="맑은 고딕" pitchFamily="34" charset="-120"/>
              </a:rPr>
              <a:t>답</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85800" y="384048"/>
            <a:ext cx="1188720" cy="292608"/>
          </a:xfrm>
          <a:prstGeom prst="roundRect">
            <a:avLst>
              <a:gd name="adj" fmla="val 50000"/>
            </a:avLst>
          </a:prstGeom>
          <a:solidFill>
            <a:srgbClr val="FBE7E2"/>
          </a:solidFill>
          <a:ln w="12700">
            <a:solidFill>
              <a:srgbClr val="FBE7E2"/>
            </a:solidFill>
            <a:prstDash val="solid"/>
          </a:ln>
        </p:spPr>
      </p:sp>
      <p:sp>
        <p:nvSpPr>
          <p:cNvPr id="3" name="Text 1"/>
          <p:cNvSpPr txBox="1"/>
          <p:nvPr/>
        </p:nvSpPr>
        <p:spPr>
          <a:xfrm>
            <a:off x="685800" y="384048"/>
            <a:ext cx="1188720" cy="292608"/>
          </a:xfrm>
          <a:prstGeom prst="rect">
            <a:avLst/>
          </a:prstGeom>
          <a:noFill/>
          <a:ln/>
        </p:spPr>
        <p:txBody>
          <a:bodyPr wrap="square" lIns="0" tIns="0" rIns="0" bIns="0" rtlCol="0" anchor="ctr"/>
          <a:lstStyle/>
          <a:p>
            <a:pPr marL="0" indent="0" algn="ctr">
              <a:buNone/>
            </a:pPr>
            <a:r>
              <a:rPr lang="en-US" sz="1100" b="1" dirty="0">
                <a:solidFill>
                  <a:srgbClr val="E8482B"/>
                </a:solidFill>
                <a:latin typeface="맑은 고딕" pitchFamily="34" charset="0"/>
                <a:ea typeface="맑은 고딕" pitchFamily="34" charset="-122"/>
                <a:cs typeface="맑은 고딕" pitchFamily="34" charset="-120"/>
              </a:rPr>
              <a:t>문제 상황</a:t>
            </a:r>
            <a:endParaRPr lang="en-US" sz="1100" dirty="0"/>
          </a:p>
        </p:txBody>
      </p:sp>
      <p:sp>
        <p:nvSpPr>
          <p:cNvPr id="4" name="Text 2"/>
          <p:cNvSpPr txBox="1"/>
          <p:nvPr/>
        </p:nvSpPr>
        <p:spPr>
          <a:xfrm>
            <a:off x="685800" y="713232"/>
            <a:ext cx="10820095" cy="603504"/>
          </a:xfrm>
          <a:prstGeom prst="rect">
            <a:avLst/>
          </a:prstGeom>
          <a:noFill/>
          <a:ln/>
        </p:spPr>
        <p:txBody>
          <a:bodyPr wrap="square" lIns="0" tIns="0" rIns="0" bIns="0" rtlCol="0" anchor="ctr"/>
          <a:lstStyle/>
          <a:p>
            <a:pPr marL="0" indent="0">
              <a:buNone/>
            </a:pPr>
            <a:r>
              <a:rPr lang="en-US" sz="3400" b="1" dirty="0">
                <a:solidFill>
                  <a:srgbClr val="111214"/>
                </a:solidFill>
                <a:latin typeface="맑은 고딕" pitchFamily="34" charset="0"/>
                <a:ea typeface="맑은 고딕" pitchFamily="34" charset="-122"/>
                <a:cs typeface="맑은 고딕" pitchFamily="34" charset="-120"/>
              </a:rPr>
              <a:t>클래스가 없다면?</a:t>
            </a:r>
            <a:endParaRPr lang="en-US" sz="3400" dirty="0"/>
          </a:p>
        </p:txBody>
      </p:sp>
      <p:sp>
        <p:nvSpPr>
          <p:cNvPr id="5" name="Text 3"/>
          <p:cNvSpPr txBox="1"/>
          <p:nvPr/>
        </p:nvSpPr>
        <p:spPr>
          <a:xfrm>
            <a:off x="685800" y="1316736"/>
            <a:ext cx="10820095" cy="310896"/>
          </a:xfrm>
          <a:prstGeom prst="rect">
            <a:avLst/>
          </a:prstGeom>
          <a:noFill/>
          <a:ln/>
        </p:spPr>
        <p:txBody>
          <a:bodyPr wrap="square" lIns="0" tIns="0" rIns="0" bIns="0" rtlCol="0" anchor="ctr"/>
          <a:lstStyle/>
          <a:p>
            <a:pPr marL="0" indent="0">
              <a:buNone/>
            </a:pPr>
            <a:r>
              <a:rPr lang="en-US" sz="1400" dirty="0">
                <a:solidFill>
                  <a:srgbClr val="6E6E73"/>
                </a:solidFill>
                <a:latin typeface="맑은 고딕" pitchFamily="34" charset="0"/>
                <a:ea typeface="맑은 고딕" pitchFamily="34" charset="-122"/>
                <a:cs typeface="맑은 고딕" pitchFamily="34" charset="-120"/>
              </a:rPr>
              <a:t>상품 하나하나를 변수로 따로 관리한다면</a:t>
            </a:r>
            <a:endParaRPr lang="en-US" sz="1400" dirty="0"/>
          </a:p>
        </p:txBody>
      </p:sp>
      <p:sp>
        <p:nvSpPr>
          <p:cNvPr id="6" name="Shape 4"/>
          <p:cNvSpPr/>
          <p:nvPr/>
        </p:nvSpPr>
        <p:spPr>
          <a:xfrm>
            <a:off x="685800" y="1965960"/>
            <a:ext cx="5760720" cy="3180588"/>
          </a:xfrm>
          <a:prstGeom prst="roundRect">
            <a:avLst>
              <a:gd name="adj" fmla="val 2300"/>
            </a:avLst>
          </a:prstGeom>
          <a:solidFill>
            <a:srgbClr val="17181C"/>
          </a:solidFill>
          <a:ln w="12700">
            <a:solidFill>
              <a:srgbClr val="17181C"/>
            </a:solidFill>
            <a:prstDash val="solid"/>
          </a:ln>
        </p:spPr>
      </p:sp>
      <p:sp>
        <p:nvSpPr>
          <p:cNvPr id="7" name="Text 5"/>
          <p:cNvSpPr txBox="1"/>
          <p:nvPr/>
        </p:nvSpPr>
        <p:spPr>
          <a:xfrm>
            <a:off x="923544" y="2157984"/>
            <a:ext cx="5285232" cy="2796540"/>
          </a:xfrm>
          <a:prstGeom prst="rect">
            <a:avLst/>
          </a:prstGeom>
          <a:noFill/>
          <a:ln/>
        </p:spPr>
        <p:txBody>
          <a:bodyPr wrap="square" lIns="0" tIns="0" rIns="0" bIns="0" rtlCol="0" anchor="t"/>
          <a:lstStyle/>
          <a:p>
            <a:pPr marL="0" indent="0">
              <a:lnSpc>
                <a:spcPts val="2130"/>
              </a:lnSpc>
              <a:buNone/>
            </a:pPr>
            <a:r>
              <a:rPr lang="en-US" sz="1500" dirty="0">
                <a:solidFill>
                  <a:srgbClr val="FF8A66"/>
                </a:solidFill>
                <a:latin typeface="Consolas" pitchFamily="34" charset="0"/>
                <a:ea typeface="Consolas" pitchFamily="34" charset="-122"/>
                <a:cs typeface="Consolas" pitchFamily="34" charset="-120"/>
              </a:rPr>
              <a:t>String</a:t>
            </a:r>
            <a:r>
              <a:rPr lang="en-US" sz="1500" dirty="0">
                <a:solidFill>
                  <a:srgbClr val="E9E8E4"/>
                </a:solidFill>
                <a:latin typeface="Consolas" pitchFamily="34" charset="0"/>
                <a:ea typeface="Consolas" pitchFamily="34" charset="-122"/>
                <a:cs typeface="Consolas" pitchFamily="34" charset="-120"/>
              </a:rPr>
              <a:t> name1  = </a:t>
            </a:r>
            <a:r>
              <a:rPr lang="en-US" sz="1500" dirty="0">
                <a:solidFill>
                  <a:srgbClr val="9CCFA4"/>
                </a:solidFill>
                <a:latin typeface="Consolas" pitchFamily="34" charset="0"/>
                <a:ea typeface="Consolas" pitchFamily="34" charset="-122"/>
                <a:cs typeface="Consolas" pitchFamily="34" charset="-120"/>
              </a:rPr>
              <a:t>"ERL Hoodie"</a:t>
            </a:r>
            <a:r>
              <a:rPr lang="en-US" sz="1500" dirty="0">
                <a:solidFill>
                  <a:srgbClr val="E9E8E4"/>
                </a:solidFill>
                <a:latin typeface="Consolas" pitchFamily="34" charset="0"/>
                <a:ea typeface="Consolas" pitchFamily="34" charset="-122"/>
                <a:cs typeface="Consolas" pitchFamily="34" charset="-120"/>
              </a:rPr>
              <a:t>;</a:t>
            </a:r>
            <a:endParaRPr lang="en-US" sz="1500" dirty="0"/>
          </a:p>
          <a:p>
            <a:pPr marL="0" indent="0">
              <a:lnSpc>
                <a:spcPts val="2130"/>
              </a:lnSpc>
              <a:buNone/>
            </a:pPr>
            <a:r>
              <a:rPr lang="en-US" sz="1500" dirty="0">
                <a:solidFill>
                  <a:srgbClr val="FF8A66"/>
                </a:solidFill>
                <a:latin typeface="Consolas" pitchFamily="34" charset="0"/>
                <a:ea typeface="Consolas" pitchFamily="34" charset="-122"/>
                <a:cs typeface="Consolas" pitchFamily="34" charset="-120"/>
              </a:rPr>
              <a:t>int</a:t>
            </a:r>
            <a:r>
              <a:rPr lang="en-US" sz="1500" dirty="0">
                <a:solidFill>
                  <a:srgbClr val="E9E8E4"/>
                </a:solidFill>
                <a:latin typeface="Consolas" pitchFamily="34" charset="0"/>
                <a:ea typeface="Consolas" pitchFamily="34" charset="-122"/>
                <a:cs typeface="Consolas" pitchFamily="34" charset="-120"/>
              </a:rPr>
              <a:t>    price1 = 450000;</a:t>
            </a:r>
            <a:endParaRPr lang="en-US" sz="1500" dirty="0"/>
          </a:p>
          <a:p>
            <a:pPr marL="0" indent="0">
              <a:lnSpc>
                <a:spcPts val="2130"/>
              </a:lnSpc>
              <a:buNone/>
            </a:pPr>
            <a:r>
              <a:rPr lang="en-US" sz="1500" dirty="0">
                <a:solidFill>
                  <a:srgbClr val="FF8A66"/>
                </a:solidFill>
                <a:latin typeface="Consolas" pitchFamily="34" charset="0"/>
                <a:ea typeface="Consolas" pitchFamily="34" charset="-122"/>
                <a:cs typeface="Consolas" pitchFamily="34" charset="-120"/>
              </a:rPr>
              <a:t>int</a:t>
            </a:r>
            <a:r>
              <a:rPr lang="en-US" sz="1500" dirty="0">
                <a:solidFill>
                  <a:srgbClr val="E9E8E4"/>
                </a:solidFill>
                <a:latin typeface="Consolas" pitchFamily="34" charset="0"/>
                <a:ea typeface="Consolas" pitchFamily="34" charset="-122"/>
                <a:cs typeface="Consolas" pitchFamily="34" charset="-120"/>
              </a:rPr>
              <a:t>    stock1 = 3;</a:t>
            </a:r>
            <a:endParaRPr lang="en-US" sz="1500" dirty="0"/>
          </a:p>
          <a:p>
            <a:pPr marL="0" indent="0">
              <a:lnSpc>
                <a:spcPts val="2130"/>
              </a:lnSpc>
              <a:buNone/>
            </a:pPr>
            <a:r>
              <a:rPr lang="en-US" sz="1500" dirty="0">
                <a:solidFill>
                  <a:srgbClr val="E9E8E4"/>
                </a:solidFill>
                <a:latin typeface="Consolas" pitchFamily="34" charset="0"/>
                <a:ea typeface="Consolas" pitchFamily="34" charset="-122"/>
                <a:cs typeface="Consolas" pitchFamily="34" charset="-120"/>
              </a:rPr>
              <a:t> </a:t>
            </a:r>
            <a:endParaRPr lang="en-US" sz="1500" dirty="0"/>
          </a:p>
          <a:p>
            <a:pPr marL="0" indent="0">
              <a:lnSpc>
                <a:spcPts val="2130"/>
              </a:lnSpc>
              <a:buNone/>
            </a:pPr>
            <a:r>
              <a:rPr lang="en-US" sz="1500" dirty="0">
                <a:solidFill>
                  <a:srgbClr val="FF8A66"/>
                </a:solidFill>
                <a:latin typeface="Consolas" pitchFamily="34" charset="0"/>
                <a:ea typeface="Consolas" pitchFamily="34" charset="-122"/>
                <a:cs typeface="Consolas" pitchFamily="34" charset="-120"/>
              </a:rPr>
              <a:t>String</a:t>
            </a:r>
            <a:r>
              <a:rPr lang="en-US" sz="1500" dirty="0">
                <a:solidFill>
                  <a:srgbClr val="E9E8E4"/>
                </a:solidFill>
                <a:latin typeface="Consolas" pitchFamily="34" charset="0"/>
                <a:ea typeface="Consolas" pitchFamily="34" charset="-122"/>
                <a:cs typeface="Consolas" pitchFamily="34" charset="-120"/>
              </a:rPr>
              <a:t> name2  = </a:t>
            </a:r>
            <a:r>
              <a:rPr lang="en-US" sz="1500" dirty="0">
                <a:solidFill>
                  <a:srgbClr val="9CCFA4"/>
                </a:solidFill>
                <a:latin typeface="Consolas" pitchFamily="34" charset="0"/>
                <a:ea typeface="Consolas" pitchFamily="34" charset="-122"/>
                <a:cs typeface="Consolas" pitchFamily="34" charset="-120"/>
              </a:rPr>
              <a:t>"Diesel Jeans"</a:t>
            </a:r>
            <a:r>
              <a:rPr lang="en-US" sz="1500" dirty="0">
                <a:solidFill>
                  <a:srgbClr val="E9E8E4"/>
                </a:solidFill>
                <a:latin typeface="Consolas" pitchFamily="34" charset="0"/>
                <a:ea typeface="Consolas" pitchFamily="34" charset="-122"/>
                <a:cs typeface="Consolas" pitchFamily="34" charset="-120"/>
              </a:rPr>
              <a:t>;</a:t>
            </a:r>
            <a:endParaRPr lang="en-US" sz="1500" dirty="0"/>
          </a:p>
          <a:p>
            <a:pPr marL="0" indent="0">
              <a:lnSpc>
                <a:spcPts val="2130"/>
              </a:lnSpc>
              <a:buNone/>
            </a:pPr>
            <a:r>
              <a:rPr lang="en-US" sz="1500" dirty="0">
                <a:solidFill>
                  <a:srgbClr val="FF8A66"/>
                </a:solidFill>
                <a:latin typeface="Consolas" pitchFamily="34" charset="0"/>
                <a:ea typeface="Consolas" pitchFamily="34" charset="-122"/>
                <a:cs typeface="Consolas" pitchFamily="34" charset="-120"/>
              </a:rPr>
              <a:t>int</a:t>
            </a:r>
            <a:r>
              <a:rPr lang="en-US" sz="1500" dirty="0">
                <a:solidFill>
                  <a:srgbClr val="E9E8E4"/>
                </a:solidFill>
                <a:latin typeface="Consolas" pitchFamily="34" charset="0"/>
                <a:ea typeface="Consolas" pitchFamily="34" charset="-122"/>
                <a:cs typeface="Consolas" pitchFamily="34" charset="-120"/>
              </a:rPr>
              <a:t>    price2 = 390000;</a:t>
            </a:r>
            <a:endParaRPr lang="en-US" sz="1500" dirty="0"/>
          </a:p>
          <a:p>
            <a:pPr marL="0" indent="0">
              <a:lnSpc>
                <a:spcPts val="2130"/>
              </a:lnSpc>
              <a:buNone/>
            </a:pPr>
            <a:r>
              <a:rPr lang="en-US" sz="1500" dirty="0">
                <a:solidFill>
                  <a:srgbClr val="FF8A66"/>
                </a:solidFill>
                <a:latin typeface="Consolas" pitchFamily="34" charset="0"/>
                <a:ea typeface="Consolas" pitchFamily="34" charset="-122"/>
                <a:cs typeface="Consolas" pitchFamily="34" charset="-120"/>
              </a:rPr>
              <a:t>int</a:t>
            </a:r>
            <a:r>
              <a:rPr lang="en-US" sz="1500" dirty="0">
                <a:solidFill>
                  <a:srgbClr val="E9E8E4"/>
                </a:solidFill>
                <a:latin typeface="Consolas" pitchFamily="34" charset="0"/>
                <a:ea typeface="Consolas" pitchFamily="34" charset="-122"/>
                <a:cs typeface="Consolas" pitchFamily="34" charset="-120"/>
              </a:rPr>
              <a:t>    stock2 = 5;</a:t>
            </a:r>
            <a:endParaRPr lang="en-US" sz="1500" dirty="0"/>
          </a:p>
          <a:p>
            <a:pPr marL="0" indent="0">
              <a:lnSpc>
                <a:spcPts val="2130"/>
              </a:lnSpc>
              <a:buNone/>
            </a:pPr>
            <a:r>
              <a:rPr lang="en-US" sz="1500" dirty="0">
                <a:solidFill>
                  <a:srgbClr val="E9E8E4"/>
                </a:solidFill>
                <a:latin typeface="Consolas" pitchFamily="34" charset="0"/>
                <a:ea typeface="Consolas" pitchFamily="34" charset="-122"/>
                <a:cs typeface="Consolas" pitchFamily="34" charset="-120"/>
              </a:rPr>
              <a:t> </a:t>
            </a:r>
            <a:endParaRPr lang="en-US" sz="1500" dirty="0"/>
          </a:p>
          <a:p>
            <a:pPr marL="0" indent="0">
              <a:lnSpc>
                <a:spcPts val="2130"/>
              </a:lnSpc>
              <a:buNone/>
            </a:pPr>
            <a:r>
              <a:rPr lang="en-US" sz="1500" dirty="0">
                <a:solidFill>
                  <a:srgbClr val="8A8A93"/>
                </a:solidFill>
                <a:latin typeface="Consolas" pitchFamily="34" charset="0"/>
                <a:ea typeface="Consolas" pitchFamily="34" charset="-122"/>
                <a:cs typeface="Consolas" pitchFamily="34" charset="-120"/>
              </a:rPr>
              <a:t>// ...  name3, price3, stock3</a:t>
            </a:r>
            <a:endParaRPr lang="en-US" sz="1500" dirty="0"/>
          </a:p>
          <a:p>
            <a:pPr marL="0" indent="0">
              <a:lnSpc>
                <a:spcPts val="2130"/>
              </a:lnSpc>
              <a:buNone/>
            </a:pPr>
            <a:r>
              <a:rPr lang="en-US" sz="1500" dirty="0">
                <a:solidFill>
                  <a:srgbClr val="8A8A93"/>
                </a:solidFill>
                <a:latin typeface="Consolas" pitchFamily="34" charset="0"/>
                <a:ea typeface="Consolas" pitchFamily="34" charset="-122"/>
                <a:cs typeface="Consolas" pitchFamily="34" charset="-120"/>
              </a:rPr>
              <a:t>// ...  name100, price100, stock100</a:t>
            </a:r>
            <a:endParaRPr lang="en-US" sz="1500" dirty="0"/>
          </a:p>
        </p:txBody>
      </p:sp>
      <p:sp>
        <p:nvSpPr>
          <p:cNvPr id="8" name="Shape 6"/>
          <p:cNvSpPr/>
          <p:nvPr/>
        </p:nvSpPr>
        <p:spPr>
          <a:xfrm>
            <a:off x="6903720" y="1965960"/>
            <a:ext cx="4602175" cy="822960"/>
          </a:xfrm>
          <a:prstGeom prst="roundRect">
            <a:avLst>
              <a:gd name="adj" fmla="val 6667"/>
            </a:avLst>
          </a:prstGeom>
          <a:solidFill>
            <a:srgbClr val="FFFFFF"/>
          </a:solidFill>
          <a:ln w="12700">
            <a:solidFill>
              <a:srgbClr val="DCDAD6"/>
            </a:solidFill>
            <a:prstDash val="solid"/>
          </a:ln>
        </p:spPr>
      </p:sp>
      <p:sp>
        <p:nvSpPr>
          <p:cNvPr id="9" name="Shape 7"/>
          <p:cNvSpPr/>
          <p:nvPr/>
        </p:nvSpPr>
        <p:spPr>
          <a:xfrm>
            <a:off x="7159752" y="2221992"/>
            <a:ext cx="310896" cy="310896"/>
          </a:xfrm>
          <a:prstGeom prst="ellipse">
            <a:avLst/>
          </a:prstGeom>
          <a:solidFill>
            <a:srgbClr val="FBE7E2"/>
          </a:solidFill>
          <a:ln w="12700">
            <a:solidFill>
              <a:srgbClr val="FBE7E2"/>
            </a:solidFill>
            <a:prstDash val="solid"/>
          </a:ln>
        </p:spPr>
      </p:sp>
      <p:sp>
        <p:nvSpPr>
          <p:cNvPr id="10" name="Text 8"/>
          <p:cNvSpPr txBox="1"/>
          <p:nvPr/>
        </p:nvSpPr>
        <p:spPr>
          <a:xfrm>
            <a:off x="7159752" y="2221992"/>
            <a:ext cx="310896" cy="310896"/>
          </a:xfrm>
          <a:prstGeom prst="rect">
            <a:avLst/>
          </a:prstGeom>
          <a:noFill/>
          <a:ln/>
        </p:spPr>
        <p:txBody>
          <a:bodyPr wrap="square" lIns="0" tIns="0" rIns="0" bIns="0" rtlCol="0" anchor="ctr"/>
          <a:lstStyle/>
          <a:p>
            <a:pPr marL="0" indent="0" algn="ctr">
              <a:buNone/>
            </a:pPr>
            <a:r>
              <a:rPr lang="en-US" sz="1200" b="1" dirty="0">
                <a:solidFill>
                  <a:srgbClr val="E8482B"/>
                </a:solidFill>
                <a:latin typeface="맑은 고딕" pitchFamily="34" charset="0"/>
                <a:ea typeface="맑은 고딕" pitchFamily="34" charset="-122"/>
                <a:cs typeface="맑은 고딕" pitchFamily="34" charset="-120"/>
              </a:rPr>
              <a:t>1</a:t>
            </a:r>
            <a:endParaRPr lang="en-US" sz="1200" dirty="0"/>
          </a:p>
        </p:txBody>
      </p:sp>
      <p:sp>
        <p:nvSpPr>
          <p:cNvPr id="11" name="Text 9"/>
          <p:cNvSpPr txBox="1"/>
          <p:nvPr/>
        </p:nvSpPr>
        <p:spPr>
          <a:xfrm>
            <a:off x="7589520" y="2121408"/>
            <a:ext cx="3687775" cy="292608"/>
          </a:xfrm>
          <a:prstGeom prst="rect">
            <a:avLst/>
          </a:prstGeom>
          <a:noFill/>
          <a:ln/>
        </p:spPr>
        <p:txBody>
          <a:bodyPr wrap="square" lIns="0" tIns="0" rIns="0" bIns="0" rtlCol="0" anchor="ctr"/>
          <a:lstStyle/>
          <a:p>
            <a:pPr marL="0" indent="0">
              <a:buNone/>
            </a:pPr>
            <a:r>
              <a:rPr lang="en-US" sz="1500" b="1" dirty="0">
                <a:solidFill>
                  <a:srgbClr val="111214"/>
                </a:solidFill>
                <a:latin typeface="맑은 고딕" pitchFamily="34" charset="0"/>
                <a:ea typeface="맑은 고딕" pitchFamily="34" charset="-122"/>
                <a:cs typeface="맑은 고딕" pitchFamily="34" charset="-120"/>
              </a:rPr>
              <a:t>같은 모양의 코드가 계속 반복된다</a:t>
            </a:r>
            <a:endParaRPr lang="en-US" sz="1500" dirty="0"/>
          </a:p>
        </p:txBody>
      </p:sp>
      <p:sp>
        <p:nvSpPr>
          <p:cNvPr id="12" name="Text 10"/>
          <p:cNvSpPr txBox="1"/>
          <p:nvPr/>
        </p:nvSpPr>
        <p:spPr>
          <a:xfrm>
            <a:off x="7589520" y="2404872"/>
            <a:ext cx="3687775" cy="256032"/>
          </a:xfrm>
          <a:prstGeom prst="rect">
            <a:avLst/>
          </a:prstGeom>
          <a:noFill/>
          <a:ln/>
        </p:spPr>
        <p:txBody>
          <a:bodyPr wrap="square" lIns="0" tIns="0" rIns="0" bIns="0" rtlCol="0" anchor="ctr"/>
          <a:lstStyle/>
          <a:p>
            <a:pPr marL="0" indent="0">
              <a:buNone/>
            </a:pPr>
            <a:r>
              <a:rPr lang="en-US" sz="1150" dirty="0">
                <a:solidFill>
                  <a:srgbClr val="6E6E73"/>
                </a:solidFill>
                <a:latin typeface="맑은 고딕" pitchFamily="34" charset="0"/>
                <a:ea typeface="맑은 고딕" pitchFamily="34" charset="-122"/>
                <a:cs typeface="맑은 고딕" pitchFamily="34" charset="-120"/>
              </a:rPr>
              <a:t>name / price / stock 세트가 상품 수만큼 복사됨</a:t>
            </a:r>
            <a:endParaRPr lang="en-US" sz="1150" dirty="0"/>
          </a:p>
        </p:txBody>
      </p:sp>
      <p:sp>
        <p:nvSpPr>
          <p:cNvPr id="13" name="Shape 11"/>
          <p:cNvSpPr/>
          <p:nvPr/>
        </p:nvSpPr>
        <p:spPr>
          <a:xfrm>
            <a:off x="6903720" y="2926080"/>
            <a:ext cx="4602175" cy="822960"/>
          </a:xfrm>
          <a:prstGeom prst="roundRect">
            <a:avLst>
              <a:gd name="adj" fmla="val 6667"/>
            </a:avLst>
          </a:prstGeom>
          <a:solidFill>
            <a:srgbClr val="FFFFFF"/>
          </a:solidFill>
          <a:ln w="12700">
            <a:solidFill>
              <a:srgbClr val="DCDAD6"/>
            </a:solidFill>
            <a:prstDash val="solid"/>
          </a:ln>
        </p:spPr>
      </p:sp>
      <p:sp>
        <p:nvSpPr>
          <p:cNvPr id="14" name="Shape 12"/>
          <p:cNvSpPr/>
          <p:nvPr/>
        </p:nvSpPr>
        <p:spPr>
          <a:xfrm>
            <a:off x="7159752" y="3182112"/>
            <a:ext cx="310896" cy="310896"/>
          </a:xfrm>
          <a:prstGeom prst="ellipse">
            <a:avLst/>
          </a:prstGeom>
          <a:solidFill>
            <a:srgbClr val="FBE7E2"/>
          </a:solidFill>
          <a:ln w="12700">
            <a:solidFill>
              <a:srgbClr val="FBE7E2"/>
            </a:solidFill>
            <a:prstDash val="solid"/>
          </a:ln>
        </p:spPr>
      </p:sp>
      <p:sp>
        <p:nvSpPr>
          <p:cNvPr id="15" name="Text 13"/>
          <p:cNvSpPr txBox="1"/>
          <p:nvPr/>
        </p:nvSpPr>
        <p:spPr>
          <a:xfrm>
            <a:off x="7159752" y="3182112"/>
            <a:ext cx="310896" cy="310896"/>
          </a:xfrm>
          <a:prstGeom prst="rect">
            <a:avLst/>
          </a:prstGeom>
          <a:noFill/>
          <a:ln/>
        </p:spPr>
        <p:txBody>
          <a:bodyPr wrap="square" lIns="0" tIns="0" rIns="0" bIns="0" rtlCol="0" anchor="ctr"/>
          <a:lstStyle/>
          <a:p>
            <a:pPr marL="0" indent="0" algn="ctr">
              <a:buNone/>
            </a:pPr>
            <a:r>
              <a:rPr lang="en-US" sz="1200" b="1" dirty="0">
                <a:solidFill>
                  <a:srgbClr val="E8482B"/>
                </a:solidFill>
                <a:latin typeface="맑은 고딕" pitchFamily="34" charset="0"/>
                <a:ea typeface="맑은 고딕" pitchFamily="34" charset="-122"/>
                <a:cs typeface="맑은 고딕" pitchFamily="34" charset="-120"/>
              </a:rPr>
              <a:t>2</a:t>
            </a:r>
            <a:endParaRPr lang="en-US" sz="1200" dirty="0"/>
          </a:p>
        </p:txBody>
      </p:sp>
      <p:sp>
        <p:nvSpPr>
          <p:cNvPr id="16" name="Text 14"/>
          <p:cNvSpPr txBox="1"/>
          <p:nvPr/>
        </p:nvSpPr>
        <p:spPr>
          <a:xfrm>
            <a:off x="7589520" y="3081528"/>
            <a:ext cx="3687775" cy="292608"/>
          </a:xfrm>
          <a:prstGeom prst="rect">
            <a:avLst/>
          </a:prstGeom>
          <a:noFill/>
          <a:ln/>
        </p:spPr>
        <p:txBody>
          <a:bodyPr wrap="square" lIns="0" tIns="0" rIns="0" bIns="0" rtlCol="0" anchor="ctr"/>
          <a:lstStyle/>
          <a:p>
            <a:pPr marL="0" indent="0">
              <a:buNone/>
            </a:pPr>
            <a:r>
              <a:rPr lang="en-US" sz="1500" b="1" dirty="0">
                <a:solidFill>
                  <a:srgbClr val="111214"/>
                </a:solidFill>
                <a:latin typeface="맑은 고딕" pitchFamily="34" charset="0"/>
                <a:ea typeface="맑은 고딕" pitchFamily="34" charset="-122"/>
                <a:cs typeface="맑은 고딕" pitchFamily="34" charset="-120"/>
              </a:rPr>
              <a:t>어떤 데이터가 어떤 상품인지 흐려진다</a:t>
            </a:r>
            <a:endParaRPr lang="en-US" sz="1500" dirty="0"/>
          </a:p>
        </p:txBody>
      </p:sp>
      <p:sp>
        <p:nvSpPr>
          <p:cNvPr id="17" name="Text 15"/>
          <p:cNvSpPr txBox="1"/>
          <p:nvPr/>
        </p:nvSpPr>
        <p:spPr>
          <a:xfrm>
            <a:off x="7589520" y="3364992"/>
            <a:ext cx="3687775" cy="256032"/>
          </a:xfrm>
          <a:prstGeom prst="rect">
            <a:avLst/>
          </a:prstGeom>
          <a:noFill/>
          <a:ln/>
        </p:spPr>
        <p:txBody>
          <a:bodyPr wrap="square" lIns="0" tIns="0" rIns="0" bIns="0" rtlCol="0" anchor="ctr"/>
          <a:lstStyle/>
          <a:p>
            <a:pPr marL="0" indent="0">
              <a:buNone/>
            </a:pPr>
            <a:r>
              <a:rPr lang="en-US" sz="1150" dirty="0">
                <a:solidFill>
                  <a:srgbClr val="6E6E73"/>
                </a:solidFill>
                <a:latin typeface="맑은 고딕" pitchFamily="34" charset="0"/>
                <a:ea typeface="맑은 고딕" pitchFamily="34" charset="-122"/>
                <a:cs typeface="맑은 고딕" pitchFamily="34" charset="-120"/>
              </a:rPr>
              <a:t>price2가 어느 상품 가격인지는 이름 규칙에만 의존</a:t>
            </a:r>
            <a:endParaRPr lang="en-US" sz="1150" dirty="0"/>
          </a:p>
        </p:txBody>
      </p:sp>
      <p:sp>
        <p:nvSpPr>
          <p:cNvPr id="18" name="Shape 16"/>
          <p:cNvSpPr/>
          <p:nvPr/>
        </p:nvSpPr>
        <p:spPr>
          <a:xfrm>
            <a:off x="6903720" y="3886200"/>
            <a:ext cx="4602175" cy="822960"/>
          </a:xfrm>
          <a:prstGeom prst="roundRect">
            <a:avLst>
              <a:gd name="adj" fmla="val 6667"/>
            </a:avLst>
          </a:prstGeom>
          <a:solidFill>
            <a:srgbClr val="FFFFFF"/>
          </a:solidFill>
          <a:ln w="12700">
            <a:solidFill>
              <a:srgbClr val="DCDAD6"/>
            </a:solidFill>
            <a:prstDash val="solid"/>
          </a:ln>
        </p:spPr>
      </p:sp>
      <p:sp>
        <p:nvSpPr>
          <p:cNvPr id="19" name="Shape 17"/>
          <p:cNvSpPr/>
          <p:nvPr/>
        </p:nvSpPr>
        <p:spPr>
          <a:xfrm>
            <a:off x="7159752" y="4142232"/>
            <a:ext cx="310896" cy="310896"/>
          </a:xfrm>
          <a:prstGeom prst="ellipse">
            <a:avLst/>
          </a:prstGeom>
          <a:solidFill>
            <a:srgbClr val="FBE7E2"/>
          </a:solidFill>
          <a:ln w="12700">
            <a:solidFill>
              <a:srgbClr val="FBE7E2"/>
            </a:solidFill>
            <a:prstDash val="solid"/>
          </a:ln>
        </p:spPr>
      </p:sp>
      <p:sp>
        <p:nvSpPr>
          <p:cNvPr id="20" name="Text 18"/>
          <p:cNvSpPr txBox="1"/>
          <p:nvPr/>
        </p:nvSpPr>
        <p:spPr>
          <a:xfrm>
            <a:off x="7159752" y="4142232"/>
            <a:ext cx="310896" cy="310896"/>
          </a:xfrm>
          <a:prstGeom prst="rect">
            <a:avLst/>
          </a:prstGeom>
          <a:noFill/>
          <a:ln/>
        </p:spPr>
        <p:txBody>
          <a:bodyPr wrap="square" lIns="0" tIns="0" rIns="0" bIns="0" rtlCol="0" anchor="ctr"/>
          <a:lstStyle/>
          <a:p>
            <a:pPr marL="0" indent="0" algn="ctr">
              <a:buNone/>
            </a:pPr>
            <a:r>
              <a:rPr lang="en-US" sz="1200" b="1" dirty="0">
                <a:solidFill>
                  <a:srgbClr val="E8482B"/>
                </a:solidFill>
                <a:latin typeface="맑은 고딕" pitchFamily="34" charset="0"/>
                <a:ea typeface="맑은 고딕" pitchFamily="34" charset="-122"/>
                <a:cs typeface="맑은 고딕" pitchFamily="34" charset="-120"/>
              </a:rPr>
              <a:t>3</a:t>
            </a:r>
            <a:endParaRPr lang="en-US" sz="1200" dirty="0"/>
          </a:p>
        </p:txBody>
      </p:sp>
      <p:sp>
        <p:nvSpPr>
          <p:cNvPr id="21" name="Text 19"/>
          <p:cNvSpPr txBox="1"/>
          <p:nvPr/>
        </p:nvSpPr>
        <p:spPr>
          <a:xfrm>
            <a:off x="7589520" y="4041648"/>
            <a:ext cx="3687775" cy="292608"/>
          </a:xfrm>
          <a:prstGeom prst="rect">
            <a:avLst/>
          </a:prstGeom>
          <a:noFill/>
          <a:ln/>
        </p:spPr>
        <p:txBody>
          <a:bodyPr wrap="square" lIns="0" tIns="0" rIns="0" bIns="0" rtlCol="0" anchor="ctr"/>
          <a:lstStyle/>
          <a:p>
            <a:pPr marL="0" indent="0">
              <a:buNone/>
            </a:pPr>
            <a:r>
              <a:rPr lang="en-US" sz="1500" b="1" dirty="0">
                <a:solidFill>
                  <a:srgbClr val="111214"/>
                </a:solidFill>
                <a:latin typeface="맑은 고딕" pitchFamily="34" charset="0"/>
                <a:ea typeface="맑은 고딕" pitchFamily="34" charset="-122"/>
                <a:cs typeface="맑은 고딕" pitchFamily="34" charset="-120"/>
              </a:rPr>
              <a:t>수정 한 번이 100번 수정이 된다</a:t>
            </a:r>
            <a:endParaRPr lang="en-US" sz="1500" dirty="0"/>
          </a:p>
        </p:txBody>
      </p:sp>
      <p:sp>
        <p:nvSpPr>
          <p:cNvPr id="22" name="Text 20"/>
          <p:cNvSpPr txBox="1"/>
          <p:nvPr/>
        </p:nvSpPr>
        <p:spPr>
          <a:xfrm>
            <a:off x="7589520" y="4325112"/>
            <a:ext cx="3687775" cy="256032"/>
          </a:xfrm>
          <a:prstGeom prst="rect">
            <a:avLst/>
          </a:prstGeom>
          <a:noFill/>
          <a:ln/>
        </p:spPr>
        <p:txBody>
          <a:bodyPr wrap="square" lIns="0" tIns="0" rIns="0" bIns="0" rtlCol="0" anchor="ctr"/>
          <a:lstStyle/>
          <a:p>
            <a:pPr marL="0" indent="0">
              <a:buNone/>
            </a:pPr>
            <a:r>
              <a:rPr lang="en-US" sz="1150" dirty="0">
                <a:solidFill>
                  <a:srgbClr val="6E6E73"/>
                </a:solidFill>
                <a:latin typeface="맑은 고딕" pitchFamily="34" charset="0"/>
                <a:ea typeface="맑은 고딕" pitchFamily="34" charset="-122"/>
                <a:cs typeface="맑은 고딕" pitchFamily="34" charset="-120"/>
              </a:rPr>
              <a:t>'할인율' 하나 추가하려면 전부 손봐야 함</a:t>
            </a:r>
            <a:endParaRPr lang="en-US" sz="1150" dirty="0"/>
          </a:p>
        </p:txBody>
      </p:sp>
      <p:sp>
        <p:nvSpPr>
          <p:cNvPr id="23" name="Shape 21"/>
          <p:cNvSpPr/>
          <p:nvPr/>
        </p:nvSpPr>
        <p:spPr>
          <a:xfrm>
            <a:off x="6903720" y="4892040"/>
            <a:ext cx="4602175" cy="1005840"/>
          </a:xfrm>
          <a:prstGeom prst="roundRect">
            <a:avLst>
              <a:gd name="adj" fmla="val 5455"/>
            </a:avLst>
          </a:prstGeom>
          <a:solidFill>
            <a:srgbClr val="111214"/>
          </a:solidFill>
          <a:ln w="12700">
            <a:solidFill>
              <a:srgbClr val="111214"/>
            </a:solidFill>
            <a:prstDash val="solid"/>
          </a:ln>
        </p:spPr>
      </p:sp>
      <p:sp>
        <p:nvSpPr>
          <p:cNvPr id="24" name="Text 22"/>
          <p:cNvSpPr txBox="1"/>
          <p:nvPr/>
        </p:nvSpPr>
        <p:spPr>
          <a:xfrm>
            <a:off x="6903720" y="5084064"/>
            <a:ext cx="4602175" cy="365760"/>
          </a:xfrm>
          <a:prstGeom prst="rect">
            <a:avLst/>
          </a:prstGeom>
          <a:noFill/>
          <a:ln/>
        </p:spPr>
        <p:txBody>
          <a:bodyPr wrap="square" lIns="0" tIns="0" rIns="0" bIns="0" rtlCol="0" anchor="ctr"/>
          <a:lstStyle/>
          <a:p>
            <a:pPr marL="0" indent="0" algn="ctr">
              <a:buNone/>
            </a:pPr>
            <a:r>
              <a:rPr lang="en-US" sz="2200" b="1" dirty="0">
                <a:solidFill>
                  <a:srgbClr val="E8482B"/>
                </a:solidFill>
                <a:latin typeface="맑은 고딕" pitchFamily="34" charset="0"/>
                <a:ea typeface="맑은 고딕" pitchFamily="34" charset="-122"/>
                <a:cs typeface="맑은 고딕" pitchFamily="34" charset="-120"/>
              </a:rPr>
              <a:t>상품 100개</a:t>
            </a:r>
            <a:r>
              <a:rPr lang="en-US" sz="2200" dirty="0">
                <a:solidFill>
                  <a:srgbClr val="6E6E78"/>
                </a:solidFill>
                <a:latin typeface="맑은 고딕" pitchFamily="34" charset="0"/>
                <a:ea typeface="맑은 고딕" pitchFamily="34" charset="-122"/>
                <a:cs typeface="맑은 고딕" pitchFamily="34" charset="-120"/>
              </a:rPr>
              <a:t>  =  </a:t>
            </a:r>
            <a:r>
              <a:rPr lang="en-US" sz="2200" b="1" dirty="0">
                <a:solidFill>
                  <a:srgbClr val="FFFFFF"/>
                </a:solidFill>
                <a:latin typeface="맑은 고딕" pitchFamily="34" charset="0"/>
                <a:ea typeface="맑은 고딕" pitchFamily="34" charset="-122"/>
                <a:cs typeface="맑은 고딕" pitchFamily="34" charset="-120"/>
              </a:rPr>
              <a:t>변수 300개</a:t>
            </a:r>
            <a:endParaRPr lang="en-US" sz="2200" dirty="0"/>
          </a:p>
        </p:txBody>
      </p:sp>
      <p:sp>
        <p:nvSpPr>
          <p:cNvPr id="25" name="Text 23"/>
          <p:cNvSpPr txBox="1"/>
          <p:nvPr/>
        </p:nvSpPr>
        <p:spPr>
          <a:xfrm>
            <a:off x="6903720" y="5486400"/>
            <a:ext cx="4602175" cy="274320"/>
          </a:xfrm>
          <a:prstGeom prst="rect">
            <a:avLst/>
          </a:prstGeom>
          <a:noFill/>
          <a:ln/>
        </p:spPr>
        <p:txBody>
          <a:bodyPr wrap="square" lIns="0" tIns="0" rIns="0" bIns="0" rtlCol="0" anchor="ctr"/>
          <a:lstStyle/>
          <a:p>
            <a:pPr marL="0" indent="0" algn="ctr">
              <a:buNone/>
            </a:pPr>
            <a:r>
              <a:rPr lang="en-US" sz="1150" dirty="0">
                <a:solidFill>
                  <a:srgbClr val="8E8E96"/>
                </a:solidFill>
                <a:latin typeface="맑은 고딕" pitchFamily="34" charset="0"/>
                <a:ea typeface="맑은 고딕" pitchFamily="34" charset="-122"/>
                <a:cs typeface="맑은 고딕" pitchFamily="34" charset="-120"/>
              </a:rPr>
              <a:t>관리의 문제이지, 실력의 문제가 아닙니다</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85800" y="384048"/>
            <a:ext cx="1005840" cy="292608"/>
          </a:xfrm>
          <a:prstGeom prst="roundRect">
            <a:avLst>
              <a:gd name="adj" fmla="val 50000"/>
            </a:avLst>
          </a:prstGeom>
          <a:solidFill>
            <a:srgbClr val="FBE7E2"/>
          </a:solidFill>
          <a:ln w="12700">
            <a:solidFill>
              <a:srgbClr val="FBE7E2"/>
            </a:solidFill>
            <a:prstDash val="solid"/>
          </a:ln>
        </p:spPr>
      </p:sp>
      <p:sp>
        <p:nvSpPr>
          <p:cNvPr id="3" name="Text 1"/>
          <p:cNvSpPr txBox="1"/>
          <p:nvPr/>
        </p:nvSpPr>
        <p:spPr>
          <a:xfrm>
            <a:off x="685800" y="384048"/>
            <a:ext cx="1005840" cy="292608"/>
          </a:xfrm>
          <a:prstGeom prst="rect">
            <a:avLst/>
          </a:prstGeom>
          <a:noFill/>
          <a:ln/>
        </p:spPr>
        <p:txBody>
          <a:bodyPr wrap="square" lIns="0" tIns="0" rIns="0" bIns="0" rtlCol="0" anchor="ctr"/>
          <a:lstStyle/>
          <a:p>
            <a:pPr marL="0" indent="0" algn="ctr">
              <a:buNone/>
            </a:pPr>
            <a:r>
              <a:rPr lang="en-US" sz="1100" b="1" dirty="0">
                <a:solidFill>
                  <a:srgbClr val="E8482B"/>
                </a:solidFill>
                <a:latin typeface="맑은 고딕" pitchFamily="34" charset="0"/>
                <a:ea typeface="맑은 고딕" pitchFamily="34" charset="-122"/>
                <a:cs typeface="맑은 고딕" pitchFamily="34" charset="-120"/>
              </a:rPr>
              <a:t>클래스</a:t>
            </a:r>
            <a:endParaRPr lang="en-US" sz="1100" dirty="0"/>
          </a:p>
        </p:txBody>
      </p:sp>
      <p:sp>
        <p:nvSpPr>
          <p:cNvPr id="4" name="Text 2"/>
          <p:cNvSpPr txBox="1"/>
          <p:nvPr/>
        </p:nvSpPr>
        <p:spPr>
          <a:xfrm>
            <a:off x="685800" y="713232"/>
            <a:ext cx="10820095" cy="603504"/>
          </a:xfrm>
          <a:prstGeom prst="rect">
            <a:avLst/>
          </a:prstGeom>
          <a:noFill/>
          <a:ln/>
        </p:spPr>
        <p:txBody>
          <a:bodyPr wrap="square" lIns="0" tIns="0" rIns="0" bIns="0" rtlCol="0" anchor="ctr"/>
          <a:lstStyle/>
          <a:p>
            <a:pPr marL="0" indent="0">
              <a:buNone/>
            </a:pPr>
            <a:r>
              <a:rPr lang="en-US" sz="3400" b="1" dirty="0">
                <a:solidFill>
                  <a:srgbClr val="111214"/>
                </a:solidFill>
                <a:latin typeface="맑은 고딕" pitchFamily="34" charset="0"/>
                <a:ea typeface="맑은 고딕" pitchFamily="34" charset="-122"/>
                <a:cs typeface="맑은 고딕" pitchFamily="34" charset="-120"/>
              </a:rPr>
              <a:t>그래서, 클래스</a:t>
            </a:r>
            <a:endParaRPr lang="en-US" sz="3400" dirty="0"/>
          </a:p>
        </p:txBody>
      </p:sp>
      <p:sp>
        <p:nvSpPr>
          <p:cNvPr id="5" name="Text 3"/>
          <p:cNvSpPr txBox="1"/>
          <p:nvPr/>
        </p:nvSpPr>
        <p:spPr>
          <a:xfrm>
            <a:off x="685800" y="1316736"/>
            <a:ext cx="10820095" cy="310896"/>
          </a:xfrm>
          <a:prstGeom prst="rect">
            <a:avLst/>
          </a:prstGeom>
          <a:noFill/>
          <a:ln/>
        </p:spPr>
        <p:txBody>
          <a:bodyPr wrap="square" lIns="0" tIns="0" rIns="0" bIns="0" rtlCol="0" anchor="ctr"/>
          <a:lstStyle/>
          <a:p>
            <a:pPr marL="0" indent="0">
              <a:buNone/>
            </a:pPr>
            <a:r>
              <a:rPr lang="en-US" sz="1400" dirty="0">
                <a:solidFill>
                  <a:srgbClr val="6E6E73"/>
                </a:solidFill>
                <a:latin typeface="맑은 고딕" pitchFamily="34" charset="0"/>
                <a:ea typeface="맑은 고딕" pitchFamily="34" charset="-122"/>
                <a:cs typeface="맑은 고딕" pitchFamily="34" charset="-120"/>
              </a:rPr>
              <a:t>흩어진 데이터를 하나의 대상으로 묶는다</a:t>
            </a:r>
            <a:endParaRPr lang="en-US" sz="1400" dirty="0"/>
          </a:p>
        </p:txBody>
      </p:sp>
      <p:sp>
        <p:nvSpPr>
          <p:cNvPr id="6" name="Shape 4"/>
          <p:cNvSpPr/>
          <p:nvPr/>
        </p:nvSpPr>
        <p:spPr>
          <a:xfrm>
            <a:off x="685800" y="2011680"/>
            <a:ext cx="5760720" cy="2747772"/>
          </a:xfrm>
          <a:prstGeom prst="roundRect">
            <a:avLst>
              <a:gd name="adj" fmla="val 2662"/>
            </a:avLst>
          </a:prstGeom>
          <a:solidFill>
            <a:srgbClr val="17181C"/>
          </a:solidFill>
          <a:ln w="12700">
            <a:solidFill>
              <a:srgbClr val="17181C"/>
            </a:solidFill>
            <a:prstDash val="solid"/>
          </a:ln>
        </p:spPr>
      </p:sp>
      <p:sp>
        <p:nvSpPr>
          <p:cNvPr id="7" name="Text 5"/>
          <p:cNvSpPr txBox="1"/>
          <p:nvPr/>
        </p:nvSpPr>
        <p:spPr>
          <a:xfrm>
            <a:off x="923544" y="2203704"/>
            <a:ext cx="5285232" cy="2363724"/>
          </a:xfrm>
          <a:prstGeom prst="rect">
            <a:avLst/>
          </a:prstGeom>
          <a:noFill/>
          <a:ln/>
        </p:spPr>
        <p:txBody>
          <a:bodyPr wrap="square" lIns="0" tIns="0" rIns="0" bIns="0" rtlCol="0" anchor="t"/>
          <a:lstStyle/>
          <a:p>
            <a:pPr marL="0" indent="0">
              <a:lnSpc>
                <a:spcPts val="2556"/>
              </a:lnSpc>
              <a:buNone/>
            </a:pPr>
            <a:r>
              <a:rPr lang="en-US" sz="1800" dirty="0">
                <a:solidFill>
                  <a:srgbClr val="FF8A66"/>
                </a:solidFill>
                <a:latin typeface="Consolas" pitchFamily="34" charset="0"/>
                <a:ea typeface="Consolas" pitchFamily="34" charset="-122"/>
                <a:cs typeface="Consolas" pitchFamily="34" charset="-120"/>
              </a:rPr>
              <a:t>public class </a:t>
            </a:r>
            <a:r>
              <a:rPr lang="en-US" sz="1800" b="1" dirty="0">
                <a:solidFill>
                  <a:srgbClr val="E9E8E4"/>
                </a:solidFill>
                <a:latin typeface="Consolas" pitchFamily="34" charset="0"/>
                <a:ea typeface="Consolas" pitchFamily="34" charset="-122"/>
                <a:cs typeface="Consolas" pitchFamily="34" charset="-120"/>
              </a:rPr>
              <a:t>Product</a:t>
            </a:r>
            <a:r>
              <a:rPr lang="en-US" sz="1800" dirty="0">
                <a:solidFill>
                  <a:srgbClr val="E9E8E4"/>
                </a:solidFill>
                <a:latin typeface="Consolas" pitchFamily="34" charset="0"/>
                <a:ea typeface="Consolas" pitchFamily="34" charset="-122"/>
                <a:cs typeface="Consolas" pitchFamily="34" charset="-120"/>
              </a:rPr>
              <a:t> {</a:t>
            </a:r>
            <a:endParaRPr lang="en-US" sz="1800" dirty="0"/>
          </a:p>
          <a:p>
            <a:pPr marL="0" indent="0">
              <a:lnSpc>
                <a:spcPts val="2556"/>
              </a:lnSpc>
              <a:buNone/>
            </a:pPr>
            <a:r>
              <a:rPr lang="en-US" sz="1800" dirty="0">
                <a:solidFill>
                  <a:srgbClr val="E9E8E4"/>
                </a:solidFill>
                <a:latin typeface="Consolas" pitchFamily="34" charset="0"/>
                <a:ea typeface="Consolas" pitchFamily="34" charset="-122"/>
                <a:cs typeface="Consolas" pitchFamily="34" charset="-120"/>
              </a:rPr>
              <a:t> </a:t>
            </a:r>
            <a:endParaRPr lang="en-US" sz="1800" dirty="0"/>
          </a:p>
          <a:p>
            <a:pPr marL="0" indent="0">
              <a:lnSpc>
                <a:spcPts val="2556"/>
              </a:lnSpc>
              <a:buNone/>
            </a:pPr>
            <a:r>
              <a:rPr lang="en-US" sz="1800" dirty="0">
                <a:solidFill>
                  <a:srgbClr val="FF8A66"/>
                </a:solidFill>
                <a:latin typeface="Consolas" pitchFamily="34" charset="0"/>
                <a:ea typeface="Consolas" pitchFamily="34" charset="-122"/>
                <a:cs typeface="Consolas" pitchFamily="34" charset="-120"/>
              </a:rPr>
              <a:t>    String</a:t>
            </a:r>
            <a:r>
              <a:rPr lang="en-US" sz="1800" dirty="0">
                <a:solidFill>
                  <a:srgbClr val="E9E8E4"/>
                </a:solidFill>
                <a:latin typeface="Consolas" pitchFamily="34" charset="0"/>
                <a:ea typeface="Consolas" pitchFamily="34" charset="-122"/>
                <a:cs typeface="Consolas" pitchFamily="34" charset="-120"/>
              </a:rPr>
              <a:t> name;</a:t>
            </a:r>
            <a:endParaRPr lang="en-US" sz="1800" dirty="0"/>
          </a:p>
          <a:p>
            <a:pPr marL="0" indent="0">
              <a:lnSpc>
                <a:spcPts val="2556"/>
              </a:lnSpc>
              <a:buNone/>
            </a:pPr>
            <a:r>
              <a:rPr lang="en-US" sz="1800" dirty="0">
                <a:solidFill>
                  <a:srgbClr val="FF8A66"/>
                </a:solidFill>
                <a:latin typeface="Consolas" pitchFamily="34" charset="0"/>
                <a:ea typeface="Consolas" pitchFamily="34" charset="-122"/>
                <a:cs typeface="Consolas" pitchFamily="34" charset="-120"/>
              </a:rPr>
              <a:t>    int</a:t>
            </a:r>
            <a:r>
              <a:rPr lang="en-US" sz="1800" dirty="0">
                <a:solidFill>
                  <a:srgbClr val="E9E8E4"/>
                </a:solidFill>
                <a:latin typeface="Consolas" pitchFamily="34" charset="0"/>
                <a:ea typeface="Consolas" pitchFamily="34" charset="-122"/>
                <a:cs typeface="Consolas" pitchFamily="34" charset="-120"/>
              </a:rPr>
              <a:t>    price;</a:t>
            </a:r>
            <a:endParaRPr lang="en-US" sz="1800" dirty="0"/>
          </a:p>
          <a:p>
            <a:pPr marL="0" indent="0">
              <a:lnSpc>
                <a:spcPts val="2556"/>
              </a:lnSpc>
              <a:buNone/>
            </a:pPr>
            <a:r>
              <a:rPr lang="en-US" sz="1800" dirty="0">
                <a:solidFill>
                  <a:srgbClr val="FF8A66"/>
                </a:solidFill>
                <a:latin typeface="Consolas" pitchFamily="34" charset="0"/>
                <a:ea typeface="Consolas" pitchFamily="34" charset="-122"/>
                <a:cs typeface="Consolas" pitchFamily="34" charset="-120"/>
              </a:rPr>
              <a:t>    int</a:t>
            </a:r>
            <a:r>
              <a:rPr lang="en-US" sz="1800" dirty="0">
                <a:solidFill>
                  <a:srgbClr val="E9E8E4"/>
                </a:solidFill>
                <a:latin typeface="Consolas" pitchFamily="34" charset="0"/>
                <a:ea typeface="Consolas" pitchFamily="34" charset="-122"/>
                <a:cs typeface="Consolas" pitchFamily="34" charset="-120"/>
              </a:rPr>
              <a:t>    stock;</a:t>
            </a:r>
            <a:endParaRPr lang="en-US" sz="1800" dirty="0"/>
          </a:p>
          <a:p>
            <a:pPr marL="0" indent="0">
              <a:lnSpc>
                <a:spcPts val="2556"/>
              </a:lnSpc>
              <a:buNone/>
            </a:pPr>
            <a:r>
              <a:rPr lang="en-US" sz="1800" dirty="0">
                <a:solidFill>
                  <a:srgbClr val="E9E8E4"/>
                </a:solidFill>
                <a:latin typeface="Consolas" pitchFamily="34" charset="0"/>
                <a:ea typeface="Consolas" pitchFamily="34" charset="-122"/>
                <a:cs typeface="Consolas" pitchFamily="34" charset="-120"/>
              </a:rPr>
              <a:t> </a:t>
            </a:r>
            <a:endParaRPr lang="en-US" sz="1800" dirty="0"/>
          </a:p>
          <a:p>
            <a:pPr marL="0" indent="0">
              <a:lnSpc>
                <a:spcPts val="2556"/>
              </a:lnSpc>
              <a:buNone/>
            </a:pPr>
            <a:r>
              <a:rPr lang="en-US" sz="1800" dirty="0">
                <a:solidFill>
                  <a:srgbClr val="E9E8E4"/>
                </a:solidFill>
                <a:latin typeface="Consolas" pitchFamily="34" charset="0"/>
                <a:ea typeface="Consolas" pitchFamily="34" charset="-122"/>
                <a:cs typeface="Consolas" pitchFamily="34" charset="-120"/>
              </a:rPr>
              <a:t>}</a:t>
            </a:r>
            <a:endParaRPr lang="en-US" sz="1800" dirty="0"/>
          </a:p>
        </p:txBody>
      </p:sp>
      <p:sp>
        <p:nvSpPr>
          <p:cNvPr id="8" name="Shape 6"/>
          <p:cNvSpPr/>
          <p:nvPr/>
        </p:nvSpPr>
        <p:spPr>
          <a:xfrm>
            <a:off x="685800" y="4937760"/>
            <a:ext cx="5760720" cy="822960"/>
          </a:xfrm>
          <a:prstGeom prst="roundRect">
            <a:avLst>
              <a:gd name="adj" fmla="val 6667"/>
            </a:avLst>
          </a:prstGeom>
          <a:solidFill>
            <a:srgbClr val="F3F2F0"/>
          </a:solidFill>
          <a:ln w="12700">
            <a:solidFill>
              <a:srgbClr val="F3F2F0"/>
            </a:solidFill>
            <a:prstDash val="solid"/>
          </a:ln>
        </p:spPr>
      </p:sp>
      <p:sp>
        <p:nvSpPr>
          <p:cNvPr id="9" name="Text 7"/>
          <p:cNvSpPr txBox="1"/>
          <p:nvPr/>
        </p:nvSpPr>
        <p:spPr>
          <a:xfrm>
            <a:off x="1051560" y="4937760"/>
            <a:ext cx="5029200" cy="822960"/>
          </a:xfrm>
          <a:prstGeom prst="rect">
            <a:avLst/>
          </a:prstGeom>
          <a:noFill/>
          <a:ln/>
        </p:spPr>
        <p:txBody>
          <a:bodyPr wrap="square" lIns="0" tIns="0" rIns="0" bIns="0" rtlCol="0" anchor="ctr"/>
          <a:lstStyle/>
          <a:p>
            <a:pPr marL="0" indent="0">
              <a:lnSpc>
                <a:spcPts val="1900"/>
              </a:lnSpc>
              <a:buNone/>
            </a:pPr>
            <a:r>
              <a:rPr lang="en-US" sz="1300" dirty="0">
                <a:solidFill>
                  <a:srgbClr val="6E6E73"/>
                </a:solidFill>
                <a:latin typeface="맑은 고딕" pitchFamily="34" charset="0"/>
                <a:ea typeface="맑은 고딕" pitchFamily="34" charset="-122"/>
                <a:cs typeface="맑은 고딕" pitchFamily="34" charset="-120"/>
              </a:rPr>
              <a:t>이 코드 자체는 아직 상품이 아닙니다.</a:t>
            </a:r>
            <a:endParaRPr lang="en-US" sz="1300" dirty="0"/>
          </a:p>
          <a:p>
            <a:pPr marL="0" indent="0">
              <a:lnSpc>
                <a:spcPts val="1900"/>
              </a:lnSpc>
              <a:buNone/>
            </a:pPr>
            <a:r>
              <a:rPr lang="en-US" sz="1300" dirty="0">
                <a:solidFill>
                  <a:srgbClr val="6E6E73"/>
                </a:solidFill>
                <a:latin typeface="맑은 고딕" pitchFamily="34" charset="0"/>
                <a:ea typeface="맑은 고딕" pitchFamily="34" charset="-122"/>
                <a:cs typeface="맑은 고딕" pitchFamily="34" charset="-120"/>
              </a:rPr>
              <a:t>상품을 어떻게 만들지 적어둔 정의입니다.</a:t>
            </a:r>
            <a:endParaRPr lang="en-US" sz="1300" dirty="0"/>
          </a:p>
        </p:txBody>
      </p:sp>
      <p:sp>
        <p:nvSpPr>
          <p:cNvPr id="10" name="Shape 8"/>
          <p:cNvSpPr/>
          <p:nvPr/>
        </p:nvSpPr>
        <p:spPr>
          <a:xfrm>
            <a:off x="6903720" y="2011680"/>
            <a:ext cx="4602175" cy="1234440"/>
          </a:xfrm>
          <a:prstGeom prst="roundRect">
            <a:avLst>
              <a:gd name="adj" fmla="val 4444"/>
            </a:avLst>
          </a:prstGeom>
          <a:solidFill>
            <a:srgbClr val="111214"/>
          </a:solidFill>
          <a:ln w="12700">
            <a:solidFill>
              <a:srgbClr val="111214"/>
            </a:solidFill>
            <a:prstDash val="solid"/>
          </a:ln>
        </p:spPr>
      </p:sp>
      <p:sp>
        <p:nvSpPr>
          <p:cNvPr id="11" name="Text 9"/>
          <p:cNvSpPr txBox="1"/>
          <p:nvPr/>
        </p:nvSpPr>
        <p:spPr>
          <a:xfrm>
            <a:off x="7269480" y="2212848"/>
            <a:ext cx="3870655" cy="237744"/>
          </a:xfrm>
          <a:prstGeom prst="rect">
            <a:avLst/>
          </a:prstGeom>
          <a:noFill/>
          <a:ln/>
        </p:spPr>
        <p:txBody>
          <a:bodyPr wrap="square" lIns="0" tIns="0" rIns="0" bIns="0" rtlCol="0" anchor="ctr"/>
          <a:lstStyle/>
          <a:p>
            <a:pPr marL="0" indent="0">
              <a:buNone/>
            </a:pPr>
            <a:r>
              <a:rPr lang="en-US" sz="1150" b="1" dirty="0">
                <a:solidFill>
                  <a:srgbClr val="8E8E96"/>
                </a:solidFill>
                <a:latin typeface="맑은 고딕" pitchFamily="34" charset="0"/>
                <a:ea typeface="맑은 고딕" pitchFamily="34" charset="-122"/>
                <a:cs typeface="맑은 고딕" pitchFamily="34" charset="-120"/>
              </a:rPr>
              <a:t>클래스란</a:t>
            </a:r>
            <a:endParaRPr lang="en-US" sz="1150" dirty="0"/>
          </a:p>
        </p:txBody>
      </p:sp>
      <p:sp>
        <p:nvSpPr>
          <p:cNvPr id="12" name="Text 10"/>
          <p:cNvSpPr txBox="1"/>
          <p:nvPr/>
        </p:nvSpPr>
        <p:spPr>
          <a:xfrm>
            <a:off x="7269480" y="2487168"/>
            <a:ext cx="3870655" cy="640080"/>
          </a:xfrm>
          <a:prstGeom prst="rect">
            <a:avLst/>
          </a:prstGeom>
          <a:noFill/>
          <a:ln/>
        </p:spPr>
        <p:txBody>
          <a:bodyPr wrap="square" lIns="0" tIns="0" rIns="0" bIns="0" rtlCol="0" anchor="ctr"/>
          <a:lstStyle/>
          <a:p>
            <a:pPr marL="0" indent="0">
              <a:lnSpc>
                <a:spcPts val="2600"/>
              </a:lnSpc>
              <a:buNone/>
            </a:pPr>
            <a:r>
              <a:rPr lang="en-US" sz="1800" b="1" dirty="0">
                <a:solidFill>
                  <a:srgbClr val="FFFFFF"/>
                </a:solidFill>
                <a:latin typeface="맑은 고딕" pitchFamily="34" charset="0"/>
                <a:ea typeface="맑은 고딕" pitchFamily="34" charset="-122"/>
                <a:cs typeface="맑은 고딕" pitchFamily="34" charset="-120"/>
              </a:rPr>
              <a:t>객체가 어떤 데이터와 기능을 가질지</a:t>
            </a:r>
            <a:endParaRPr lang="en-US" sz="1800" dirty="0"/>
          </a:p>
          <a:p>
            <a:pPr marL="0" indent="0">
              <a:lnSpc>
                <a:spcPts val="2600"/>
              </a:lnSpc>
              <a:buNone/>
            </a:pPr>
            <a:r>
              <a:rPr lang="en-US" sz="1800" b="1" dirty="0">
                <a:solidFill>
                  <a:srgbClr val="FFFFFF"/>
                </a:solidFill>
                <a:latin typeface="맑은 고딕" pitchFamily="34" charset="0"/>
                <a:ea typeface="맑은 고딕" pitchFamily="34" charset="-122"/>
                <a:cs typeface="맑은 고딕" pitchFamily="34" charset="-120"/>
              </a:rPr>
              <a:t>정의해 둔 설계도</a:t>
            </a:r>
            <a:endParaRPr lang="en-US" sz="1800" dirty="0"/>
          </a:p>
        </p:txBody>
      </p:sp>
      <p:sp>
        <p:nvSpPr>
          <p:cNvPr id="13" name="Shape 11"/>
          <p:cNvSpPr/>
          <p:nvPr/>
        </p:nvSpPr>
        <p:spPr>
          <a:xfrm>
            <a:off x="6903720" y="3474720"/>
            <a:ext cx="4602175" cy="777240"/>
          </a:xfrm>
          <a:prstGeom prst="roundRect">
            <a:avLst>
              <a:gd name="adj" fmla="val 7059"/>
            </a:avLst>
          </a:prstGeom>
          <a:solidFill>
            <a:srgbClr val="F3F2F0"/>
          </a:solidFill>
          <a:ln w="12700">
            <a:solidFill>
              <a:srgbClr val="F3F2F0"/>
            </a:solidFill>
            <a:prstDash val="solid"/>
          </a:ln>
        </p:spPr>
      </p:sp>
      <p:sp>
        <p:nvSpPr>
          <p:cNvPr id="14" name="Text 12"/>
          <p:cNvSpPr txBox="1"/>
          <p:nvPr/>
        </p:nvSpPr>
        <p:spPr>
          <a:xfrm>
            <a:off x="7269480" y="3593592"/>
            <a:ext cx="3870655" cy="274320"/>
          </a:xfrm>
          <a:prstGeom prst="rect">
            <a:avLst/>
          </a:prstGeom>
          <a:noFill/>
          <a:ln/>
        </p:spPr>
        <p:txBody>
          <a:bodyPr wrap="square" lIns="0" tIns="0" rIns="0" bIns="0" rtlCol="0" anchor="ctr"/>
          <a:lstStyle/>
          <a:p>
            <a:pPr marL="0" indent="0">
              <a:buNone/>
            </a:pPr>
            <a:r>
              <a:rPr lang="en-US" sz="1450" b="1" dirty="0">
                <a:solidFill>
                  <a:srgbClr val="E8482B"/>
                </a:solidFill>
                <a:latin typeface="맑은 고딕" pitchFamily="34" charset="0"/>
                <a:ea typeface="맑은 고딕" pitchFamily="34" charset="-122"/>
                <a:cs typeface="맑은 고딕" pitchFamily="34" charset="-120"/>
              </a:rPr>
              <a:t>Product 클래스</a:t>
            </a:r>
            <a:endParaRPr lang="en-US" sz="1450" dirty="0"/>
          </a:p>
        </p:txBody>
      </p:sp>
      <p:sp>
        <p:nvSpPr>
          <p:cNvPr id="15" name="Text 13"/>
          <p:cNvSpPr txBox="1"/>
          <p:nvPr/>
        </p:nvSpPr>
        <p:spPr>
          <a:xfrm>
            <a:off x="7269480" y="3877056"/>
            <a:ext cx="3870655" cy="274320"/>
          </a:xfrm>
          <a:prstGeom prst="rect">
            <a:avLst/>
          </a:prstGeom>
          <a:noFill/>
          <a:ln/>
        </p:spPr>
        <p:txBody>
          <a:bodyPr wrap="square" lIns="0" tIns="0" rIns="0" bIns="0" rtlCol="0" anchor="ctr"/>
          <a:lstStyle/>
          <a:p>
            <a:pPr marL="0" indent="0">
              <a:buNone/>
            </a:pPr>
            <a:r>
              <a:rPr lang="en-US" sz="1250" dirty="0">
                <a:solidFill>
                  <a:srgbClr val="6E6E73"/>
                </a:solidFill>
                <a:latin typeface="맑은 고딕" pitchFamily="34" charset="0"/>
                <a:ea typeface="맑은 고딕" pitchFamily="34" charset="-122"/>
                <a:cs typeface="맑은 고딕" pitchFamily="34" charset="-120"/>
              </a:rPr>
              <a:t>상품이 어떤 정보를 갖고 어떤 일을 할지 정의한 것</a:t>
            </a:r>
            <a:endParaRPr lang="en-US" sz="1250" dirty="0"/>
          </a:p>
        </p:txBody>
      </p:sp>
      <p:sp>
        <p:nvSpPr>
          <p:cNvPr id="16" name="Shape 14"/>
          <p:cNvSpPr/>
          <p:nvPr/>
        </p:nvSpPr>
        <p:spPr>
          <a:xfrm>
            <a:off x="6903720" y="4389120"/>
            <a:ext cx="4602175" cy="777240"/>
          </a:xfrm>
          <a:prstGeom prst="roundRect">
            <a:avLst>
              <a:gd name="adj" fmla="val 7059"/>
            </a:avLst>
          </a:prstGeom>
          <a:solidFill>
            <a:srgbClr val="F3F2F0"/>
          </a:solidFill>
          <a:ln w="12700">
            <a:solidFill>
              <a:srgbClr val="F3F2F0"/>
            </a:solidFill>
            <a:prstDash val="solid"/>
          </a:ln>
        </p:spPr>
      </p:sp>
      <p:sp>
        <p:nvSpPr>
          <p:cNvPr id="17" name="Text 15"/>
          <p:cNvSpPr txBox="1"/>
          <p:nvPr/>
        </p:nvSpPr>
        <p:spPr>
          <a:xfrm>
            <a:off x="7269480" y="4507992"/>
            <a:ext cx="3870655" cy="274320"/>
          </a:xfrm>
          <a:prstGeom prst="rect">
            <a:avLst/>
          </a:prstGeom>
          <a:noFill/>
          <a:ln/>
        </p:spPr>
        <p:txBody>
          <a:bodyPr wrap="square" lIns="0" tIns="0" rIns="0" bIns="0" rtlCol="0" anchor="ctr"/>
          <a:lstStyle/>
          <a:p>
            <a:pPr marL="0" indent="0">
              <a:buNone/>
            </a:pPr>
            <a:r>
              <a:rPr lang="en-US" sz="1450" b="1" dirty="0">
                <a:solidFill>
                  <a:srgbClr val="E8482B"/>
                </a:solidFill>
                <a:latin typeface="맑은 고딕" pitchFamily="34" charset="0"/>
                <a:ea typeface="맑은 고딕" pitchFamily="34" charset="-122"/>
                <a:cs typeface="맑은 고딕" pitchFamily="34" charset="-120"/>
              </a:rPr>
              <a:t>ERL Hoodie / Diesel Jeans</a:t>
            </a:r>
            <a:endParaRPr lang="en-US" sz="1450" dirty="0"/>
          </a:p>
        </p:txBody>
      </p:sp>
      <p:sp>
        <p:nvSpPr>
          <p:cNvPr id="18" name="Text 16"/>
          <p:cNvSpPr txBox="1"/>
          <p:nvPr/>
        </p:nvSpPr>
        <p:spPr>
          <a:xfrm>
            <a:off x="7269480" y="4791456"/>
            <a:ext cx="3870655" cy="274320"/>
          </a:xfrm>
          <a:prstGeom prst="rect">
            <a:avLst/>
          </a:prstGeom>
          <a:noFill/>
          <a:ln/>
        </p:spPr>
        <p:txBody>
          <a:bodyPr wrap="square" lIns="0" tIns="0" rIns="0" bIns="0" rtlCol="0" anchor="ctr"/>
          <a:lstStyle/>
          <a:p>
            <a:pPr marL="0" indent="0">
              <a:buNone/>
            </a:pPr>
            <a:r>
              <a:rPr lang="en-US" sz="1250" dirty="0">
                <a:solidFill>
                  <a:srgbClr val="6E6E73"/>
                </a:solidFill>
                <a:latin typeface="맑은 고딕" pitchFamily="34" charset="0"/>
                <a:ea typeface="맑은 고딕" pitchFamily="34" charset="-122"/>
                <a:cs typeface="맑은 고딕" pitchFamily="34" charset="-120"/>
              </a:rPr>
              <a:t>그 정의를 바탕으로 실제로 만들어진 상품</a:t>
            </a:r>
            <a:endParaRPr lang="en-US" sz="1250" dirty="0"/>
          </a:p>
        </p:txBody>
      </p:sp>
      <p:sp>
        <p:nvSpPr>
          <p:cNvPr id="19" name="Text 17"/>
          <p:cNvSpPr txBox="1"/>
          <p:nvPr/>
        </p:nvSpPr>
        <p:spPr>
          <a:xfrm>
            <a:off x="6903720" y="5349240"/>
            <a:ext cx="4602175" cy="320040"/>
          </a:xfrm>
          <a:prstGeom prst="rect">
            <a:avLst/>
          </a:prstGeom>
          <a:noFill/>
          <a:ln/>
        </p:spPr>
        <p:txBody>
          <a:bodyPr wrap="square" lIns="0" tIns="0" rIns="0" bIns="0" rtlCol="0" anchor="ctr"/>
          <a:lstStyle/>
          <a:p>
            <a:pPr marL="0" indent="0">
              <a:buNone/>
            </a:pPr>
            <a:r>
              <a:rPr lang="en-US" sz="1300" b="1" dirty="0">
                <a:solidFill>
                  <a:srgbClr val="111214"/>
                </a:solidFill>
                <a:latin typeface="맑은 고딕" pitchFamily="34" charset="0"/>
                <a:ea typeface="맑은 고딕" pitchFamily="34" charset="-122"/>
                <a:cs typeface="맑은 고딕" pitchFamily="34" charset="-120"/>
              </a:rPr>
              <a:t>핵심 : 현실의 한 대상을 표현하는 데이터와 기능을 한 곳에 묶는다</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85800" y="384048"/>
            <a:ext cx="914400" cy="292608"/>
          </a:xfrm>
          <a:prstGeom prst="roundRect">
            <a:avLst>
              <a:gd name="adj" fmla="val 50000"/>
            </a:avLst>
          </a:prstGeom>
          <a:solidFill>
            <a:srgbClr val="FBE7E2"/>
          </a:solidFill>
          <a:ln w="12700">
            <a:solidFill>
              <a:srgbClr val="FBE7E2"/>
            </a:solidFill>
            <a:prstDash val="solid"/>
          </a:ln>
        </p:spPr>
      </p:sp>
      <p:sp>
        <p:nvSpPr>
          <p:cNvPr id="3" name="Text 1"/>
          <p:cNvSpPr txBox="1"/>
          <p:nvPr/>
        </p:nvSpPr>
        <p:spPr>
          <a:xfrm>
            <a:off x="685800" y="384048"/>
            <a:ext cx="914400" cy="292608"/>
          </a:xfrm>
          <a:prstGeom prst="rect">
            <a:avLst/>
          </a:prstGeom>
          <a:noFill/>
          <a:ln/>
        </p:spPr>
        <p:txBody>
          <a:bodyPr wrap="square" lIns="0" tIns="0" rIns="0" bIns="0" rtlCol="0" anchor="ctr"/>
          <a:lstStyle/>
          <a:p>
            <a:pPr marL="0" indent="0" algn="ctr">
              <a:buNone/>
            </a:pPr>
            <a:r>
              <a:rPr lang="en-US" sz="1100" b="1" dirty="0">
                <a:solidFill>
                  <a:srgbClr val="E8482B"/>
                </a:solidFill>
                <a:latin typeface="맑은 고딕" pitchFamily="34" charset="0"/>
                <a:ea typeface="맑은 고딕" pitchFamily="34" charset="-122"/>
                <a:cs typeface="맑은 고딕" pitchFamily="34" charset="-120"/>
              </a:rPr>
              <a:t>필드</a:t>
            </a:r>
            <a:endParaRPr lang="en-US" sz="1100" dirty="0"/>
          </a:p>
        </p:txBody>
      </p:sp>
      <p:sp>
        <p:nvSpPr>
          <p:cNvPr id="4" name="Text 2"/>
          <p:cNvSpPr txBox="1"/>
          <p:nvPr/>
        </p:nvSpPr>
        <p:spPr>
          <a:xfrm>
            <a:off x="685800" y="713232"/>
            <a:ext cx="10820095" cy="603504"/>
          </a:xfrm>
          <a:prstGeom prst="rect">
            <a:avLst/>
          </a:prstGeom>
          <a:noFill/>
          <a:ln/>
        </p:spPr>
        <p:txBody>
          <a:bodyPr wrap="square" lIns="0" tIns="0" rIns="0" bIns="0" rtlCol="0" anchor="ctr"/>
          <a:lstStyle/>
          <a:p>
            <a:pPr marL="0" indent="0">
              <a:buNone/>
            </a:pPr>
            <a:r>
              <a:rPr lang="en-US" sz="3400" b="1" dirty="0">
                <a:solidFill>
                  <a:srgbClr val="111214"/>
                </a:solidFill>
                <a:latin typeface="맑은 고딕" pitchFamily="34" charset="0"/>
                <a:ea typeface="맑은 고딕" pitchFamily="34" charset="-122"/>
                <a:cs typeface="맑은 고딕" pitchFamily="34" charset="-120"/>
              </a:rPr>
              <a:t>필드 — 객체가 가지는 데이터</a:t>
            </a:r>
            <a:endParaRPr lang="en-US" sz="3400" dirty="0"/>
          </a:p>
        </p:txBody>
      </p:sp>
      <p:sp>
        <p:nvSpPr>
          <p:cNvPr id="5" name="Text 3"/>
          <p:cNvSpPr txBox="1"/>
          <p:nvPr/>
        </p:nvSpPr>
        <p:spPr>
          <a:xfrm>
            <a:off x="685800" y="1316736"/>
            <a:ext cx="10820095" cy="310896"/>
          </a:xfrm>
          <a:prstGeom prst="rect">
            <a:avLst/>
          </a:prstGeom>
          <a:noFill/>
          <a:ln/>
        </p:spPr>
        <p:txBody>
          <a:bodyPr wrap="square" lIns="0" tIns="0" rIns="0" bIns="0" rtlCol="0" anchor="ctr"/>
          <a:lstStyle/>
          <a:p>
            <a:pPr marL="0" indent="0">
              <a:buNone/>
            </a:pPr>
            <a:r>
              <a:rPr lang="en-US" sz="1400" dirty="0">
                <a:solidFill>
                  <a:srgbClr val="6E6E73"/>
                </a:solidFill>
                <a:latin typeface="맑은 고딕" pitchFamily="34" charset="0"/>
                <a:ea typeface="맑은 고딕" pitchFamily="34" charset="-122"/>
                <a:cs typeface="맑은 고딕" pitchFamily="34" charset="-120"/>
              </a:rPr>
              <a:t>클래스 안에 선언된 변수, 즉 객체의 상태</a:t>
            </a:r>
            <a:endParaRPr lang="en-US" sz="1400" dirty="0"/>
          </a:p>
        </p:txBody>
      </p:sp>
      <p:sp>
        <p:nvSpPr>
          <p:cNvPr id="6" name="Shape 4"/>
          <p:cNvSpPr/>
          <p:nvPr/>
        </p:nvSpPr>
        <p:spPr>
          <a:xfrm>
            <a:off x="685800" y="2148840"/>
            <a:ext cx="4572000" cy="1557528"/>
          </a:xfrm>
          <a:prstGeom prst="roundRect">
            <a:avLst>
              <a:gd name="adj" fmla="val 4697"/>
            </a:avLst>
          </a:prstGeom>
          <a:solidFill>
            <a:srgbClr val="17181C"/>
          </a:solidFill>
          <a:ln w="12700">
            <a:solidFill>
              <a:srgbClr val="17181C"/>
            </a:solidFill>
            <a:prstDash val="solid"/>
          </a:ln>
        </p:spPr>
      </p:sp>
      <p:sp>
        <p:nvSpPr>
          <p:cNvPr id="7" name="Text 5"/>
          <p:cNvSpPr txBox="1"/>
          <p:nvPr/>
        </p:nvSpPr>
        <p:spPr>
          <a:xfrm>
            <a:off x="923544" y="2340864"/>
            <a:ext cx="4096512" cy="1173480"/>
          </a:xfrm>
          <a:prstGeom prst="rect">
            <a:avLst/>
          </a:prstGeom>
          <a:noFill/>
          <a:ln/>
        </p:spPr>
        <p:txBody>
          <a:bodyPr wrap="square" lIns="0" tIns="0" rIns="0" bIns="0" rtlCol="0" anchor="t"/>
          <a:lstStyle/>
          <a:p>
            <a:pPr marL="0" indent="0">
              <a:lnSpc>
                <a:spcPts val="2840"/>
              </a:lnSpc>
              <a:buNone/>
            </a:pPr>
            <a:r>
              <a:rPr lang="en-US" sz="2000" dirty="0">
                <a:solidFill>
                  <a:srgbClr val="FF8A66"/>
                </a:solidFill>
                <a:latin typeface="Consolas" pitchFamily="34" charset="0"/>
                <a:ea typeface="Consolas" pitchFamily="34" charset="-122"/>
                <a:cs typeface="Consolas" pitchFamily="34" charset="-120"/>
              </a:rPr>
              <a:t>String</a:t>
            </a:r>
            <a:r>
              <a:rPr lang="en-US" sz="2000" dirty="0">
                <a:solidFill>
                  <a:srgbClr val="E9E8E4"/>
                </a:solidFill>
                <a:latin typeface="Consolas" pitchFamily="34" charset="0"/>
                <a:ea typeface="Consolas" pitchFamily="34" charset="-122"/>
                <a:cs typeface="Consolas" pitchFamily="34" charset="-120"/>
              </a:rPr>
              <a:t> name;</a:t>
            </a:r>
            <a:endParaRPr lang="en-US" sz="2000" dirty="0"/>
          </a:p>
          <a:p>
            <a:pPr marL="0" indent="0">
              <a:lnSpc>
                <a:spcPts val="2840"/>
              </a:lnSpc>
              <a:buNone/>
            </a:pPr>
            <a:r>
              <a:rPr lang="en-US" sz="2000" dirty="0">
                <a:solidFill>
                  <a:srgbClr val="FF8A66"/>
                </a:solidFill>
                <a:latin typeface="Consolas" pitchFamily="34" charset="0"/>
                <a:ea typeface="Consolas" pitchFamily="34" charset="-122"/>
                <a:cs typeface="Consolas" pitchFamily="34" charset="-120"/>
              </a:rPr>
              <a:t>int</a:t>
            </a:r>
            <a:r>
              <a:rPr lang="en-US" sz="2000" dirty="0">
                <a:solidFill>
                  <a:srgbClr val="E9E8E4"/>
                </a:solidFill>
                <a:latin typeface="Consolas" pitchFamily="34" charset="0"/>
                <a:ea typeface="Consolas" pitchFamily="34" charset="-122"/>
                <a:cs typeface="Consolas" pitchFamily="34" charset="-120"/>
              </a:rPr>
              <a:t>    price;</a:t>
            </a:r>
            <a:endParaRPr lang="en-US" sz="2000" dirty="0"/>
          </a:p>
          <a:p>
            <a:pPr marL="0" indent="0">
              <a:lnSpc>
                <a:spcPts val="2840"/>
              </a:lnSpc>
              <a:buNone/>
            </a:pPr>
            <a:r>
              <a:rPr lang="en-US" sz="2000" dirty="0">
                <a:solidFill>
                  <a:srgbClr val="FF8A66"/>
                </a:solidFill>
                <a:latin typeface="Consolas" pitchFamily="34" charset="0"/>
                <a:ea typeface="Consolas" pitchFamily="34" charset="-122"/>
                <a:cs typeface="Consolas" pitchFamily="34" charset="-120"/>
              </a:rPr>
              <a:t>int</a:t>
            </a:r>
            <a:r>
              <a:rPr lang="en-US" sz="2000" dirty="0">
                <a:solidFill>
                  <a:srgbClr val="E9E8E4"/>
                </a:solidFill>
                <a:latin typeface="Consolas" pitchFamily="34" charset="0"/>
                <a:ea typeface="Consolas" pitchFamily="34" charset="-122"/>
                <a:cs typeface="Consolas" pitchFamily="34" charset="-120"/>
              </a:rPr>
              <a:t>    stock;</a:t>
            </a:r>
            <a:endParaRPr lang="en-US" sz="2000" dirty="0"/>
          </a:p>
        </p:txBody>
      </p:sp>
      <p:sp>
        <p:nvSpPr>
          <p:cNvPr id="8" name="Shape 6"/>
          <p:cNvSpPr/>
          <p:nvPr/>
        </p:nvSpPr>
        <p:spPr>
          <a:xfrm>
            <a:off x="5852160" y="2148840"/>
            <a:ext cx="5653735" cy="749808"/>
          </a:xfrm>
          <a:prstGeom prst="roundRect">
            <a:avLst>
              <a:gd name="adj" fmla="val 7317"/>
            </a:avLst>
          </a:prstGeom>
          <a:solidFill>
            <a:srgbClr val="F3F2F0"/>
          </a:solidFill>
          <a:ln w="12700">
            <a:solidFill>
              <a:srgbClr val="F3F2F0"/>
            </a:solidFill>
            <a:prstDash val="solid"/>
          </a:ln>
        </p:spPr>
      </p:sp>
      <p:sp>
        <p:nvSpPr>
          <p:cNvPr id="9" name="Text 7"/>
          <p:cNvSpPr txBox="1"/>
          <p:nvPr/>
        </p:nvSpPr>
        <p:spPr>
          <a:xfrm>
            <a:off x="6172200" y="2148840"/>
            <a:ext cx="1371600" cy="749808"/>
          </a:xfrm>
          <a:prstGeom prst="rect">
            <a:avLst/>
          </a:prstGeom>
          <a:noFill/>
          <a:ln/>
        </p:spPr>
        <p:txBody>
          <a:bodyPr wrap="square" lIns="0" tIns="0" rIns="0" bIns="0" rtlCol="0" anchor="ctr"/>
          <a:lstStyle/>
          <a:p>
            <a:pPr marL="0" indent="0">
              <a:buNone/>
            </a:pPr>
            <a:r>
              <a:rPr lang="en-US" sz="1700" b="1" dirty="0">
                <a:solidFill>
                  <a:srgbClr val="111214"/>
                </a:solidFill>
                <a:latin typeface="Consolas" pitchFamily="34" charset="0"/>
                <a:ea typeface="Consolas" pitchFamily="34" charset="-122"/>
                <a:cs typeface="Consolas" pitchFamily="34" charset="-120"/>
              </a:rPr>
              <a:t>name</a:t>
            </a:r>
            <a:endParaRPr lang="en-US" sz="1700" dirty="0"/>
          </a:p>
        </p:txBody>
      </p:sp>
      <p:sp>
        <p:nvSpPr>
          <p:cNvPr id="10" name="Shape 8"/>
          <p:cNvSpPr/>
          <p:nvPr/>
        </p:nvSpPr>
        <p:spPr>
          <a:xfrm>
            <a:off x="7635240" y="2523744"/>
            <a:ext cx="457200" cy="0"/>
          </a:xfrm>
          <a:prstGeom prst="line">
            <a:avLst/>
          </a:prstGeom>
          <a:noFill/>
          <a:ln w="22225">
            <a:solidFill>
              <a:srgbClr val="E8482B"/>
            </a:solidFill>
            <a:prstDash val="solid"/>
            <a:tailEnd type="triangle"/>
          </a:ln>
        </p:spPr>
      </p:sp>
      <p:sp>
        <p:nvSpPr>
          <p:cNvPr id="11" name="Text 9"/>
          <p:cNvSpPr txBox="1"/>
          <p:nvPr/>
        </p:nvSpPr>
        <p:spPr>
          <a:xfrm>
            <a:off x="8275320" y="2148840"/>
            <a:ext cx="1554480" cy="749808"/>
          </a:xfrm>
          <a:prstGeom prst="rect">
            <a:avLst/>
          </a:prstGeom>
          <a:noFill/>
          <a:ln/>
        </p:spPr>
        <p:txBody>
          <a:bodyPr wrap="square" lIns="0" tIns="0" rIns="0" bIns="0" rtlCol="0" anchor="ctr"/>
          <a:lstStyle/>
          <a:p>
            <a:pPr marL="0" indent="0">
              <a:buNone/>
            </a:pPr>
            <a:r>
              <a:rPr lang="en-US" sz="1500" dirty="0">
                <a:solidFill>
                  <a:srgbClr val="111214"/>
                </a:solidFill>
                <a:latin typeface="맑은 고딕" pitchFamily="34" charset="0"/>
                <a:ea typeface="맑은 고딕" pitchFamily="34" charset="-122"/>
                <a:cs typeface="맑은 고딕" pitchFamily="34" charset="-120"/>
              </a:rPr>
              <a:t>상품명</a:t>
            </a:r>
            <a:endParaRPr lang="en-US" sz="1500" dirty="0"/>
          </a:p>
        </p:txBody>
      </p:sp>
      <p:sp>
        <p:nvSpPr>
          <p:cNvPr id="12" name="Text 10"/>
          <p:cNvSpPr txBox="1"/>
          <p:nvPr/>
        </p:nvSpPr>
        <p:spPr>
          <a:xfrm>
            <a:off x="9829800" y="2148840"/>
            <a:ext cx="1356055" cy="749808"/>
          </a:xfrm>
          <a:prstGeom prst="rect">
            <a:avLst/>
          </a:prstGeom>
          <a:noFill/>
          <a:ln/>
        </p:spPr>
        <p:txBody>
          <a:bodyPr wrap="square" lIns="0" tIns="0" rIns="0" bIns="0" rtlCol="0" anchor="ctr"/>
          <a:lstStyle/>
          <a:p>
            <a:pPr marL="0" indent="0" algn="r">
              <a:buNone/>
            </a:pPr>
            <a:r>
              <a:rPr lang="en-US" sz="1400" dirty="0">
                <a:solidFill>
                  <a:srgbClr val="6E6E73"/>
                </a:solidFill>
                <a:latin typeface="Consolas" pitchFamily="34" charset="0"/>
                <a:ea typeface="Consolas" pitchFamily="34" charset="-122"/>
                <a:cs typeface="Consolas" pitchFamily="34" charset="-120"/>
              </a:rPr>
              <a:t>"ERL Hoodie"</a:t>
            </a:r>
            <a:endParaRPr lang="en-US" sz="1400" dirty="0"/>
          </a:p>
        </p:txBody>
      </p:sp>
      <p:sp>
        <p:nvSpPr>
          <p:cNvPr id="13" name="Shape 11"/>
          <p:cNvSpPr/>
          <p:nvPr/>
        </p:nvSpPr>
        <p:spPr>
          <a:xfrm>
            <a:off x="5852160" y="3063240"/>
            <a:ext cx="5653735" cy="749808"/>
          </a:xfrm>
          <a:prstGeom prst="roundRect">
            <a:avLst>
              <a:gd name="adj" fmla="val 7317"/>
            </a:avLst>
          </a:prstGeom>
          <a:solidFill>
            <a:srgbClr val="F3F2F0"/>
          </a:solidFill>
          <a:ln w="12700">
            <a:solidFill>
              <a:srgbClr val="F3F2F0"/>
            </a:solidFill>
            <a:prstDash val="solid"/>
          </a:ln>
        </p:spPr>
      </p:sp>
      <p:sp>
        <p:nvSpPr>
          <p:cNvPr id="14" name="Text 12"/>
          <p:cNvSpPr txBox="1"/>
          <p:nvPr/>
        </p:nvSpPr>
        <p:spPr>
          <a:xfrm>
            <a:off x="6172200" y="3063240"/>
            <a:ext cx="1371600" cy="749808"/>
          </a:xfrm>
          <a:prstGeom prst="rect">
            <a:avLst/>
          </a:prstGeom>
          <a:noFill/>
          <a:ln/>
        </p:spPr>
        <p:txBody>
          <a:bodyPr wrap="square" lIns="0" tIns="0" rIns="0" bIns="0" rtlCol="0" anchor="ctr"/>
          <a:lstStyle/>
          <a:p>
            <a:pPr marL="0" indent="0">
              <a:buNone/>
            </a:pPr>
            <a:r>
              <a:rPr lang="en-US" sz="1700" b="1" dirty="0">
                <a:solidFill>
                  <a:srgbClr val="111214"/>
                </a:solidFill>
                <a:latin typeface="Consolas" pitchFamily="34" charset="0"/>
                <a:ea typeface="Consolas" pitchFamily="34" charset="-122"/>
                <a:cs typeface="Consolas" pitchFamily="34" charset="-120"/>
              </a:rPr>
              <a:t>price</a:t>
            </a:r>
            <a:endParaRPr lang="en-US" sz="1700" dirty="0"/>
          </a:p>
        </p:txBody>
      </p:sp>
      <p:sp>
        <p:nvSpPr>
          <p:cNvPr id="15" name="Shape 13"/>
          <p:cNvSpPr/>
          <p:nvPr/>
        </p:nvSpPr>
        <p:spPr>
          <a:xfrm>
            <a:off x="7635240" y="3438144"/>
            <a:ext cx="457200" cy="0"/>
          </a:xfrm>
          <a:prstGeom prst="line">
            <a:avLst/>
          </a:prstGeom>
          <a:noFill/>
          <a:ln w="22225">
            <a:solidFill>
              <a:srgbClr val="E8482B"/>
            </a:solidFill>
            <a:prstDash val="solid"/>
            <a:tailEnd type="triangle"/>
          </a:ln>
        </p:spPr>
      </p:sp>
      <p:sp>
        <p:nvSpPr>
          <p:cNvPr id="16" name="Text 14"/>
          <p:cNvSpPr txBox="1"/>
          <p:nvPr/>
        </p:nvSpPr>
        <p:spPr>
          <a:xfrm>
            <a:off x="8275320" y="3063240"/>
            <a:ext cx="1554480" cy="749808"/>
          </a:xfrm>
          <a:prstGeom prst="rect">
            <a:avLst/>
          </a:prstGeom>
          <a:noFill/>
          <a:ln/>
        </p:spPr>
        <p:txBody>
          <a:bodyPr wrap="square" lIns="0" tIns="0" rIns="0" bIns="0" rtlCol="0" anchor="ctr"/>
          <a:lstStyle/>
          <a:p>
            <a:pPr marL="0" indent="0">
              <a:buNone/>
            </a:pPr>
            <a:r>
              <a:rPr lang="en-US" sz="1500" dirty="0">
                <a:solidFill>
                  <a:srgbClr val="111214"/>
                </a:solidFill>
                <a:latin typeface="맑은 고딕" pitchFamily="34" charset="0"/>
                <a:ea typeface="맑은 고딕" pitchFamily="34" charset="-122"/>
                <a:cs typeface="맑은 고딕" pitchFamily="34" charset="-120"/>
              </a:rPr>
              <a:t>가격</a:t>
            </a:r>
            <a:endParaRPr lang="en-US" sz="1500" dirty="0"/>
          </a:p>
        </p:txBody>
      </p:sp>
      <p:sp>
        <p:nvSpPr>
          <p:cNvPr id="17" name="Text 15"/>
          <p:cNvSpPr txBox="1"/>
          <p:nvPr/>
        </p:nvSpPr>
        <p:spPr>
          <a:xfrm>
            <a:off x="9829800" y="3063240"/>
            <a:ext cx="1356055" cy="749808"/>
          </a:xfrm>
          <a:prstGeom prst="rect">
            <a:avLst/>
          </a:prstGeom>
          <a:noFill/>
          <a:ln/>
        </p:spPr>
        <p:txBody>
          <a:bodyPr wrap="square" lIns="0" tIns="0" rIns="0" bIns="0" rtlCol="0" anchor="ctr"/>
          <a:lstStyle/>
          <a:p>
            <a:pPr marL="0" indent="0" algn="r">
              <a:buNone/>
            </a:pPr>
            <a:r>
              <a:rPr lang="en-US" sz="1400" dirty="0">
                <a:solidFill>
                  <a:srgbClr val="6E6E73"/>
                </a:solidFill>
                <a:latin typeface="Consolas" pitchFamily="34" charset="0"/>
                <a:ea typeface="Consolas" pitchFamily="34" charset="-122"/>
                <a:cs typeface="Consolas" pitchFamily="34" charset="-120"/>
              </a:rPr>
              <a:t>450000</a:t>
            </a:r>
            <a:endParaRPr lang="en-US" sz="1400" dirty="0"/>
          </a:p>
        </p:txBody>
      </p:sp>
      <p:sp>
        <p:nvSpPr>
          <p:cNvPr id="18" name="Shape 16"/>
          <p:cNvSpPr/>
          <p:nvPr/>
        </p:nvSpPr>
        <p:spPr>
          <a:xfrm>
            <a:off x="5852160" y="3977640"/>
            <a:ext cx="5653735" cy="749808"/>
          </a:xfrm>
          <a:prstGeom prst="roundRect">
            <a:avLst>
              <a:gd name="adj" fmla="val 7317"/>
            </a:avLst>
          </a:prstGeom>
          <a:solidFill>
            <a:srgbClr val="F3F2F0"/>
          </a:solidFill>
          <a:ln w="12700">
            <a:solidFill>
              <a:srgbClr val="F3F2F0"/>
            </a:solidFill>
            <a:prstDash val="solid"/>
          </a:ln>
        </p:spPr>
      </p:sp>
      <p:sp>
        <p:nvSpPr>
          <p:cNvPr id="19" name="Text 17"/>
          <p:cNvSpPr txBox="1"/>
          <p:nvPr/>
        </p:nvSpPr>
        <p:spPr>
          <a:xfrm>
            <a:off x="6172200" y="3977640"/>
            <a:ext cx="1371600" cy="749808"/>
          </a:xfrm>
          <a:prstGeom prst="rect">
            <a:avLst/>
          </a:prstGeom>
          <a:noFill/>
          <a:ln/>
        </p:spPr>
        <p:txBody>
          <a:bodyPr wrap="square" lIns="0" tIns="0" rIns="0" bIns="0" rtlCol="0" anchor="ctr"/>
          <a:lstStyle/>
          <a:p>
            <a:pPr marL="0" indent="0">
              <a:buNone/>
            </a:pPr>
            <a:r>
              <a:rPr lang="en-US" sz="1700" b="1" dirty="0">
                <a:solidFill>
                  <a:srgbClr val="111214"/>
                </a:solidFill>
                <a:latin typeface="Consolas" pitchFamily="34" charset="0"/>
                <a:ea typeface="Consolas" pitchFamily="34" charset="-122"/>
                <a:cs typeface="Consolas" pitchFamily="34" charset="-120"/>
              </a:rPr>
              <a:t>stock</a:t>
            </a:r>
            <a:endParaRPr lang="en-US" sz="1700" dirty="0"/>
          </a:p>
        </p:txBody>
      </p:sp>
      <p:sp>
        <p:nvSpPr>
          <p:cNvPr id="20" name="Shape 18"/>
          <p:cNvSpPr/>
          <p:nvPr/>
        </p:nvSpPr>
        <p:spPr>
          <a:xfrm>
            <a:off x="7635240" y="4352544"/>
            <a:ext cx="457200" cy="0"/>
          </a:xfrm>
          <a:prstGeom prst="line">
            <a:avLst/>
          </a:prstGeom>
          <a:noFill/>
          <a:ln w="22225">
            <a:solidFill>
              <a:srgbClr val="E8482B"/>
            </a:solidFill>
            <a:prstDash val="solid"/>
            <a:tailEnd type="triangle"/>
          </a:ln>
        </p:spPr>
      </p:sp>
      <p:sp>
        <p:nvSpPr>
          <p:cNvPr id="21" name="Text 19"/>
          <p:cNvSpPr txBox="1"/>
          <p:nvPr/>
        </p:nvSpPr>
        <p:spPr>
          <a:xfrm>
            <a:off x="8275320" y="3977640"/>
            <a:ext cx="1554480" cy="749808"/>
          </a:xfrm>
          <a:prstGeom prst="rect">
            <a:avLst/>
          </a:prstGeom>
          <a:noFill/>
          <a:ln/>
        </p:spPr>
        <p:txBody>
          <a:bodyPr wrap="square" lIns="0" tIns="0" rIns="0" bIns="0" rtlCol="0" anchor="ctr"/>
          <a:lstStyle/>
          <a:p>
            <a:pPr marL="0" indent="0">
              <a:buNone/>
            </a:pPr>
            <a:r>
              <a:rPr lang="en-US" sz="1500" dirty="0">
                <a:solidFill>
                  <a:srgbClr val="111214"/>
                </a:solidFill>
                <a:latin typeface="맑은 고딕" pitchFamily="34" charset="0"/>
                <a:ea typeface="맑은 고딕" pitchFamily="34" charset="-122"/>
                <a:cs typeface="맑은 고딕" pitchFamily="34" charset="-120"/>
              </a:rPr>
              <a:t>재고 수량</a:t>
            </a:r>
            <a:endParaRPr lang="en-US" sz="1500" dirty="0"/>
          </a:p>
        </p:txBody>
      </p:sp>
      <p:sp>
        <p:nvSpPr>
          <p:cNvPr id="22" name="Text 20"/>
          <p:cNvSpPr txBox="1"/>
          <p:nvPr/>
        </p:nvSpPr>
        <p:spPr>
          <a:xfrm>
            <a:off x="9829800" y="3977640"/>
            <a:ext cx="1356055" cy="749808"/>
          </a:xfrm>
          <a:prstGeom prst="rect">
            <a:avLst/>
          </a:prstGeom>
          <a:noFill/>
          <a:ln/>
        </p:spPr>
        <p:txBody>
          <a:bodyPr wrap="square" lIns="0" tIns="0" rIns="0" bIns="0" rtlCol="0" anchor="ctr"/>
          <a:lstStyle/>
          <a:p>
            <a:pPr marL="0" indent="0" algn="r">
              <a:buNone/>
            </a:pPr>
            <a:r>
              <a:rPr lang="en-US" sz="1400" dirty="0">
                <a:solidFill>
                  <a:srgbClr val="6E6E73"/>
                </a:solidFill>
                <a:latin typeface="Consolas" pitchFamily="34" charset="0"/>
                <a:ea typeface="Consolas" pitchFamily="34" charset="-122"/>
                <a:cs typeface="Consolas" pitchFamily="34" charset="-120"/>
              </a:rPr>
              <a:t>3</a:t>
            </a:r>
            <a:endParaRPr lang="en-US" sz="1400" dirty="0"/>
          </a:p>
        </p:txBody>
      </p:sp>
      <p:sp>
        <p:nvSpPr>
          <p:cNvPr id="23" name="Shape 21"/>
          <p:cNvSpPr/>
          <p:nvPr/>
        </p:nvSpPr>
        <p:spPr>
          <a:xfrm>
            <a:off x="685800" y="5029200"/>
            <a:ext cx="10820095" cy="731520"/>
          </a:xfrm>
          <a:prstGeom prst="roundRect">
            <a:avLst>
              <a:gd name="adj" fmla="val 7500"/>
            </a:avLst>
          </a:prstGeom>
          <a:solidFill>
            <a:srgbClr val="FBE7E2"/>
          </a:solidFill>
          <a:ln w="12700">
            <a:solidFill>
              <a:srgbClr val="FBE7E2"/>
            </a:solidFill>
            <a:prstDash val="solid"/>
          </a:ln>
        </p:spPr>
      </p:sp>
      <p:sp>
        <p:nvSpPr>
          <p:cNvPr id="24" name="Text 22"/>
          <p:cNvSpPr txBox="1"/>
          <p:nvPr/>
        </p:nvSpPr>
        <p:spPr>
          <a:xfrm>
            <a:off x="685800" y="5029200"/>
            <a:ext cx="10820095" cy="731520"/>
          </a:xfrm>
          <a:prstGeom prst="rect">
            <a:avLst/>
          </a:prstGeom>
          <a:noFill/>
          <a:ln/>
        </p:spPr>
        <p:txBody>
          <a:bodyPr wrap="square" lIns="0" tIns="0" rIns="0" bIns="0" rtlCol="0" anchor="ctr"/>
          <a:lstStyle/>
          <a:p>
            <a:pPr marL="0" indent="0" algn="ctr">
              <a:buNone/>
            </a:pPr>
            <a:r>
              <a:rPr lang="en-US" sz="1500" b="1" dirty="0">
                <a:solidFill>
                  <a:srgbClr val="A6301A"/>
                </a:solidFill>
                <a:latin typeface="맑은 고딕" pitchFamily="34" charset="0"/>
                <a:ea typeface="맑은 고딕" pitchFamily="34" charset="-122"/>
                <a:cs typeface="맑은 고딕" pitchFamily="34" charset="-120"/>
              </a:rPr>
              <a:t>필드 값이 달라지면 → 같은 클래스로 만든 다른 상품이 된다</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85800" y="384048"/>
            <a:ext cx="1554480" cy="292608"/>
          </a:xfrm>
          <a:prstGeom prst="roundRect">
            <a:avLst>
              <a:gd name="adj" fmla="val 50000"/>
            </a:avLst>
          </a:prstGeom>
          <a:solidFill>
            <a:srgbClr val="FBE7E2"/>
          </a:solidFill>
          <a:ln w="12700">
            <a:solidFill>
              <a:srgbClr val="FBE7E2"/>
            </a:solidFill>
            <a:prstDash val="solid"/>
          </a:ln>
        </p:spPr>
      </p:sp>
      <p:sp>
        <p:nvSpPr>
          <p:cNvPr id="3" name="Text 1"/>
          <p:cNvSpPr txBox="1"/>
          <p:nvPr/>
        </p:nvSpPr>
        <p:spPr>
          <a:xfrm>
            <a:off x="685800" y="384048"/>
            <a:ext cx="1554480" cy="292608"/>
          </a:xfrm>
          <a:prstGeom prst="rect">
            <a:avLst/>
          </a:prstGeom>
          <a:noFill/>
          <a:ln/>
        </p:spPr>
        <p:txBody>
          <a:bodyPr wrap="square" lIns="0" tIns="0" rIns="0" bIns="0" rtlCol="0" anchor="ctr"/>
          <a:lstStyle/>
          <a:p>
            <a:pPr marL="0" indent="0" algn="ctr">
              <a:buNone/>
            </a:pPr>
            <a:r>
              <a:rPr lang="en-US" sz="1100" b="1" dirty="0">
                <a:solidFill>
                  <a:srgbClr val="E8482B"/>
                </a:solidFill>
                <a:latin typeface="맑은 고딕" pitchFamily="34" charset="0"/>
                <a:ea typeface="맑은 고딕" pitchFamily="34" charset="-122"/>
                <a:cs typeface="맑은 고딕" pitchFamily="34" charset="-120"/>
              </a:rPr>
              <a:t>클래스 vs 객체</a:t>
            </a:r>
            <a:endParaRPr lang="en-US" sz="1100" dirty="0"/>
          </a:p>
        </p:txBody>
      </p:sp>
      <p:sp>
        <p:nvSpPr>
          <p:cNvPr id="4" name="Text 2"/>
          <p:cNvSpPr txBox="1"/>
          <p:nvPr/>
        </p:nvSpPr>
        <p:spPr>
          <a:xfrm>
            <a:off x="685800" y="713232"/>
            <a:ext cx="10820095" cy="603504"/>
          </a:xfrm>
          <a:prstGeom prst="rect">
            <a:avLst/>
          </a:prstGeom>
          <a:noFill/>
          <a:ln/>
        </p:spPr>
        <p:txBody>
          <a:bodyPr wrap="square" lIns="0" tIns="0" rIns="0" bIns="0" rtlCol="0" anchor="ctr"/>
          <a:lstStyle/>
          <a:p>
            <a:pPr marL="0" indent="0">
              <a:buNone/>
            </a:pPr>
            <a:r>
              <a:rPr lang="en-US" sz="3400" b="1" dirty="0">
                <a:solidFill>
                  <a:srgbClr val="111214"/>
                </a:solidFill>
                <a:latin typeface="맑은 고딕" pitchFamily="34" charset="0"/>
                <a:ea typeface="맑은 고딕" pitchFamily="34" charset="-122"/>
                <a:cs typeface="맑은 고딕" pitchFamily="34" charset="-120"/>
              </a:rPr>
              <a:t>클래스와 객체는 다르다</a:t>
            </a:r>
            <a:endParaRPr lang="en-US" sz="3400" dirty="0"/>
          </a:p>
        </p:txBody>
      </p:sp>
      <p:sp>
        <p:nvSpPr>
          <p:cNvPr id="5" name="Text 3"/>
          <p:cNvSpPr txBox="1"/>
          <p:nvPr/>
        </p:nvSpPr>
        <p:spPr>
          <a:xfrm>
            <a:off x="685800" y="1316736"/>
            <a:ext cx="10820095" cy="310896"/>
          </a:xfrm>
          <a:prstGeom prst="rect">
            <a:avLst/>
          </a:prstGeom>
          <a:noFill/>
          <a:ln/>
        </p:spPr>
        <p:txBody>
          <a:bodyPr wrap="square" lIns="0" tIns="0" rIns="0" bIns="0" rtlCol="0" anchor="ctr"/>
          <a:lstStyle/>
          <a:p>
            <a:pPr marL="0" indent="0">
              <a:buNone/>
            </a:pPr>
            <a:r>
              <a:rPr lang="en-US" sz="1400" dirty="0">
                <a:solidFill>
                  <a:srgbClr val="6E6E73"/>
                </a:solidFill>
                <a:latin typeface="맑은 고딕" pitchFamily="34" charset="0"/>
                <a:ea typeface="맑은 고딕" pitchFamily="34" charset="-122"/>
                <a:cs typeface="맑은 고딕" pitchFamily="34" charset="-120"/>
              </a:rPr>
              <a:t>정의는 하나, 실체는 여러 개</a:t>
            </a:r>
            <a:endParaRPr lang="en-US" sz="1400" dirty="0"/>
          </a:p>
        </p:txBody>
      </p:sp>
      <p:sp>
        <p:nvSpPr>
          <p:cNvPr id="6" name="Shape 4"/>
          <p:cNvSpPr/>
          <p:nvPr/>
        </p:nvSpPr>
        <p:spPr>
          <a:xfrm>
            <a:off x="4480560" y="2148840"/>
            <a:ext cx="3291840" cy="914400"/>
          </a:xfrm>
          <a:prstGeom prst="roundRect">
            <a:avLst>
              <a:gd name="adj" fmla="val 6000"/>
            </a:avLst>
          </a:prstGeom>
          <a:solidFill>
            <a:srgbClr val="111214"/>
          </a:solidFill>
          <a:ln w="12700">
            <a:solidFill>
              <a:srgbClr val="111214"/>
            </a:solidFill>
            <a:prstDash val="solid"/>
          </a:ln>
        </p:spPr>
      </p:sp>
      <p:sp>
        <p:nvSpPr>
          <p:cNvPr id="7" name="Text 5"/>
          <p:cNvSpPr txBox="1"/>
          <p:nvPr/>
        </p:nvSpPr>
        <p:spPr>
          <a:xfrm>
            <a:off x="4480560" y="2286000"/>
            <a:ext cx="3291840" cy="320040"/>
          </a:xfrm>
          <a:prstGeom prst="rect">
            <a:avLst/>
          </a:prstGeom>
          <a:noFill/>
          <a:ln/>
        </p:spPr>
        <p:txBody>
          <a:bodyPr wrap="square" lIns="0" tIns="0" rIns="0" bIns="0" rtlCol="0" anchor="ctr"/>
          <a:lstStyle/>
          <a:p>
            <a:pPr marL="0" indent="0" algn="ctr">
              <a:buNone/>
            </a:pPr>
            <a:r>
              <a:rPr lang="en-US" sz="1800" b="1" dirty="0">
                <a:solidFill>
                  <a:srgbClr val="FFFFFF"/>
                </a:solidFill>
                <a:latin typeface="맑은 고딕" pitchFamily="34" charset="0"/>
                <a:ea typeface="맑은 고딕" pitchFamily="34" charset="-122"/>
                <a:cs typeface="맑은 고딕" pitchFamily="34" charset="-120"/>
              </a:rPr>
              <a:t>Product 클래스</a:t>
            </a:r>
            <a:endParaRPr lang="en-US" sz="1800" dirty="0"/>
          </a:p>
        </p:txBody>
      </p:sp>
      <p:sp>
        <p:nvSpPr>
          <p:cNvPr id="8" name="Text 6"/>
          <p:cNvSpPr txBox="1"/>
          <p:nvPr/>
        </p:nvSpPr>
        <p:spPr>
          <a:xfrm>
            <a:off x="4480560" y="2651760"/>
            <a:ext cx="3291840" cy="256032"/>
          </a:xfrm>
          <a:prstGeom prst="rect">
            <a:avLst/>
          </a:prstGeom>
          <a:noFill/>
          <a:ln/>
        </p:spPr>
        <p:txBody>
          <a:bodyPr wrap="square" lIns="0" tIns="0" rIns="0" bIns="0" rtlCol="0" anchor="ctr"/>
          <a:lstStyle/>
          <a:p>
            <a:pPr marL="0" indent="0" algn="ctr">
              <a:buNone/>
            </a:pPr>
            <a:r>
              <a:rPr lang="en-US" sz="1200" dirty="0">
                <a:solidFill>
                  <a:srgbClr val="8E8E96"/>
                </a:solidFill>
                <a:latin typeface="맑은 고딕" pitchFamily="34" charset="0"/>
                <a:ea typeface="맑은 고딕" pitchFamily="34" charset="-122"/>
                <a:cs typeface="맑은 고딕" pitchFamily="34" charset="-120"/>
              </a:rPr>
              <a:t>상품 설계도 (정의)</a:t>
            </a:r>
            <a:endParaRPr lang="en-US" sz="1200" dirty="0"/>
          </a:p>
        </p:txBody>
      </p:sp>
      <p:sp>
        <p:nvSpPr>
          <p:cNvPr id="9" name="Shape 7"/>
          <p:cNvSpPr/>
          <p:nvPr/>
        </p:nvSpPr>
        <p:spPr>
          <a:xfrm>
            <a:off x="5394960" y="3127248"/>
            <a:ext cx="0" cy="777240"/>
          </a:xfrm>
          <a:prstGeom prst="line">
            <a:avLst/>
          </a:prstGeom>
          <a:noFill/>
          <a:ln w="22225">
            <a:solidFill>
              <a:srgbClr val="E8482B"/>
            </a:solidFill>
            <a:prstDash val="solid"/>
            <a:tailEnd type="triangle"/>
          </a:ln>
        </p:spPr>
      </p:sp>
      <p:sp>
        <p:nvSpPr>
          <p:cNvPr id="10" name="Shape 8"/>
          <p:cNvSpPr/>
          <p:nvPr/>
        </p:nvSpPr>
        <p:spPr>
          <a:xfrm>
            <a:off x="6858000" y="3127248"/>
            <a:ext cx="1325880" cy="777240"/>
          </a:xfrm>
          <a:prstGeom prst="line">
            <a:avLst/>
          </a:prstGeom>
          <a:noFill/>
          <a:ln w="22225">
            <a:solidFill>
              <a:srgbClr val="E8482B"/>
            </a:solidFill>
            <a:prstDash val="solid"/>
            <a:tailEnd type="triangle"/>
          </a:ln>
        </p:spPr>
      </p:sp>
      <p:sp>
        <p:nvSpPr>
          <p:cNvPr id="11" name="Shape 9"/>
          <p:cNvSpPr/>
          <p:nvPr/>
        </p:nvSpPr>
        <p:spPr>
          <a:xfrm>
            <a:off x="1417320" y="3977640"/>
            <a:ext cx="3657600" cy="1600200"/>
          </a:xfrm>
          <a:prstGeom prst="roundRect">
            <a:avLst>
              <a:gd name="adj" fmla="val 3429"/>
            </a:avLst>
          </a:prstGeom>
          <a:solidFill>
            <a:srgbClr val="FFFFFF"/>
          </a:solidFill>
          <a:ln w="12700">
            <a:solidFill>
              <a:srgbClr val="E8482B"/>
            </a:solidFill>
            <a:prstDash val="solid"/>
          </a:ln>
        </p:spPr>
      </p:sp>
      <p:sp>
        <p:nvSpPr>
          <p:cNvPr id="12" name="Text 10"/>
          <p:cNvSpPr txBox="1"/>
          <p:nvPr/>
        </p:nvSpPr>
        <p:spPr>
          <a:xfrm>
            <a:off x="1737360" y="4160520"/>
            <a:ext cx="3017520" cy="292608"/>
          </a:xfrm>
          <a:prstGeom prst="rect">
            <a:avLst/>
          </a:prstGeom>
          <a:noFill/>
          <a:ln/>
        </p:spPr>
        <p:txBody>
          <a:bodyPr wrap="square" lIns="0" tIns="0" rIns="0" bIns="0" rtlCol="0" anchor="ctr"/>
          <a:lstStyle/>
          <a:p>
            <a:pPr marL="0" indent="0">
              <a:buNone/>
            </a:pPr>
            <a:r>
              <a:rPr lang="en-US" sz="1500" b="1" dirty="0">
                <a:solidFill>
                  <a:srgbClr val="E8482B"/>
                </a:solidFill>
                <a:latin typeface="맑은 고딕" pitchFamily="34" charset="0"/>
                <a:ea typeface="맑은 고딕" pitchFamily="34" charset="-122"/>
                <a:cs typeface="맑은 고딕" pitchFamily="34" charset="-120"/>
              </a:rPr>
              <a:t>ERL Hoodie 객체</a:t>
            </a:r>
            <a:endParaRPr lang="en-US" sz="1500" dirty="0"/>
          </a:p>
        </p:txBody>
      </p:sp>
      <p:sp>
        <p:nvSpPr>
          <p:cNvPr id="13" name="Text 11"/>
          <p:cNvSpPr txBox="1"/>
          <p:nvPr/>
        </p:nvSpPr>
        <p:spPr>
          <a:xfrm>
            <a:off x="1737360" y="4526280"/>
            <a:ext cx="3017520" cy="868680"/>
          </a:xfrm>
          <a:prstGeom prst="rect">
            <a:avLst/>
          </a:prstGeom>
          <a:noFill/>
          <a:ln/>
        </p:spPr>
        <p:txBody>
          <a:bodyPr wrap="square" lIns="0" tIns="0" rIns="0" bIns="0" rtlCol="0" anchor="ctr"/>
          <a:lstStyle/>
          <a:p>
            <a:pPr marL="0" indent="0">
              <a:lnSpc>
                <a:spcPts val="1700"/>
              </a:lnSpc>
              <a:buNone/>
            </a:pPr>
            <a:r>
              <a:rPr lang="en-US" sz="1250" dirty="0">
                <a:solidFill>
                  <a:srgbClr val="3A3A3E"/>
                </a:solidFill>
                <a:latin typeface="Consolas" pitchFamily="34" charset="0"/>
                <a:ea typeface="Consolas" pitchFamily="34" charset="-122"/>
                <a:cs typeface="Consolas" pitchFamily="34" charset="-120"/>
              </a:rPr>
              <a:t>name = "ERL Hoodie"</a:t>
            </a:r>
            <a:endParaRPr lang="en-US" sz="1250" dirty="0"/>
          </a:p>
          <a:p>
            <a:pPr marL="0" indent="0">
              <a:lnSpc>
                <a:spcPts val="1700"/>
              </a:lnSpc>
              <a:buNone/>
            </a:pPr>
            <a:r>
              <a:rPr lang="en-US" sz="1250" dirty="0">
                <a:solidFill>
                  <a:srgbClr val="3A3A3E"/>
                </a:solidFill>
                <a:latin typeface="Consolas" pitchFamily="34" charset="0"/>
                <a:ea typeface="Consolas" pitchFamily="34" charset="-122"/>
                <a:cs typeface="Consolas" pitchFamily="34" charset="-120"/>
              </a:rPr>
              <a:t>price = 450000</a:t>
            </a:r>
            <a:endParaRPr lang="en-US" sz="1250" dirty="0"/>
          </a:p>
          <a:p>
            <a:pPr marL="0" indent="0">
              <a:lnSpc>
                <a:spcPts val="1700"/>
              </a:lnSpc>
              <a:buNone/>
            </a:pPr>
            <a:r>
              <a:rPr lang="en-US" sz="1250" dirty="0">
                <a:solidFill>
                  <a:srgbClr val="3A3A3E"/>
                </a:solidFill>
                <a:latin typeface="Consolas" pitchFamily="34" charset="0"/>
                <a:ea typeface="Consolas" pitchFamily="34" charset="-122"/>
                <a:cs typeface="Consolas" pitchFamily="34" charset="-120"/>
              </a:rPr>
              <a:t>stock = 3</a:t>
            </a:r>
            <a:endParaRPr lang="en-US" sz="1250" dirty="0"/>
          </a:p>
        </p:txBody>
      </p:sp>
      <p:sp>
        <p:nvSpPr>
          <p:cNvPr id="14" name="Shape 12"/>
          <p:cNvSpPr/>
          <p:nvPr/>
        </p:nvSpPr>
        <p:spPr>
          <a:xfrm>
            <a:off x="7086600" y="3977640"/>
            <a:ext cx="3657600" cy="1600200"/>
          </a:xfrm>
          <a:prstGeom prst="roundRect">
            <a:avLst>
              <a:gd name="adj" fmla="val 3429"/>
            </a:avLst>
          </a:prstGeom>
          <a:solidFill>
            <a:srgbClr val="FFFFFF"/>
          </a:solidFill>
          <a:ln w="12700">
            <a:solidFill>
              <a:srgbClr val="E8482B"/>
            </a:solidFill>
            <a:prstDash val="solid"/>
          </a:ln>
        </p:spPr>
      </p:sp>
      <p:sp>
        <p:nvSpPr>
          <p:cNvPr id="15" name="Text 13"/>
          <p:cNvSpPr txBox="1"/>
          <p:nvPr/>
        </p:nvSpPr>
        <p:spPr>
          <a:xfrm>
            <a:off x="7406640" y="4160520"/>
            <a:ext cx="3017520" cy="292608"/>
          </a:xfrm>
          <a:prstGeom prst="rect">
            <a:avLst/>
          </a:prstGeom>
          <a:noFill/>
          <a:ln/>
        </p:spPr>
        <p:txBody>
          <a:bodyPr wrap="square" lIns="0" tIns="0" rIns="0" bIns="0" rtlCol="0" anchor="ctr"/>
          <a:lstStyle/>
          <a:p>
            <a:pPr marL="0" indent="0">
              <a:buNone/>
            </a:pPr>
            <a:r>
              <a:rPr lang="en-US" sz="1500" b="1" dirty="0">
                <a:solidFill>
                  <a:srgbClr val="E8482B"/>
                </a:solidFill>
                <a:latin typeface="맑은 고딕" pitchFamily="34" charset="0"/>
                <a:ea typeface="맑은 고딕" pitchFamily="34" charset="-122"/>
                <a:cs typeface="맑은 고딕" pitchFamily="34" charset="-120"/>
              </a:rPr>
              <a:t>Diesel Jeans 객체</a:t>
            </a:r>
            <a:endParaRPr lang="en-US" sz="1500" dirty="0"/>
          </a:p>
        </p:txBody>
      </p:sp>
      <p:sp>
        <p:nvSpPr>
          <p:cNvPr id="16" name="Text 14"/>
          <p:cNvSpPr txBox="1"/>
          <p:nvPr/>
        </p:nvSpPr>
        <p:spPr>
          <a:xfrm>
            <a:off x="7406640" y="4526280"/>
            <a:ext cx="3017520" cy="868680"/>
          </a:xfrm>
          <a:prstGeom prst="rect">
            <a:avLst/>
          </a:prstGeom>
          <a:noFill/>
          <a:ln/>
        </p:spPr>
        <p:txBody>
          <a:bodyPr wrap="square" lIns="0" tIns="0" rIns="0" bIns="0" rtlCol="0" anchor="ctr"/>
          <a:lstStyle/>
          <a:p>
            <a:pPr marL="0" indent="0">
              <a:lnSpc>
                <a:spcPts val="1700"/>
              </a:lnSpc>
              <a:buNone/>
            </a:pPr>
            <a:r>
              <a:rPr lang="en-US" sz="1250" dirty="0">
                <a:solidFill>
                  <a:srgbClr val="3A3A3E"/>
                </a:solidFill>
                <a:latin typeface="Consolas" pitchFamily="34" charset="0"/>
                <a:ea typeface="Consolas" pitchFamily="34" charset="-122"/>
                <a:cs typeface="Consolas" pitchFamily="34" charset="-120"/>
              </a:rPr>
              <a:t>name = "Diesel Jeans"</a:t>
            </a:r>
            <a:endParaRPr lang="en-US" sz="1250" dirty="0"/>
          </a:p>
          <a:p>
            <a:pPr marL="0" indent="0">
              <a:lnSpc>
                <a:spcPts val="1700"/>
              </a:lnSpc>
              <a:buNone/>
            </a:pPr>
            <a:r>
              <a:rPr lang="en-US" sz="1250" dirty="0">
                <a:solidFill>
                  <a:srgbClr val="3A3A3E"/>
                </a:solidFill>
                <a:latin typeface="Consolas" pitchFamily="34" charset="0"/>
                <a:ea typeface="Consolas" pitchFamily="34" charset="-122"/>
                <a:cs typeface="Consolas" pitchFamily="34" charset="-120"/>
              </a:rPr>
              <a:t>price = 390000</a:t>
            </a:r>
            <a:endParaRPr lang="en-US" sz="1250" dirty="0"/>
          </a:p>
          <a:p>
            <a:pPr marL="0" indent="0">
              <a:lnSpc>
                <a:spcPts val="1700"/>
              </a:lnSpc>
              <a:buNone/>
            </a:pPr>
            <a:r>
              <a:rPr lang="en-US" sz="1250" dirty="0">
                <a:solidFill>
                  <a:srgbClr val="3A3A3E"/>
                </a:solidFill>
                <a:latin typeface="Consolas" pitchFamily="34" charset="0"/>
                <a:ea typeface="Consolas" pitchFamily="34" charset="-122"/>
                <a:cs typeface="Consolas" pitchFamily="34" charset="-120"/>
              </a:rPr>
              <a:t>stock = 5</a:t>
            </a:r>
            <a:endParaRPr lang="en-US" sz="1250" dirty="0"/>
          </a:p>
        </p:txBody>
      </p:sp>
      <p:sp>
        <p:nvSpPr>
          <p:cNvPr id="17" name="Text 15"/>
          <p:cNvSpPr txBox="1"/>
          <p:nvPr/>
        </p:nvSpPr>
        <p:spPr>
          <a:xfrm>
            <a:off x="685800" y="5897880"/>
            <a:ext cx="10820095" cy="320040"/>
          </a:xfrm>
          <a:prstGeom prst="rect">
            <a:avLst/>
          </a:prstGeom>
          <a:noFill/>
          <a:ln/>
        </p:spPr>
        <p:txBody>
          <a:bodyPr wrap="square" lIns="0" tIns="0" rIns="0" bIns="0" rtlCol="0" anchor="ctr"/>
          <a:lstStyle/>
          <a:p>
            <a:pPr marL="0" indent="0" algn="ctr">
              <a:buNone/>
            </a:pPr>
            <a:r>
              <a:rPr lang="en-US" sz="1300" dirty="0">
                <a:solidFill>
                  <a:srgbClr val="6E6E73"/>
                </a:solidFill>
                <a:latin typeface="맑은 고딕" pitchFamily="34" charset="0"/>
                <a:ea typeface="맑은 고딕" pitchFamily="34" charset="-122"/>
                <a:cs typeface="맑은 고딕" pitchFamily="34" charset="-120"/>
              </a:rPr>
              <a:t>클래스 = 어떤 데이터와 기능을 가질지 정의한 것    ·    객체 = 그 정의로 실제 만들어진 실체</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85800" y="384048"/>
            <a:ext cx="1234440" cy="292608"/>
          </a:xfrm>
          <a:prstGeom prst="roundRect">
            <a:avLst>
              <a:gd name="adj" fmla="val 50000"/>
            </a:avLst>
          </a:prstGeom>
          <a:solidFill>
            <a:srgbClr val="FBE7E2"/>
          </a:solidFill>
          <a:ln w="12700">
            <a:solidFill>
              <a:srgbClr val="FBE7E2"/>
            </a:solidFill>
            <a:prstDash val="solid"/>
          </a:ln>
        </p:spPr>
      </p:sp>
      <p:sp>
        <p:nvSpPr>
          <p:cNvPr id="3" name="Text 1"/>
          <p:cNvSpPr txBox="1"/>
          <p:nvPr/>
        </p:nvSpPr>
        <p:spPr>
          <a:xfrm>
            <a:off x="685800" y="384048"/>
            <a:ext cx="1234440" cy="292608"/>
          </a:xfrm>
          <a:prstGeom prst="rect">
            <a:avLst/>
          </a:prstGeom>
          <a:noFill/>
          <a:ln/>
        </p:spPr>
        <p:txBody>
          <a:bodyPr wrap="square" lIns="0" tIns="0" rIns="0" bIns="0" rtlCol="0" anchor="ctr"/>
          <a:lstStyle/>
          <a:p>
            <a:pPr marL="0" indent="0" algn="ctr">
              <a:buNone/>
            </a:pPr>
            <a:r>
              <a:rPr lang="en-US" sz="1100" b="1" dirty="0">
                <a:solidFill>
                  <a:srgbClr val="E8482B"/>
                </a:solidFill>
                <a:latin typeface="맑은 고딕" pitchFamily="34" charset="0"/>
                <a:ea typeface="맑은 고딕" pitchFamily="34" charset="-122"/>
                <a:cs typeface="맑은 고딕" pitchFamily="34" charset="-120"/>
              </a:rPr>
              <a:t>객체 생성</a:t>
            </a:r>
            <a:endParaRPr lang="en-US" sz="1100" dirty="0"/>
          </a:p>
        </p:txBody>
      </p:sp>
      <p:sp>
        <p:nvSpPr>
          <p:cNvPr id="4" name="Text 2"/>
          <p:cNvSpPr txBox="1"/>
          <p:nvPr/>
        </p:nvSpPr>
        <p:spPr>
          <a:xfrm>
            <a:off x="685800" y="713232"/>
            <a:ext cx="10820095" cy="603504"/>
          </a:xfrm>
          <a:prstGeom prst="rect">
            <a:avLst/>
          </a:prstGeom>
          <a:noFill/>
          <a:ln/>
        </p:spPr>
        <p:txBody>
          <a:bodyPr wrap="square" lIns="0" tIns="0" rIns="0" bIns="0" rtlCol="0" anchor="ctr"/>
          <a:lstStyle/>
          <a:p>
            <a:pPr marL="0" indent="0">
              <a:buNone/>
            </a:pPr>
            <a:r>
              <a:rPr lang="en-US" sz="3400" b="1" dirty="0">
                <a:solidFill>
                  <a:srgbClr val="111214"/>
                </a:solidFill>
                <a:latin typeface="맑은 고딕" pitchFamily="34" charset="0"/>
                <a:ea typeface="맑은 고딕" pitchFamily="34" charset="-122"/>
                <a:cs typeface="맑은 고딕" pitchFamily="34" charset="-120"/>
              </a:rPr>
              <a:t>객체는 어떻게 만드는가</a:t>
            </a:r>
            <a:endParaRPr lang="en-US" sz="3400" dirty="0"/>
          </a:p>
        </p:txBody>
      </p:sp>
      <p:sp>
        <p:nvSpPr>
          <p:cNvPr id="5" name="Text 3"/>
          <p:cNvSpPr txBox="1"/>
          <p:nvPr/>
        </p:nvSpPr>
        <p:spPr>
          <a:xfrm>
            <a:off x="685800" y="1316736"/>
            <a:ext cx="10820095" cy="310896"/>
          </a:xfrm>
          <a:prstGeom prst="rect">
            <a:avLst/>
          </a:prstGeom>
          <a:noFill/>
          <a:ln/>
        </p:spPr>
        <p:txBody>
          <a:bodyPr wrap="square" lIns="0" tIns="0" rIns="0" bIns="0" rtlCol="0" anchor="ctr"/>
          <a:lstStyle/>
          <a:p>
            <a:pPr marL="0" indent="0">
              <a:buNone/>
            </a:pPr>
            <a:r>
              <a:rPr lang="en-US" sz="1400" dirty="0">
                <a:solidFill>
                  <a:srgbClr val="6E6E73"/>
                </a:solidFill>
                <a:latin typeface="맑은 고딕" pitchFamily="34" charset="0"/>
                <a:ea typeface="맑은 고딕" pitchFamily="34" charset="-122"/>
                <a:cs typeface="맑은 고딕" pitchFamily="34" charset="-120"/>
              </a:rPr>
              <a:t>이 한 줄을 정확하게 읽어봅시다</a:t>
            </a:r>
            <a:endParaRPr lang="en-US" sz="1400" dirty="0"/>
          </a:p>
        </p:txBody>
      </p:sp>
      <p:sp>
        <p:nvSpPr>
          <p:cNvPr id="6" name="Shape 4"/>
          <p:cNvSpPr/>
          <p:nvPr/>
        </p:nvSpPr>
        <p:spPr>
          <a:xfrm>
            <a:off x="685800" y="2103120"/>
            <a:ext cx="10820095" cy="914400"/>
          </a:xfrm>
          <a:prstGeom prst="roundRect">
            <a:avLst>
              <a:gd name="adj" fmla="val 8000"/>
            </a:avLst>
          </a:prstGeom>
          <a:solidFill>
            <a:srgbClr val="17181C"/>
          </a:solidFill>
          <a:ln w="12700">
            <a:solidFill>
              <a:srgbClr val="17181C"/>
            </a:solidFill>
            <a:prstDash val="solid"/>
          </a:ln>
        </p:spPr>
      </p:sp>
      <p:sp>
        <p:nvSpPr>
          <p:cNvPr id="7" name="Text 5"/>
          <p:cNvSpPr txBox="1"/>
          <p:nvPr/>
        </p:nvSpPr>
        <p:spPr>
          <a:xfrm>
            <a:off x="923544" y="2295144"/>
            <a:ext cx="10344607" cy="530352"/>
          </a:xfrm>
          <a:prstGeom prst="rect">
            <a:avLst/>
          </a:prstGeom>
          <a:noFill/>
          <a:ln/>
        </p:spPr>
        <p:txBody>
          <a:bodyPr wrap="square" lIns="0" tIns="0" rIns="0" bIns="0" rtlCol="0" anchor="t"/>
          <a:lstStyle/>
          <a:p>
            <a:pPr marL="0" indent="0">
              <a:lnSpc>
                <a:spcPts val="2982"/>
              </a:lnSpc>
              <a:buNone/>
            </a:pPr>
            <a:r>
              <a:rPr lang="en-US" sz="2100" b="1" dirty="0">
                <a:solidFill>
                  <a:srgbClr val="FF8A66"/>
                </a:solidFill>
                <a:latin typeface="Consolas" pitchFamily="34" charset="0"/>
                <a:ea typeface="Consolas" pitchFamily="34" charset="-122"/>
                <a:cs typeface="Consolas" pitchFamily="34" charset="-120"/>
              </a:rPr>
              <a:t>Product</a:t>
            </a:r>
            <a:r>
              <a:rPr lang="en-US" sz="2100" dirty="0">
                <a:solidFill>
                  <a:srgbClr val="E9E8E4"/>
                </a:solidFill>
                <a:latin typeface="Consolas" pitchFamily="34" charset="0"/>
                <a:ea typeface="Consolas" pitchFamily="34" charset="-122"/>
                <a:cs typeface="Consolas" pitchFamily="34" charset="-120"/>
              </a:rPr>
              <a:t> product1 = </a:t>
            </a:r>
            <a:r>
              <a:rPr lang="en-US" sz="2100" b="1" dirty="0">
                <a:solidFill>
                  <a:srgbClr val="FF8A66"/>
                </a:solidFill>
                <a:latin typeface="Consolas" pitchFamily="34" charset="0"/>
                <a:ea typeface="Consolas" pitchFamily="34" charset="-122"/>
                <a:cs typeface="Consolas" pitchFamily="34" charset="-120"/>
              </a:rPr>
              <a:t>new</a:t>
            </a:r>
            <a:r>
              <a:rPr lang="en-US" sz="2100" dirty="0">
                <a:solidFill>
                  <a:srgbClr val="E9E8E4"/>
                </a:solidFill>
                <a:latin typeface="Consolas" pitchFamily="34" charset="0"/>
                <a:ea typeface="Consolas" pitchFamily="34" charset="-122"/>
                <a:cs typeface="Consolas" pitchFamily="34" charset="-120"/>
              </a:rPr>
              <a:t> Product(</a:t>
            </a:r>
            <a:r>
              <a:rPr lang="en-US" sz="2100" dirty="0">
                <a:solidFill>
                  <a:srgbClr val="9CCFA4"/>
                </a:solidFill>
                <a:latin typeface="Consolas" pitchFamily="34" charset="0"/>
                <a:ea typeface="Consolas" pitchFamily="34" charset="-122"/>
                <a:cs typeface="Consolas" pitchFamily="34" charset="-120"/>
              </a:rPr>
              <a:t>"Erl hoodie"</a:t>
            </a:r>
            <a:r>
              <a:rPr lang="en-US" sz="2100" dirty="0">
                <a:solidFill>
                  <a:srgbClr val="E9E8E4"/>
                </a:solidFill>
                <a:latin typeface="Consolas" pitchFamily="34" charset="0"/>
                <a:ea typeface="Consolas" pitchFamily="34" charset="-122"/>
                <a:cs typeface="Consolas" pitchFamily="34" charset="-120"/>
              </a:rPr>
              <a:t>, 450000, 3);</a:t>
            </a:r>
            <a:endParaRPr lang="en-US" sz="2100" dirty="0"/>
          </a:p>
        </p:txBody>
      </p:sp>
      <p:sp>
        <p:nvSpPr>
          <p:cNvPr id="8" name="Shape 6"/>
          <p:cNvSpPr/>
          <p:nvPr/>
        </p:nvSpPr>
        <p:spPr>
          <a:xfrm>
            <a:off x="685800" y="3657600"/>
            <a:ext cx="3429000" cy="1691640"/>
          </a:xfrm>
          <a:prstGeom prst="roundRect">
            <a:avLst>
              <a:gd name="adj" fmla="val 3243"/>
            </a:avLst>
          </a:prstGeom>
          <a:solidFill>
            <a:srgbClr val="F3F2F0"/>
          </a:solidFill>
          <a:ln w="12700">
            <a:solidFill>
              <a:srgbClr val="F3F2F0"/>
            </a:solidFill>
            <a:prstDash val="solid"/>
          </a:ln>
        </p:spPr>
      </p:sp>
      <p:sp>
        <p:nvSpPr>
          <p:cNvPr id="9" name="Text 7"/>
          <p:cNvSpPr txBox="1"/>
          <p:nvPr/>
        </p:nvSpPr>
        <p:spPr>
          <a:xfrm>
            <a:off x="1005840" y="3858768"/>
            <a:ext cx="2788920" cy="347472"/>
          </a:xfrm>
          <a:prstGeom prst="rect">
            <a:avLst/>
          </a:prstGeom>
          <a:noFill/>
          <a:ln/>
        </p:spPr>
        <p:txBody>
          <a:bodyPr wrap="square" lIns="0" tIns="0" rIns="0" bIns="0" rtlCol="0" anchor="ctr"/>
          <a:lstStyle/>
          <a:p>
            <a:pPr marL="0" indent="0">
              <a:buNone/>
            </a:pPr>
            <a:r>
              <a:rPr lang="en-US" sz="1500" b="1" dirty="0">
                <a:solidFill>
                  <a:srgbClr val="111214"/>
                </a:solidFill>
                <a:latin typeface="Consolas" pitchFamily="34" charset="0"/>
                <a:ea typeface="Consolas" pitchFamily="34" charset="-122"/>
                <a:cs typeface="Consolas" pitchFamily="34" charset="-120"/>
              </a:rPr>
              <a:t>Product</a:t>
            </a:r>
            <a:endParaRPr lang="en-US" sz="1500" dirty="0"/>
          </a:p>
        </p:txBody>
      </p:sp>
      <p:sp>
        <p:nvSpPr>
          <p:cNvPr id="10" name="Text 8"/>
          <p:cNvSpPr txBox="1"/>
          <p:nvPr/>
        </p:nvSpPr>
        <p:spPr>
          <a:xfrm>
            <a:off x="1005840" y="4279392"/>
            <a:ext cx="2788920" cy="292608"/>
          </a:xfrm>
          <a:prstGeom prst="rect">
            <a:avLst/>
          </a:prstGeom>
          <a:noFill/>
          <a:ln/>
        </p:spPr>
        <p:txBody>
          <a:bodyPr wrap="square" lIns="0" tIns="0" rIns="0" bIns="0" rtlCol="0" anchor="ctr"/>
          <a:lstStyle/>
          <a:p>
            <a:pPr marL="0" indent="0">
              <a:buNone/>
            </a:pPr>
            <a:r>
              <a:rPr lang="en-US" sz="1500" b="1" dirty="0">
                <a:solidFill>
                  <a:srgbClr val="E8482B"/>
                </a:solidFill>
                <a:latin typeface="맑은 고딕" pitchFamily="34" charset="0"/>
                <a:ea typeface="맑은 고딕" pitchFamily="34" charset="-122"/>
                <a:cs typeface="맑은 고딕" pitchFamily="34" charset="-120"/>
              </a:rPr>
              <a:t>클래스 이름</a:t>
            </a:r>
            <a:endParaRPr lang="en-US" sz="1500" dirty="0"/>
          </a:p>
        </p:txBody>
      </p:sp>
      <p:sp>
        <p:nvSpPr>
          <p:cNvPr id="11" name="Text 9"/>
          <p:cNvSpPr txBox="1"/>
          <p:nvPr/>
        </p:nvSpPr>
        <p:spPr>
          <a:xfrm>
            <a:off x="1005840" y="4626864"/>
            <a:ext cx="2788920" cy="548640"/>
          </a:xfrm>
          <a:prstGeom prst="rect">
            <a:avLst/>
          </a:prstGeom>
          <a:noFill/>
          <a:ln/>
        </p:spPr>
        <p:txBody>
          <a:bodyPr wrap="square" lIns="0" tIns="0" rIns="0" bIns="0" rtlCol="0" anchor="ctr"/>
          <a:lstStyle/>
          <a:p>
            <a:pPr marL="0" indent="0">
              <a:lnSpc>
                <a:spcPts val="1600"/>
              </a:lnSpc>
              <a:buNone/>
            </a:pPr>
            <a:r>
              <a:rPr lang="en-US" sz="1200" dirty="0">
                <a:solidFill>
                  <a:srgbClr val="6E6E73"/>
                </a:solidFill>
                <a:latin typeface="맑은 고딕" pitchFamily="34" charset="0"/>
                <a:ea typeface="맑은 고딕" pitchFamily="34" charset="-122"/>
                <a:cs typeface="맑은 고딕" pitchFamily="34" charset="-120"/>
              </a:rPr>
              <a:t>product1 참조 변수의 자료형</a:t>
            </a:r>
            <a:endParaRPr lang="en-US" sz="1200" dirty="0"/>
          </a:p>
        </p:txBody>
      </p:sp>
      <p:sp>
        <p:nvSpPr>
          <p:cNvPr id="12" name="Shape 10"/>
          <p:cNvSpPr/>
          <p:nvPr/>
        </p:nvSpPr>
        <p:spPr>
          <a:xfrm>
            <a:off x="4370832" y="3657600"/>
            <a:ext cx="3429000" cy="1691640"/>
          </a:xfrm>
          <a:prstGeom prst="roundRect">
            <a:avLst>
              <a:gd name="adj" fmla="val 3243"/>
            </a:avLst>
          </a:prstGeom>
          <a:solidFill>
            <a:srgbClr val="F3F2F0"/>
          </a:solidFill>
          <a:ln w="12700">
            <a:solidFill>
              <a:srgbClr val="F3F2F0"/>
            </a:solidFill>
            <a:prstDash val="solid"/>
          </a:ln>
        </p:spPr>
      </p:sp>
      <p:sp>
        <p:nvSpPr>
          <p:cNvPr id="13" name="Text 11"/>
          <p:cNvSpPr txBox="1"/>
          <p:nvPr/>
        </p:nvSpPr>
        <p:spPr>
          <a:xfrm>
            <a:off x="4690872" y="3858768"/>
            <a:ext cx="2788920" cy="347472"/>
          </a:xfrm>
          <a:prstGeom prst="rect">
            <a:avLst/>
          </a:prstGeom>
          <a:noFill/>
          <a:ln/>
        </p:spPr>
        <p:txBody>
          <a:bodyPr wrap="square" lIns="0" tIns="0" rIns="0" bIns="0" rtlCol="0" anchor="ctr"/>
          <a:lstStyle/>
          <a:p>
            <a:pPr marL="0" indent="0">
              <a:buNone/>
            </a:pPr>
            <a:r>
              <a:rPr lang="en-US" sz="1500" b="1" dirty="0">
                <a:solidFill>
                  <a:srgbClr val="111214"/>
                </a:solidFill>
                <a:latin typeface="Consolas" pitchFamily="34" charset="0"/>
                <a:ea typeface="Consolas" pitchFamily="34" charset="-122"/>
                <a:cs typeface="Consolas" pitchFamily="34" charset="-120"/>
              </a:rPr>
              <a:t>product1</a:t>
            </a:r>
            <a:endParaRPr lang="en-US" sz="1500" dirty="0"/>
          </a:p>
        </p:txBody>
      </p:sp>
      <p:sp>
        <p:nvSpPr>
          <p:cNvPr id="14" name="Text 12"/>
          <p:cNvSpPr txBox="1"/>
          <p:nvPr/>
        </p:nvSpPr>
        <p:spPr>
          <a:xfrm>
            <a:off x="4690872" y="4279392"/>
            <a:ext cx="2788920" cy="292608"/>
          </a:xfrm>
          <a:prstGeom prst="rect">
            <a:avLst/>
          </a:prstGeom>
          <a:noFill/>
          <a:ln/>
        </p:spPr>
        <p:txBody>
          <a:bodyPr wrap="square" lIns="0" tIns="0" rIns="0" bIns="0" rtlCol="0" anchor="ctr"/>
          <a:lstStyle/>
          <a:p>
            <a:pPr marL="0" indent="0">
              <a:buNone/>
            </a:pPr>
            <a:r>
              <a:rPr lang="en-US" sz="1500" b="1" dirty="0">
                <a:solidFill>
                  <a:srgbClr val="E8482B"/>
                </a:solidFill>
                <a:latin typeface="맑은 고딕" pitchFamily="34" charset="0"/>
                <a:ea typeface="맑은 고딕" pitchFamily="34" charset="-122"/>
                <a:cs typeface="맑은 고딕" pitchFamily="34" charset="-120"/>
              </a:rPr>
              <a:t>참조 변수</a:t>
            </a:r>
            <a:endParaRPr lang="en-US" sz="1500" dirty="0"/>
          </a:p>
        </p:txBody>
      </p:sp>
      <p:sp>
        <p:nvSpPr>
          <p:cNvPr id="15" name="Text 13"/>
          <p:cNvSpPr txBox="1"/>
          <p:nvPr/>
        </p:nvSpPr>
        <p:spPr>
          <a:xfrm>
            <a:off x="4690872" y="4626864"/>
            <a:ext cx="2788920" cy="548640"/>
          </a:xfrm>
          <a:prstGeom prst="rect">
            <a:avLst/>
          </a:prstGeom>
          <a:noFill/>
          <a:ln/>
        </p:spPr>
        <p:txBody>
          <a:bodyPr wrap="square" lIns="0" tIns="0" rIns="0" bIns="0" rtlCol="0" anchor="ctr"/>
          <a:lstStyle/>
          <a:p>
            <a:pPr marL="0" indent="0">
              <a:lnSpc>
                <a:spcPts val="1600"/>
              </a:lnSpc>
              <a:buNone/>
            </a:pPr>
            <a:r>
              <a:rPr lang="en-US" sz="1200" dirty="0">
                <a:solidFill>
                  <a:srgbClr val="6E6E73"/>
                </a:solidFill>
                <a:latin typeface="맑은 고딕" pitchFamily="34" charset="0"/>
                <a:ea typeface="맑은 고딕" pitchFamily="34" charset="-122"/>
                <a:cs typeface="맑은 고딕" pitchFamily="34" charset="-120"/>
              </a:rPr>
              <a:t>만들어진 객체를 가리키는 이름</a:t>
            </a:r>
            <a:endParaRPr lang="en-US" sz="1200" dirty="0"/>
          </a:p>
        </p:txBody>
      </p:sp>
      <p:sp>
        <p:nvSpPr>
          <p:cNvPr id="16" name="Shape 14"/>
          <p:cNvSpPr/>
          <p:nvPr/>
        </p:nvSpPr>
        <p:spPr>
          <a:xfrm>
            <a:off x="8055864" y="3657600"/>
            <a:ext cx="3429000" cy="1691640"/>
          </a:xfrm>
          <a:prstGeom prst="roundRect">
            <a:avLst>
              <a:gd name="adj" fmla="val 3243"/>
            </a:avLst>
          </a:prstGeom>
          <a:solidFill>
            <a:srgbClr val="F3F2F0"/>
          </a:solidFill>
          <a:ln w="12700">
            <a:solidFill>
              <a:srgbClr val="F3F2F0"/>
            </a:solidFill>
            <a:prstDash val="solid"/>
          </a:ln>
        </p:spPr>
      </p:sp>
      <p:sp>
        <p:nvSpPr>
          <p:cNvPr id="17" name="Text 15"/>
          <p:cNvSpPr txBox="1"/>
          <p:nvPr/>
        </p:nvSpPr>
        <p:spPr>
          <a:xfrm>
            <a:off x="8375904" y="3858768"/>
            <a:ext cx="2788920" cy="347472"/>
          </a:xfrm>
          <a:prstGeom prst="rect">
            <a:avLst/>
          </a:prstGeom>
          <a:noFill/>
          <a:ln/>
        </p:spPr>
        <p:txBody>
          <a:bodyPr wrap="square" lIns="0" tIns="0" rIns="0" bIns="0" rtlCol="0" anchor="ctr"/>
          <a:lstStyle/>
          <a:p>
            <a:pPr marL="0" indent="0">
              <a:buNone/>
            </a:pPr>
            <a:r>
              <a:rPr lang="en-US" sz="1500" b="1" dirty="0">
                <a:solidFill>
                  <a:srgbClr val="111214"/>
                </a:solidFill>
                <a:latin typeface="Consolas" pitchFamily="34" charset="0"/>
                <a:ea typeface="Consolas" pitchFamily="34" charset="-122"/>
                <a:cs typeface="Consolas" pitchFamily="34" charset="-120"/>
              </a:rPr>
              <a:t>new Product(...)</a:t>
            </a:r>
            <a:endParaRPr lang="en-US" sz="1500" dirty="0"/>
          </a:p>
        </p:txBody>
      </p:sp>
      <p:sp>
        <p:nvSpPr>
          <p:cNvPr id="18" name="Text 16"/>
          <p:cNvSpPr txBox="1"/>
          <p:nvPr/>
        </p:nvSpPr>
        <p:spPr>
          <a:xfrm>
            <a:off x="8375904" y="4279392"/>
            <a:ext cx="2788920" cy="292608"/>
          </a:xfrm>
          <a:prstGeom prst="rect">
            <a:avLst/>
          </a:prstGeom>
          <a:noFill/>
          <a:ln/>
        </p:spPr>
        <p:txBody>
          <a:bodyPr wrap="square" lIns="0" tIns="0" rIns="0" bIns="0" rtlCol="0" anchor="ctr"/>
          <a:lstStyle/>
          <a:p>
            <a:pPr marL="0" indent="0">
              <a:buNone/>
            </a:pPr>
            <a:r>
              <a:rPr lang="en-US" sz="1500" b="1" dirty="0">
                <a:solidFill>
                  <a:srgbClr val="E8482B"/>
                </a:solidFill>
                <a:latin typeface="맑은 고딕" pitchFamily="34" charset="0"/>
                <a:ea typeface="맑은 고딕" pitchFamily="34" charset="-122"/>
                <a:cs typeface="맑은 고딕" pitchFamily="34" charset="-120"/>
              </a:rPr>
              <a:t>객체 생성</a:t>
            </a:r>
            <a:endParaRPr lang="en-US" sz="1500" dirty="0"/>
          </a:p>
        </p:txBody>
      </p:sp>
      <p:sp>
        <p:nvSpPr>
          <p:cNvPr id="19" name="Text 17"/>
          <p:cNvSpPr txBox="1"/>
          <p:nvPr/>
        </p:nvSpPr>
        <p:spPr>
          <a:xfrm>
            <a:off x="8375904" y="4626864"/>
            <a:ext cx="2788920" cy="548640"/>
          </a:xfrm>
          <a:prstGeom prst="rect">
            <a:avLst/>
          </a:prstGeom>
          <a:noFill/>
          <a:ln/>
        </p:spPr>
        <p:txBody>
          <a:bodyPr wrap="square" lIns="0" tIns="0" rIns="0" bIns="0" rtlCol="0" anchor="ctr"/>
          <a:lstStyle/>
          <a:p>
            <a:pPr marL="0" indent="0">
              <a:lnSpc>
                <a:spcPts val="1600"/>
              </a:lnSpc>
              <a:buNone/>
            </a:pPr>
            <a:r>
              <a:rPr lang="en-US" sz="1200" dirty="0">
                <a:solidFill>
                  <a:srgbClr val="6E6E73"/>
                </a:solidFill>
                <a:latin typeface="맑은 고딕" pitchFamily="34" charset="0"/>
                <a:ea typeface="맑은 고딕" pitchFamily="34" charset="-122"/>
                <a:cs typeface="맑은 고딕" pitchFamily="34" charset="-120"/>
              </a:rPr>
              <a:t>실제 Product 객체가 메모리에 만들어짐</a:t>
            </a:r>
            <a:endParaRPr lang="en-US" sz="1200" dirty="0"/>
          </a:p>
        </p:txBody>
      </p:sp>
      <p:sp>
        <p:nvSpPr>
          <p:cNvPr id="20" name="Text 18"/>
          <p:cNvSpPr txBox="1"/>
          <p:nvPr/>
        </p:nvSpPr>
        <p:spPr>
          <a:xfrm>
            <a:off x="685800" y="5623560"/>
            <a:ext cx="10820095" cy="320040"/>
          </a:xfrm>
          <a:prstGeom prst="rect">
            <a:avLst/>
          </a:prstGeom>
          <a:noFill/>
          <a:ln/>
        </p:spPr>
        <p:txBody>
          <a:bodyPr wrap="square" lIns="0" tIns="0" rIns="0" bIns="0" rtlCol="0" anchor="ctr"/>
          <a:lstStyle/>
          <a:p>
            <a:pPr marL="0" indent="0" algn="ctr">
              <a:buNone/>
            </a:pPr>
            <a:r>
              <a:rPr lang="en-US" sz="1300" b="1" dirty="0">
                <a:solidFill>
                  <a:srgbClr val="111214"/>
                </a:solidFill>
                <a:latin typeface="맑은 고딕" pitchFamily="34" charset="0"/>
                <a:ea typeface="맑은 고딕" pitchFamily="34" charset="-122"/>
                <a:cs typeface="맑은 고딕" pitchFamily="34" charset="-120"/>
              </a:rPr>
              <a:t>product1은 객체 그 자체가 아니라, 객체를 가리키는 변수입니다</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85800" y="384048"/>
            <a:ext cx="1234440" cy="292608"/>
          </a:xfrm>
          <a:prstGeom prst="roundRect">
            <a:avLst>
              <a:gd name="adj" fmla="val 50000"/>
            </a:avLst>
          </a:prstGeom>
          <a:solidFill>
            <a:srgbClr val="FBE7E2"/>
          </a:solidFill>
          <a:ln w="12700">
            <a:solidFill>
              <a:srgbClr val="FBE7E2"/>
            </a:solidFill>
            <a:prstDash val="solid"/>
          </a:ln>
        </p:spPr>
      </p:sp>
      <p:sp>
        <p:nvSpPr>
          <p:cNvPr id="3" name="Text 1"/>
          <p:cNvSpPr txBox="1"/>
          <p:nvPr/>
        </p:nvSpPr>
        <p:spPr>
          <a:xfrm>
            <a:off x="685800" y="384048"/>
            <a:ext cx="1234440" cy="292608"/>
          </a:xfrm>
          <a:prstGeom prst="rect">
            <a:avLst/>
          </a:prstGeom>
          <a:noFill/>
          <a:ln/>
        </p:spPr>
        <p:txBody>
          <a:bodyPr wrap="square" lIns="0" tIns="0" rIns="0" bIns="0" rtlCol="0" anchor="ctr"/>
          <a:lstStyle/>
          <a:p>
            <a:pPr marL="0" indent="0" algn="ctr">
              <a:buNone/>
            </a:pPr>
            <a:r>
              <a:rPr lang="en-US" sz="1100" b="1" dirty="0">
                <a:solidFill>
                  <a:srgbClr val="E8482B"/>
                </a:solidFill>
                <a:latin typeface="맑은 고딕" pitchFamily="34" charset="0"/>
                <a:ea typeface="맑은 고딕" pitchFamily="34" charset="-122"/>
                <a:cs typeface="맑은 고딕" pitchFamily="34" charset="-120"/>
              </a:rPr>
              <a:t>참조 변수</a:t>
            </a:r>
            <a:endParaRPr lang="en-US" sz="1100" dirty="0"/>
          </a:p>
        </p:txBody>
      </p:sp>
      <p:sp>
        <p:nvSpPr>
          <p:cNvPr id="4" name="Text 2"/>
          <p:cNvSpPr txBox="1"/>
          <p:nvPr/>
        </p:nvSpPr>
        <p:spPr>
          <a:xfrm>
            <a:off x="685800" y="713232"/>
            <a:ext cx="10820095" cy="603504"/>
          </a:xfrm>
          <a:prstGeom prst="rect">
            <a:avLst/>
          </a:prstGeom>
          <a:noFill/>
          <a:ln/>
        </p:spPr>
        <p:txBody>
          <a:bodyPr wrap="square" lIns="0" tIns="0" rIns="0" bIns="0" rtlCol="0" anchor="ctr"/>
          <a:lstStyle/>
          <a:p>
            <a:pPr marL="0" indent="0">
              <a:buNone/>
            </a:pPr>
            <a:r>
              <a:rPr lang="en-US" sz="3400" b="1" dirty="0">
                <a:solidFill>
                  <a:srgbClr val="111214"/>
                </a:solidFill>
                <a:latin typeface="맑은 고딕" pitchFamily="34" charset="0"/>
                <a:ea typeface="맑은 고딕" pitchFamily="34" charset="-122"/>
                <a:cs typeface="맑은 고딕" pitchFamily="34" charset="-120"/>
              </a:rPr>
              <a:t>참조 변수는 객체를 가리킨다</a:t>
            </a:r>
            <a:endParaRPr lang="en-US" sz="3400" dirty="0"/>
          </a:p>
        </p:txBody>
      </p:sp>
      <p:sp>
        <p:nvSpPr>
          <p:cNvPr id="5" name="Text 3"/>
          <p:cNvSpPr txBox="1"/>
          <p:nvPr/>
        </p:nvSpPr>
        <p:spPr>
          <a:xfrm>
            <a:off x="685800" y="1316736"/>
            <a:ext cx="10820095" cy="310896"/>
          </a:xfrm>
          <a:prstGeom prst="rect">
            <a:avLst/>
          </a:prstGeom>
          <a:noFill/>
          <a:ln/>
        </p:spPr>
        <p:txBody>
          <a:bodyPr wrap="square" lIns="0" tIns="0" rIns="0" bIns="0" rtlCol="0" anchor="ctr"/>
          <a:lstStyle/>
          <a:p>
            <a:pPr marL="0" indent="0">
              <a:buNone/>
            </a:pPr>
            <a:r>
              <a:rPr lang="en-US" sz="1400" dirty="0">
                <a:solidFill>
                  <a:srgbClr val="6E6E73"/>
                </a:solidFill>
                <a:latin typeface="맑은 고딕" pitchFamily="34" charset="0"/>
                <a:ea typeface="맑은 고딕" pitchFamily="34" charset="-122"/>
                <a:cs typeface="맑은 고딕" pitchFamily="34" charset="-120"/>
              </a:rPr>
              <a:t>new를 두 번 실행했으니, 객체도 두 개</a:t>
            </a:r>
            <a:endParaRPr lang="en-US" sz="1400" dirty="0"/>
          </a:p>
        </p:txBody>
      </p:sp>
      <p:sp>
        <p:nvSpPr>
          <p:cNvPr id="6" name="Shape 4"/>
          <p:cNvSpPr/>
          <p:nvPr/>
        </p:nvSpPr>
        <p:spPr>
          <a:xfrm>
            <a:off x="685800" y="2148840"/>
            <a:ext cx="2103120" cy="1371600"/>
          </a:xfrm>
          <a:prstGeom prst="roundRect">
            <a:avLst>
              <a:gd name="adj" fmla="val 4000"/>
            </a:avLst>
          </a:prstGeom>
          <a:solidFill>
            <a:srgbClr val="FFFFFF"/>
          </a:solidFill>
          <a:ln w="12700">
            <a:solidFill>
              <a:srgbClr val="DCDAD6"/>
            </a:solidFill>
            <a:prstDash val="solid"/>
          </a:ln>
        </p:spPr>
      </p:sp>
      <p:sp>
        <p:nvSpPr>
          <p:cNvPr id="7" name="Text 5"/>
          <p:cNvSpPr txBox="1"/>
          <p:nvPr/>
        </p:nvSpPr>
        <p:spPr>
          <a:xfrm>
            <a:off x="685800" y="2148840"/>
            <a:ext cx="2103120" cy="1005840"/>
          </a:xfrm>
          <a:prstGeom prst="rect">
            <a:avLst/>
          </a:prstGeom>
          <a:noFill/>
          <a:ln/>
        </p:spPr>
        <p:txBody>
          <a:bodyPr wrap="square" lIns="0" tIns="0" rIns="0" bIns="0" rtlCol="0" anchor="ctr"/>
          <a:lstStyle/>
          <a:p>
            <a:pPr marL="0" indent="0" algn="ctr">
              <a:buNone/>
            </a:pPr>
            <a:r>
              <a:rPr lang="en-US" sz="1600" b="1" dirty="0">
                <a:solidFill>
                  <a:srgbClr val="111214"/>
                </a:solidFill>
                <a:latin typeface="Consolas" pitchFamily="34" charset="0"/>
                <a:ea typeface="Consolas" pitchFamily="34" charset="-122"/>
                <a:cs typeface="Consolas" pitchFamily="34" charset="-120"/>
              </a:rPr>
              <a:t>product1</a:t>
            </a:r>
            <a:endParaRPr lang="en-US" sz="1600" dirty="0"/>
          </a:p>
        </p:txBody>
      </p:sp>
      <p:sp>
        <p:nvSpPr>
          <p:cNvPr id="8" name="Text 6"/>
          <p:cNvSpPr txBox="1"/>
          <p:nvPr/>
        </p:nvSpPr>
        <p:spPr>
          <a:xfrm>
            <a:off x="685800" y="3081528"/>
            <a:ext cx="2103120" cy="274320"/>
          </a:xfrm>
          <a:prstGeom prst="rect">
            <a:avLst/>
          </a:prstGeom>
          <a:noFill/>
          <a:ln/>
        </p:spPr>
        <p:txBody>
          <a:bodyPr wrap="square" lIns="0" tIns="0" rIns="0" bIns="0" rtlCol="0" anchor="ctr"/>
          <a:lstStyle/>
          <a:p>
            <a:pPr marL="0" indent="0" algn="ctr">
              <a:buNone/>
            </a:pPr>
            <a:r>
              <a:rPr lang="en-US" sz="1050" dirty="0">
                <a:solidFill>
                  <a:srgbClr val="6E6E73"/>
                </a:solidFill>
                <a:latin typeface="맑은 고딕" pitchFamily="34" charset="0"/>
                <a:ea typeface="맑은 고딕" pitchFamily="34" charset="-122"/>
                <a:cs typeface="맑은 고딕" pitchFamily="34" charset="-120"/>
              </a:rPr>
              <a:t>참조 변수</a:t>
            </a:r>
            <a:endParaRPr lang="en-US" sz="1050" dirty="0"/>
          </a:p>
        </p:txBody>
      </p:sp>
      <p:sp>
        <p:nvSpPr>
          <p:cNvPr id="9" name="Shape 7"/>
          <p:cNvSpPr/>
          <p:nvPr/>
        </p:nvSpPr>
        <p:spPr>
          <a:xfrm>
            <a:off x="2926080" y="2834640"/>
            <a:ext cx="1051560" cy="0"/>
          </a:xfrm>
          <a:prstGeom prst="line">
            <a:avLst/>
          </a:prstGeom>
          <a:noFill/>
          <a:ln w="22225">
            <a:solidFill>
              <a:srgbClr val="E8482B"/>
            </a:solidFill>
            <a:prstDash val="solid"/>
            <a:tailEnd type="triangle"/>
          </a:ln>
        </p:spPr>
      </p:sp>
      <p:sp>
        <p:nvSpPr>
          <p:cNvPr id="10" name="Shape 8"/>
          <p:cNvSpPr/>
          <p:nvPr/>
        </p:nvSpPr>
        <p:spPr>
          <a:xfrm>
            <a:off x="4114800" y="2148840"/>
            <a:ext cx="4434840" cy="1371600"/>
          </a:xfrm>
          <a:prstGeom prst="roundRect">
            <a:avLst>
              <a:gd name="adj" fmla="val 4000"/>
            </a:avLst>
          </a:prstGeom>
          <a:solidFill>
            <a:srgbClr val="111214"/>
          </a:solidFill>
          <a:ln w="12700">
            <a:solidFill>
              <a:srgbClr val="111214"/>
            </a:solidFill>
            <a:prstDash val="solid"/>
          </a:ln>
        </p:spPr>
      </p:sp>
      <p:sp>
        <p:nvSpPr>
          <p:cNvPr id="11" name="Text 9"/>
          <p:cNvSpPr txBox="1"/>
          <p:nvPr/>
        </p:nvSpPr>
        <p:spPr>
          <a:xfrm>
            <a:off x="4434840" y="2295144"/>
            <a:ext cx="4206240" cy="274320"/>
          </a:xfrm>
          <a:prstGeom prst="rect">
            <a:avLst/>
          </a:prstGeom>
          <a:noFill/>
          <a:ln/>
        </p:spPr>
        <p:txBody>
          <a:bodyPr wrap="square" lIns="0" tIns="0" rIns="0" bIns="0" rtlCol="0" anchor="ctr"/>
          <a:lstStyle/>
          <a:p>
            <a:pPr marL="0" indent="0">
              <a:buNone/>
            </a:pPr>
            <a:r>
              <a:rPr lang="en-US" sz="1200" b="1" dirty="0">
                <a:solidFill>
                  <a:srgbClr val="8E8E96"/>
                </a:solidFill>
                <a:latin typeface="맑은 고딕" pitchFamily="34" charset="0"/>
                <a:ea typeface="맑은 고딕" pitchFamily="34" charset="-122"/>
                <a:cs typeface="맑은 고딕" pitchFamily="34" charset="-120"/>
              </a:rPr>
              <a:t>Product 객체</a:t>
            </a:r>
            <a:endParaRPr lang="en-US" sz="1200" dirty="0"/>
          </a:p>
        </p:txBody>
      </p:sp>
      <p:sp>
        <p:nvSpPr>
          <p:cNvPr id="12" name="Text 10"/>
          <p:cNvSpPr txBox="1"/>
          <p:nvPr/>
        </p:nvSpPr>
        <p:spPr>
          <a:xfrm>
            <a:off x="4434840" y="2606040"/>
            <a:ext cx="4206240" cy="822960"/>
          </a:xfrm>
          <a:prstGeom prst="rect">
            <a:avLst/>
          </a:prstGeom>
          <a:noFill/>
          <a:ln/>
        </p:spPr>
        <p:txBody>
          <a:bodyPr wrap="square" lIns="0" tIns="0" rIns="0" bIns="0" rtlCol="0" anchor="ctr"/>
          <a:lstStyle/>
          <a:p>
            <a:pPr marL="0" indent="0">
              <a:lnSpc>
                <a:spcPts val="1700"/>
              </a:lnSpc>
              <a:buNone/>
            </a:pPr>
            <a:r>
              <a:rPr lang="en-US" sz="1250" dirty="0">
                <a:solidFill>
                  <a:srgbClr val="E9E8E4"/>
                </a:solidFill>
                <a:latin typeface="Consolas" pitchFamily="34" charset="0"/>
                <a:ea typeface="Consolas" pitchFamily="34" charset="-122"/>
                <a:cs typeface="Consolas" pitchFamily="34" charset="-120"/>
              </a:rPr>
              <a:t>name  = "Erl hoodie"</a:t>
            </a:r>
            <a:endParaRPr lang="en-US" sz="1250" dirty="0"/>
          </a:p>
          <a:p>
            <a:pPr marL="0" indent="0">
              <a:lnSpc>
                <a:spcPts val="1700"/>
              </a:lnSpc>
              <a:buNone/>
            </a:pPr>
            <a:r>
              <a:rPr lang="en-US" sz="1250" dirty="0">
                <a:solidFill>
                  <a:srgbClr val="E9E8E4"/>
                </a:solidFill>
                <a:latin typeface="Consolas" pitchFamily="34" charset="0"/>
                <a:ea typeface="Consolas" pitchFamily="34" charset="-122"/>
                <a:cs typeface="Consolas" pitchFamily="34" charset="-120"/>
              </a:rPr>
              <a:t>price = 450000</a:t>
            </a:r>
            <a:endParaRPr lang="en-US" sz="1250" dirty="0"/>
          </a:p>
          <a:p>
            <a:pPr marL="0" indent="0">
              <a:lnSpc>
                <a:spcPts val="1700"/>
              </a:lnSpc>
              <a:buNone/>
            </a:pPr>
            <a:r>
              <a:rPr lang="en-US" sz="1250" dirty="0">
                <a:solidFill>
                  <a:srgbClr val="E9E8E4"/>
                </a:solidFill>
                <a:latin typeface="Consolas" pitchFamily="34" charset="0"/>
                <a:ea typeface="Consolas" pitchFamily="34" charset="-122"/>
                <a:cs typeface="Consolas" pitchFamily="34" charset="-120"/>
              </a:rPr>
              <a:t>stock = 3</a:t>
            </a:r>
            <a:endParaRPr lang="en-US" sz="1250" dirty="0"/>
          </a:p>
        </p:txBody>
      </p:sp>
      <p:sp>
        <p:nvSpPr>
          <p:cNvPr id="13" name="Shape 11"/>
          <p:cNvSpPr/>
          <p:nvPr/>
        </p:nvSpPr>
        <p:spPr>
          <a:xfrm>
            <a:off x="685800" y="3840480"/>
            <a:ext cx="2103120" cy="1371600"/>
          </a:xfrm>
          <a:prstGeom prst="roundRect">
            <a:avLst>
              <a:gd name="adj" fmla="val 4000"/>
            </a:avLst>
          </a:prstGeom>
          <a:solidFill>
            <a:srgbClr val="FFFFFF"/>
          </a:solidFill>
          <a:ln w="12700">
            <a:solidFill>
              <a:srgbClr val="DCDAD6"/>
            </a:solidFill>
            <a:prstDash val="solid"/>
          </a:ln>
        </p:spPr>
      </p:sp>
      <p:sp>
        <p:nvSpPr>
          <p:cNvPr id="14" name="Text 12"/>
          <p:cNvSpPr txBox="1"/>
          <p:nvPr/>
        </p:nvSpPr>
        <p:spPr>
          <a:xfrm>
            <a:off x="685800" y="3840480"/>
            <a:ext cx="2103120" cy="1005840"/>
          </a:xfrm>
          <a:prstGeom prst="rect">
            <a:avLst/>
          </a:prstGeom>
          <a:noFill/>
          <a:ln/>
        </p:spPr>
        <p:txBody>
          <a:bodyPr wrap="square" lIns="0" tIns="0" rIns="0" bIns="0" rtlCol="0" anchor="ctr"/>
          <a:lstStyle/>
          <a:p>
            <a:pPr marL="0" indent="0" algn="ctr">
              <a:buNone/>
            </a:pPr>
            <a:r>
              <a:rPr lang="en-US" sz="1600" b="1" dirty="0">
                <a:solidFill>
                  <a:srgbClr val="111214"/>
                </a:solidFill>
                <a:latin typeface="Consolas" pitchFamily="34" charset="0"/>
                <a:ea typeface="Consolas" pitchFamily="34" charset="-122"/>
                <a:cs typeface="Consolas" pitchFamily="34" charset="-120"/>
              </a:rPr>
              <a:t>product2</a:t>
            </a:r>
            <a:endParaRPr lang="en-US" sz="1600" dirty="0"/>
          </a:p>
        </p:txBody>
      </p:sp>
      <p:sp>
        <p:nvSpPr>
          <p:cNvPr id="15" name="Text 13"/>
          <p:cNvSpPr txBox="1"/>
          <p:nvPr/>
        </p:nvSpPr>
        <p:spPr>
          <a:xfrm>
            <a:off x="685800" y="4773168"/>
            <a:ext cx="2103120" cy="274320"/>
          </a:xfrm>
          <a:prstGeom prst="rect">
            <a:avLst/>
          </a:prstGeom>
          <a:noFill/>
          <a:ln/>
        </p:spPr>
        <p:txBody>
          <a:bodyPr wrap="square" lIns="0" tIns="0" rIns="0" bIns="0" rtlCol="0" anchor="ctr"/>
          <a:lstStyle/>
          <a:p>
            <a:pPr marL="0" indent="0" algn="ctr">
              <a:buNone/>
            </a:pPr>
            <a:r>
              <a:rPr lang="en-US" sz="1050" dirty="0">
                <a:solidFill>
                  <a:srgbClr val="6E6E73"/>
                </a:solidFill>
                <a:latin typeface="맑은 고딕" pitchFamily="34" charset="0"/>
                <a:ea typeface="맑은 고딕" pitchFamily="34" charset="-122"/>
                <a:cs typeface="맑은 고딕" pitchFamily="34" charset="-120"/>
              </a:rPr>
              <a:t>참조 변수</a:t>
            </a:r>
            <a:endParaRPr lang="en-US" sz="1050" dirty="0"/>
          </a:p>
        </p:txBody>
      </p:sp>
      <p:sp>
        <p:nvSpPr>
          <p:cNvPr id="16" name="Shape 14"/>
          <p:cNvSpPr/>
          <p:nvPr/>
        </p:nvSpPr>
        <p:spPr>
          <a:xfrm>
            <a:off x="2926080" y="4526280"/>
            <a:ext cx="1051560" cy="0"/>
          </a:xfrm>
          <a:prstGeom prst="line">
            <a:avLst/>
          </a:prstGeom>
          <a:noFill/>
          <a:ln w="22225">
            <a:solidFill>
              <a:srgbClr val="E8482B"/>
            </a:solidFill>
            <a:prstDash val="solid"/>
            <a:tailEnd type="triangle"/>
          </a:ln>
        </p:spPr>
      </p:sp>
      <p:sp>
        <p:nvSpPr>
          <p:cNvPr id="17" name="Shape 15"/>
          <p:cNvSpPr/>
          <p:nvPr/>
        </p:nvSpPr>
        <p:spPr>
          <a:xfrm>
            <a:off x="4114800" y="3840480"/>
            <a:ext cx="4434840" cy="1371600"/>
          </a:xfrm>
          <a:prstGeom prst="roundRect">
            <a:avLst>
              <a:gd name="adj" fmla="val 4000"/>
            </a:avLst>
          </a:prstGeom>
          <a:solidFill>
            <a:srgbClr val="111214"/>
          </a:solidFill>
          <a:ln w="12700">
            <a:solidFill>
              <a:srgbClr val="111214"/>
            </a:solidFill>
            <a:prstDash val="solid"/>
          </a:ln>
        </p:spPr>
      </p:sp>
      <p:sp>
        <p:nvSpPr>
          <p:cNvPr id="18" name="Text 16"/>
          <p:cNvSpPr txBox="1"/>
          <p:nvPr/>
        </p:nvSpPr>
        <p:spPr>
          <a:xfrm>
            <a:off x="4434840" y="3986784"/>
            <a:ext cx="4206240" cy="274320"/>
          </a:xfrm>
          <a:prstGeom prst="rect">
            <a:avLst/>
          </a:prstGeom>
          <a:noFill/>
          <a:ln/>
        </p:spPr>
        <p:txBody>
          <a:bodyPr wrap="square" lIns="0" tIns="0" rIns="0" bIns="0" rtlCol="0" anchor="ctr"/>
          <a:lstStyle/>
          <a:p>
            <a:pPr marL="0" indent="0">
              <a:buNone/>
            </a:pPr>
            <a:r>
              <a:rPr lang="en-US" sz="1200" b="1" dirty="0">
                <a:solidFill>
                  <a:srgbClr val="8E8E96"/>
                </a:solidFill>
                <a:latin typeface="맑은 고딕" pitchFamily="34" charset="0"/>
                <a:ea typeface="맑은 고딕" pitchFamily="34" charset="-122"/>
                <a:cs typeface="맑은 고딕" pitchFamily="34" charset="-120"/>
              </a:rPr>
              <a:t>Product 객체</a:t>
            </a:r>
            <a:endParaRPr lang="en-US" sz="1200" dirty="0"/>
          </a:p>
        </p:txBody>
      </p:sp>
      <p:sp>
        <p:nvSpPr>
          <p:cNvPr id="19" name="Text 17"/>
          <p:cNvSpPr txBox="1"/>
          <p:nvPr/>
        </p:nvSpPr>
        <p:spPr>
          <a:xfrm>
            <a:off x="4434840" y="4297680"/>
            <a:ext cx="4206240" cy="822960"/>
          </a:xfrm>
          <a:prstGeom prst="rect">
            <a:avLst/>
          </a:prstGeom>
          <a:noFill/>
          <a:ln/>
        </p:spPr>
        <p:txBody>
          <a:bodyPr wrap="square" lIns="0" tIns="0" rIns="0" bIns="0" rtlCol="0" anchor="ctr"/>
          <a:lstStyle/>
          <a:p>
            <a:pPr marL="0" indent="0">
              <a:lnSpc>
                <a:spcPts val="1700"/>
              </a:lnSpc>
              <a:buNone/>
            </a:pPr>
            <a:r>
              <a:rPr lang="en-US" sz="1250" dirty="0">
                <a:solidFill>
                  <a:srgbClr val="E9E8E4"/>
                </a:solidFill>
                <a:latin typeface="Consolas" pitchFamily="34" charset="0"/>
                <a:ea typeface="Consolas" pitchFamily="34" charset="-122"/>
                <a:cs typeface="Consolas" pitchFamily="34" charset="-120"/>
              </a:rPr>
              <a:t>name  = "Diesel Jeans"</a:t>
            </a:r>
            <a:endParaRPr lang="en-US" sz="1250" dirty="0"/>
          </a:p>
          <a:p>
            <a:pPr marL="0" indent="0">
              <a:lnSpc>
                <a:spcPts val="1700"/>
              </a:lnSpc>
              <a:buNone/>
            </a:pPr>
            <a:r>
              <a:rPr lang="en-US" sz="1250" dirty="0">
                <a:solidFill>
                  <a:srgbClr val="E9E8E4"/>
                </a:solidFill>
                <a:latin typeface="Consolas" pitchFamily="34" charset="0"/>
                <a:ea typeface="Consolas" pitchFamily="34" charset="-122"/>
                <a:cs typeface="Consolas" pitchFamily="34" charset="-120"/>
              </a:rPr>
              <a:t>price = 390000</a:t>
            </a:r>
            <a:endParaRPr lang="en-US" sz="1250" dirty="0"/>
          </a:p>
          <a:p>
            <a:pPr marL="0" indent="0">
              <a:lnSpc>
                <a:spcPts val="1700"/>
              </a:lnSpc>
              <a:buNone/>
            </a:pPr>
            <a:r>
              <a:rPr lang="en-US" sz="1250" dirty="0">
                <a:solidFill>
                  <a:srgbClr val="E9E8E4"/>
                </a:solidFill>
                <a:latin typeface="Consolas" pitchFamily="34" charset="0"/>
                <a:ea typeface="Consolas" pitchFamily="34" charset="-122"/>
                <a:cs typeface="Consolas" pitchFamily="34" charset="-120"/>
              </a:rPr>
              <a:t>stock = 5</a:t>
            </a:r>
            <a:endParaRPr lang="en-US" sz="1250" dirty="0"/>
          </a:p>
        </p:txBody>
      </p:sp>
      <p:sp>
        <p:nvSpPr>
          <p:cNvPr id="20" name="Shape 18"/>
          <p:cNvSpPr/>
          <p:nvPr/>
        </p:nvSpPr>
        <p:spPr>
          <a:xfrm>
            <a:off x="8915400" y="2148840"/>
            <a:ext cx="2590495" cy="1371600"/>
          </a:xfrm>
          <a:prstGeom prst="roundRect">
            <a:avLst>
              <a:gd name="adj" fmla="val 4000"/>
            </a:avLst>
          </a:prstGeom>
          <a:solidFill>
            <a:srgbClr val="FBE7E2"/>
          </a:solidFill>
          <a:ln w="12700">
            <a:solidFill>
              <a:srgbClr val="FBE7E2"/>
            </a:solidFill>
            <a:prstDash val="solid"/>
          </a:ln>
        </p:spPr>
      </p:sp>
      <p:sp>
        <p:nvSpPr>
          <p:cNvPr id="21" name="Text 19"/>
          <p:cNvSpPr txBox="1"/>
          <p:nvPr/>
        </p:nvSpPr>
        <p:spPr>
          <a:xfrm>
            <a:off x="9189720" y="2148840"/>
            <a:ext cx="2041855" cy="1371600"/>
          </a:xfrm>
          <a:prstGeom prst="rect">
            <a:avLst/>
          </a:prstGeom>
          <a:noFill/>
          <a:ln/>
        </p:spPr>
        <p:txBody>
          <a:bodyPr wrap="square" lIns="0" tIns="0" rIns="0" bIns="0" rtlCol="0" anchor="ctr"/>
          <a:lstStyle/>
          <a:p>
            <a:pPr marL="0" indent="0">
              <a:lnSpc>
                <a:spcPts val="2600"/>
              </a:lnSpc>
              <a:buNone/>
            </a:pPr>
            <a:r>
              <a:rPr lang="en-US" sz="1800" b="1" dirty="0">
                <a:solidFill>
                  <a:srgbClr val="A6301A"/>
                </a:solidFill>
                <a:latin typeface="맑은 고딕" pitchFamily="34" charset="0"/>
                <a:ea typeface="맑은 고딕" pitchFamily="34" charset="-122"/>
                <a:cs typeface="맑은 고딕" pitchFamily="34" charset="-120"/>
              </a:rPr>
              <a:t>new 2번</a:t>
            </a:r>
            <a:endParaRPr lang="en-US" sz="1800" dirty="0"/>
          </a:p>
          <a:p>
            <a:pPr marL="0" indent="0">
              <a:lnSpc>
                <a:spcPts val="2600"/>
              </a:lnSpc>
              <a:buNone/>
            </a:pPr>
            <a:r>
              <a:rPr lang="en-US" sz="1800" b="1" dirty="0">
                <a:solidFill>
                  <a:srgbClr val="A6301A"/>
                </a:solidFill>
                <a:latin typeface="맑은 고딕" pitchFamily="34" charset="0"/>
                <a:ea typeface="맑은 고딕" pitchFamily="34" charset="-122"/>
                <a:cs typeface="맑은 고딕" pitchFamily="34" charset="-120"/>
              </a:rPr>
              <a:t>= 객체 2개</a:t>
            </a:r>
            <a:endParaRPr lang="en-US" sz="1800" dirty="0"/>
          </a:p>
        </p:txBody>
      </p:sp>
      <p:sp>
        <p:nvSpPr>
          <p:cNvPr id="22" name="Shape 20"/>
          <p:cNvSpPr/>
          <p:nvPr/>
        </p:nvSpPr>
        <p:spPr>
          <a:xfrm>
            <a:off x="8915400" y="3840480"/>
            <a:ext cx="2590495" cy="1371600"/>
          </a:xfrm>
          <a:prstGeom prst="roundRect">
            <a:avLst>
              <a:gd name="adj" fmla="val 4000"/>
            </a:avLst>
          </a:prstGeom>
          <a:solidFill>
            <a:srgbClr val="F3F2F0"/>
          </a:solidFill>
          <a:ln w="12700">
            <a:solidFill>
              <a:srgbClr val="F3F2F0"/>
            </a:solidFill>
            <a:prstDash val="solid"/>
          </a:ln>
        </p:spPr>
      </p:sp>
      <p:sp>
        <p:nvSpPr>
          <p:cNvPr id="23" name="Text 21"/>
          <p:cNvSpPr txBox="1"/>
          <p:nvPr/>
        </p:nvSpPr>
        <p:spPr>
          <a:xfrm>
            <a:off x="9189720" y="3840480"/>
            <a:ext cx="2041855" cy="1371600"/>
          </a:xfrm>
          <a:prstGeom prst="rect">
            <a:avLst/>
          </a:prstGeom>
          <a:noFill/>
          <a:ln/>
        </p:spPr>
        <p:txBody>
          <a:bodyPr wrap="square" lIns="0" tIns="0" rIns="0" bIns="0" rtlCol="0" anchor="ctr"/>
          <a:lstStyle/>
          <a:p>
            <a:pPr marL="0" indent="0">
              <a:lnSpc>
                <a:spcPts val="2600"/>
              </a:lnSpc>
              <a:buNone/>
            </a:pPr>
            <a:r>
              <a:rPr lang="en-US" sz="1800" b="1" dirty="0">
                <a:solidFill>
                  <a:srgbClr val="111214"/>
                </a:solidFill>
                <a:latin typeface="맑은 고딕" pitchFamily="34" charset="0"/>
                <a:ea typeface="맑은 고딕" pitchFamily="34" charset="-122"/>
                <a:cs typeface="맑은 고딕" pitchFamily="34" charset="-120"/>
              </a:rPr>
              <a:t>같은 설계도,</a:t>
            </a:r>
            <a:endParaRPr lang="en-US" sz="1800" dirty="0"/>
          </a:p>
          <a:p>
            <a:pPr marL="0" indent="0">
              <a:lnSpc>
                <a:spcPts val="2600"/>
              </a:lnSpc>
              <a:buNone/>
            </a:pPr>
            <a:r>
              <a:rPr lang="en-US" sz="1800" b="1" dirty="0">
                <a:solidFill>
                  <a:srgbClr val="111214"/>
                </a:solidFill>
                <a:latin typeface="맑은 고딕" pitchFamily="34" charset="0"/>
                <a:ea typeface="맑은 고딕" pitchFamily="34" charset="-122"/>
                <a:cs typeface="맑은 고딕" pitchFamily="34" charset="-120"/>
              </a:rPr>
              <a:t>독립된 값</a:t>
            </a:r>
            <a:endParaRPr lang="en-US" sz="1800" dirty="0"/>
          </a:p>
        </p:txBody>
      </p:sp>
      <p:sp>
        <p:nvSpPr>
          <p:cNvPr id="24" name="Text 22"/>
          <p:cNvSpPr txBox="1"/>
          <p:nvPr/>
        </p:nvSpPr>
        <p:spPr>
          <a:xfrm>
            <a:off x="685800" y="5760720"/>
            <a:ext cx="10820095" cy="320040"/>
          </a:xfrm>
          <a:prstGeom prst="rect">
            <a:avLst/>
          </a:prstGeom>
          <a:noFill/>
          <a:ln/>
        </p:spPr>
        <p:txBody>
          <a:bodyPr wrap="square" lIns="0" tIns="0" rIns="0" bIns="0" rtlCol="0" anchor="ctr"/>
          <a:lstStyle/>
          <a:p>
            <a:pPr marL="0" indent="0">
              <a:buNone/>
            </a:pPr>
            <a:r>
              <a:rPr lang="en-US" sz="1300" dirty="0">
                <a:solidFill>
                  <a:srgbClr val="6E6E73"/>
                </a:solidFill>
                <a:latin typeface="맑은 고딕" pitchFamily="34" charset="0"/>
                <a:ea typeface="맑은 고딕" pitchFamily="34" charset="-122"/>
                <a:cs typeface="맑은 고딕" pitchFamily="34" charset="-120"/>
              </a:rPr>
              <a:t>product1을 바꿔도 product2는 영향을 받지 않습니다</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85800" y="384048"/>
            <a:ext cx="1005840" cy="292608"/>
          </a:xfrm>
          <a:prstGeom prst="roundRect">
            <a:avLst>
              <a:gd name="adj" fmla="val 50000"/>
            </a:avLst>
          </a:prstGeom>
          <a:solidFill>
            <a:srgbClr val="FBE7E2"/>
          </a:solidFill>
          <a:ln w="12700">
            <a:solidFill>
              <a:srgbClr val="FBE7E2"/>
            </a:solidFill>
            <a:prstDash val="solid"/>
          </a:ln>
        </p:spPr>
      </p:sp>
      <p:sp>
        <p:nvSpPr>
          <p:cNvPr id="3" name="Text 1"/>
          <p:cNvSpPr txBox="1"/>
          <p:nvPr/>
        </p:nvSpPr>
        <p:spPr>
          <a:xfrm>
            <a:off x="685800" y="384048"/>
            <a:ext cx="1005840" cy="292608"/>
          </a:xfrm>
          <a:prstGeom prst="rect">
            <a:avLst/>
          </a:prstGeom>
          <a:noFill/>
          <a:ln/>
        </p:spPr>
        <p:txBody>
          <a:bodyPr wrap="square" lIns="0" tIns="0" rIns="0" bIns="0" rtlCol="0" anchor="ctr"/>
          <a:lstStyle/>
          <a:p>
            <a:pPr marL="0" indent="0" algn="ctr">
              <a:buNone/>
            </a:pPr>
            <a:r>
              <a:rPr lang="en-US" sz="1100" b="1" dirty="0">
                <a:solidFill>
                  <a:srgbClr val="E8482B"/>
                </a:solidFill>
                <a:latin typeface="맑은 고딕" pitchFamily="34" charset="0"/>
                <a:ea typeface="맑은 고딕" pitchFamily="34" charset="-122"/>
                <a:cs typeface="맑은 고딕" pitchFamily="34" charset="-120"/>
              </a:rPr>
              <a:t>생성자</a:t>
            </a:r>
            <a:endParaRPr lang="en-US" sz="1100" dirty="0"/>
          </a:p>
        </p:txBody>
      </p:sp>
      <p:sp>
        <p:nvSpPr>
          <p:cNvPr id="4" name="Text 2"/>
          <p:cNvSpPr txBox="1"/>
          <p:nvPr/>
        </p:nvSpPr>
        <p:spPr>
          <a:xfrm>
            <a:off x="685800" y="713232"/>
            <a:ext cx="10820095" cy="603504"/>
          </a:xfrm>
          <a:prstGeom prst="rect">
            <a:avLst/>
          </a:prstGeom>
          <a:noFill/>
          <a:ln/>
        </p:spPr>
        <p:txBody>
          <a:bodyPr wrap="square" lIns="0" tIns="0" rIns="0" bIns="0" rtlCol="0" anchor="ctr"/>
          <a:lstStyle/>
          <a:p>
            <a:pPr marL="0" indent="0">
              <a:buNone/>
            </a:pPr>
            <a:r>
              <a:rPr lang="en-US" sz="3400" b="1" dirty="0">
                <a:solidFill>
                  <a:srgbClr val="111214"/>
                </a:solidFill>
                <a:latin typeface="맑은 고딕" pitchFamily="34" charset="0"/>
                <a:ea typeface="맑은 고딕" pitchFamily="34" charset="-122"/>
                <a:cs typeface="맑은 고딕" pitchFamily="34" charset="-120"/>
              </a:rPr>
              <a:t>생성자 — 객체의 첫 상태를 정한다</a:t>
            </a:r>
            <a:endParaRPr lang="en-US" sz="3400" dirty="0"/>
          </a:p>
        </p:txBody>
      </p:sp>
      <p:sp>
        <p:nvSpPr>
          <p:cNvPr id="5" name="Text 3"/>
          <p:cNvSpPr txBox="1"/>
          <p:nvPr/>
        </p:nvSpPr>
        <p:spPr>
          <a:xfrm>
            <a:off x="685800" y="1316736"/>
            <a:ext cx="10820095" cy="310896"/>
          </a:xfrm>
          <a:prstGeom prst="rect">
            <a:avLst/>
          </a:prstGeom>
          <a:noFill/>
          <a:ln/>
        </p:spPr>
        <p:txBody>
          <a:bodyPr wrap="square" lIns="0" tIns="0" rIns="0" bIns="0" rtlCol="0" anchor="ctr"/>
          <a:lstStyle/>
          <a:p>
            <a:pPr marL="0" indent="0">
              <a:buNone/>
            </a:pPr>
            <a:r>
              <a:rPr lang="en-US" sz="1400" dirty="0">
                <a:solidFill>
                  <a:srgbClr val="6E6E73"/>
                </a:solidFill>
                <a:latin typeface="맑은 고딕" pitchFamily="34" charset="0"/>
                <a:ea typeface="맑은 고딕" pitchFamily="34" charset="-122"/>
                <a:cs typeface="맑은 고딕" pitchFamily="34" charset="-120"/>
              </a:rPr>
              <a:t>new 할 때 자동으로 호출되는 부분</a:t>
            </a:r>
            <a:endParaRPr lang="en-US" sz="1400" dirty="0"/>
          </a:p>
        </p:txBody>
      </p:sp>
      <p:sp>
        <p:nvSpPr>
          <p:cNvPr id="6" name="Shape 4"/>
          <p:cNvSpPr/>
          <p:nvPr/>
        </p:nvSpPr>
        <p:spPr>
          <a:xfrm>
            <a:off x="685800" y="2103120"/>
            <a:ext cx="5669280" cy="1737868"/>
          </a:xfrm>
          <a:prstGeom prst="roundRect">
            <a:avLst>
              <a:gd name="adj" fmla="val 4209"/>
            </a:avLst>
          </a:prstGeom>
          <a:solidFill>
            <a:srgbClr val="17181C"/>
          </a:solidFill>
          <a:ln w="12700">
            <a:solidFill>
              <a:srgbClr val="17181C"/>
            </a:solidFill>
            <a:prstDash val="solid"/>
          </a:ln>
        </p:spPr>
      </p:sp>
      <p:sp>
        <p:nvSpPr>
          <p:cNvPr id="7" name="Text 5"/>
          <p:cNvSpPr txBox="1"/>
          <p:nvPr/>
        </p:nvSpPr>
        <p:spPr>
          <a:xfrm>
            <a:off x="923544" y="2295144"/>
            <a:ext cx="5193792" cy="1353820"/>
          </a:xfrm>
          <a:prstGeom prst="rect">
            <a:avLst/>
          </a:prstGeom>
          <a:noFill/>
          <a:ln/>
        </p:spPr>
        <p:txBody>
          <a:bodyPr wrap="square" lIns="0" tIns="0" rIns="0" bIns="0" rtlCol="0" anchor="t"/>
          <a:lstStyle/>
          <a:p>
            <a:pPr marL="0" indent="0">
              <a:lnSpc>
                <a:spcPts val="1988"/>
              </a:lnSpc>
              <a:buNone/>
            </a:pPr>
            <a:r>
              <a:rPr lang="en-US" sz="1400" b="1" dirty="0">
                <a:solidFill>
                  <a:srgbClr val="FF8A66"/>
                </a:solidFill>
                <a:latin typeface="Consolas" pitchFamily="34" charset="0"/>
                <a:ea typeface="Consolas" pitchFamily="34" charset="-122"/>
                <a:cs typeface="Consolas" pitchFamily="34" charset="-120"/>
              </a:rPr>
              <a:t>Product</a:t>
            </a:r>
            <a:r>
              <a:rPr lang="en-US" sz="1400" dirty="0">
                <a:solidFill>
                  <a:srgbClr val="E9E8E4"/>
                </a:solidFill>
                <a:latin typeface="Consolas" pitchFamily="34" charset="0"/>
                <a:ea typeface="Consolas" pitchFamily="34" charset="-122"/>
                <a:cs typeface="Consolas" pitchFamily="34" charset="-120"/>
              </a:rPr>
              <a:t>(String name, int price, int stock) {</a:t>
            </a:r>
            <a:endParaRPr lang="en-US" sz="1400" dirty="0"/>
          </a:p>
          <a:p>
            <a:pPr marL="0" indent="0">
              <a:lnSpc>
                <a:spcPts val="1988"/>
              </a:lnSpc>
              <a:buNone/>
            </a:pPr>
            <a:r>
              <a:rPr lang="en-US" sz="1400" dirty="0">
                <a:solidFill>
                  <a:srgbClr val="FF8A66"/>
                </a:solidFill>
                <a:latin typeface="Consolas" pitchFamily="34" charset="0"/>
                <a:ea typeface="Consolas" pitchFamily="34" charset="-122"/>
                <a:cs typeface="Consolas" pitchFamily="34" charset="-120"/>
              </a:rPr>
              <a:t>    this</a:t>
            </a:r>
            <a:r>
              <a:rPr lang="en-US" sz="1400" dirty="0">
                <a:solidFill>
                  <a:srgbClr val="E9E8E4"/>
                </a:solidFill>
                <a:latin typeface="Consolas" pitchFamily="34" charset="0"/>
                <a:ea typeface="Consolas" pitchFamily="34" charset="-122"/>
                <a:cs typeface="Consolas" pitchFamily="34" charset="-120"/>
              </a:rPr>
              <a:t>.name  = name;</a:t>
            </a:r>
            <a:endParaRPr lang="en-US" sz="1400" dirty="0"/>
          </a:p>
          <a:p>
            <a:pPr marL="0" indent="0">
              <a:lnSpc>
                <a:spcPts val="1988"/>
              </a:lnSpc>
              <a:buNone/>
            </a:pPr>
            <a:r>
              <a:rPr lang="en-US" sz="1400" dirty="0">
                <a:solidFill>
                  <a:srgbClr val="FF8A66"/>
                </a:solidFill>
                <a:latin typeface="Consolas" pitchFamily="34" charset="0"/>
                <a:ea typeface="Consolas" pitchFamily="34" charset="-122"/>
                <a:cs typeface="Consolas" pitchFamily="34" charset="-120"/>
              </a:rPr>
              <a:t>    this</a:t>
            </a:r>
            <a:r>
              <a:rPr lang="en-US" sz="1400" dirty="0">
                <a:solidFill>
                  <a:srgbClr val="E9E8E4"/>
                </a:solidFill>
                <a:latin typeface="Consolas" pitchFamily="34" charset="0"/>
                <a:ea typeface="Consolas" pitchFamily="34" charset="-122"/>
                <a:cs typeface="Consolas" pitchFamily="34" charset="-120"/>
              </a:rPr>
              <a:t>.price = price;</a:t>
            </a:r>
            <a:endParaRPr lang="en-US" sz="1400" dirty="0"/>
          </a:p>
          <a:p>
            <a:pPr marL="0" indent="0">
              <a:lnSpc>
                <a:spcPts val="1988"/>
              </a:lnSpc>
              <a:buNone/>
            </a:pPr>
            <a:r>
              <a:rPr lang="en-US" sz="1400" dirty="0">
                <a:solidFill>
                  <a:srgbClr val="FF8A66"/>
                </a:solidFill>
                <a:latin typeface="Consolas" pitchFamily="34" charset="0"/>
                <a:ea typeface="Consolas" pitchFamily="34" charset="-122"/>
                <a:cs typeface="Consolas" pitchFamily="34" charset="-120"/>
              </a:rPr>
              <a:t>    this</a:t>
            </a:r>
            <a:r>
              <a:rPr lang="en-US" sz="1400" dirty="0">
                <a:solidFill>
                  <a:srgbClr val="E9E8E4"/>
                </a:solidFill>
                <a:latin typeface="Consolas" pitchFamily="34" charset="0"/>
                <a:ea typeface="Consolas" pitchFamily="34" charset="-122"/>
                <a:cs typeface="Consolas" pitchFamily="34" charset="-120"/>
              </a:rPr>
              <a:t>.stock = stock;</a:t>
            </a:r>
            <a:endParaRPr lang="en-US" sz="1400" dirty="0"/>
          </a:p>
          <a:p>
            <a:pPr marL="0" indent="0">
              <a:lnSpc>
                <a:spcPts val="1988"/>
              </a:lnSpc>
              <a:buNone/>
            </a:pPr>
            <a:r>
              <a:rPr lang="en-US" sz="1400" dirty="0">
                <a:solidFill>
                  <a:srgbClr val="E9E8E4"/>
                </a:solidFill>
                <a:latin typeface="Consolas" pitchFamily="34" charset="0"/>
                <a:ea typeface="Consolas" pitchFamily="34" charset="-122"/>
                <a:cs typeface="Consolas" pitchFamily="34" charset="-120"/>
              </a:rPr>
              <a:t>}</a:t>
            </a:r>
            <a:endParaRPr lang="en-US" sz="1400" dirty="0"/>
          </a:p>
        </p:txBody>
      </p:sp>
      <p:sp>
        <p:nvSpPr>
          <p:cNvPr id="8" name="Shape 6"/>
          <p:cNvSpPr/>
          <p:nvPr/>
        </p:nvSpPr>
        <p:spPr>
          <a:xfrm>
            <a:off x="731520" y="4325112"/>
            <a:ext cx="146304" cy="146304"/>
          </a:xfrm>
          <a:prstGeom prst="ellipse">
            <a:avLst/>
          </a:prstGeom>
          <a:solidFill>
            <a:srgbClr val="E8482B"/>
          </a:solidFill>
          <a:ln w="12700">
            <a:solidFill>
              <a:srgbClr val="E8482B"/>
            </a:solidFill>
            <a:prstDash val="solid"/>
          </a:ln>
        </p:spPr>
      </p:sp>
      <p:sp>
        <p:nvSpPr>
          <p:cNvPr id="9" name="Text 7"/>
          <p:cNvSpPr txBox="1"/>
          <p:nvPr/>
        </p:nvSpPr>
        <p:spPr>
          <a:xfrm>
            <a:off x="1069848" y="4206240"/>
            <a:ext cx="5394960" cy="384048"/>
          </a:xfrm>
          <a:prstGeom prst="rect">
            <a:avLst/>
          </a:prstGeom>
          <a:noFill/>
          <a:ln/>
        </p:spPr>
        <p:txBody>
          <a:bodyPr wrap="square" lIns="0" tIns="0" rIns="0" bIns="0" rtlCol="0" anchor="ctr"/>
          <a:lstStyle/>
          <a:p>
            <a:pPr marL="0" indent="0">
              <a:buNone/>
            </a:pPr>
            <a:r>
              <a:rPr lang="en-US" sz="1400" dirty="0">
                <a:solidFill>
                  <a:srgbClr val="111214"/>
                </a:solidFill>
                <a:latin typeface="맑은 고딕" pitchFamily="34" charset="0"/>
                <a:ea typeface="맑은 고딕" pitchFamily="34" charset="-122"/>
                <a:cs typeface="맑은 고딕" pitchFamily="34" charset="-120"/>
              </a:rPr>
              <a:t>이름이 클래스 이름과 같다</a:t>
            </a:r>
            <a:endParaRPr lang="en-US" sz="1400" dirty="0"/>
          </a:p>
        </p:txBody>
      </p:sp>
      <p:sp>
        <p:nvSpPr>
          <p:cNvPr id="10" name="Shape 8"/>
          <p:cNvSpPr/>
          <p:nvPr/>
        </p:nvSpPr>
        <p:spPr>
          <a:xfrm>
            <a:off x="731520" y="4892040"/>
            <a:ext cx="146304" cy="146304"/>
          </a:xfrm>
          <a:prstGeom prst="ellipse">
            <a:avLst/>
          </a:prstGeom>
          <a:solidFill>
            <a:srgbClr val="E8482B"/>
          </a:solidFill>
          <a:ln w="12700">
            <a:solidFill>
              <a:srgbClr val="E8482B"/>
            </a:solidFill>
            <a:prstDash val="solid"/>
          </a:ln>
        </p:spPr>
      </p:sp>
      <p:sp>
        <p:nvSpPr>
          <p:cNvPr id="11" name="Text 9"/>
          <p:cNvSpPr txBox="1"/>
          <p:nvPr/>
        </p:nvSpPr>
        <p:spPr>
          <a:xfrm>
            <a:off x="1069848" y="4773168"/>
            <a:ext cx="5394960" cy="384048"/>
          </a:xfrm>
          <a:prstGeom prst="rect">
            <a:avLst/>
          </a:prstGeom>
          <a:noFill/>
          <a:ln/>
        </p:spPr>
        <p:txBody>
          <a:bodyPr wrap="square" lIns="0" tIns="0" rIns="0" bIns="0" rtlCol="0" anchor="ctr"/>
          <a:lstStyle/>
          <a:p>
            <a:pPr marL="0" indent="0">
              <a:buNone/>
            </a:pPr>
            <a:r>
              <a:rPr lang="en-US" sz="1400" dirty="0">
                <a:solidFill>
                  <a:srgbClr val="111214"/>
                </a:solidFill>
                <a:latin typeface="맑은 고딕" pitchFamily="34" charset="0"/>
                <a:ea typeface="맑은 고딕" pitchFamily="34" charset="-122"/>
                <a:cs typeface="맑은 고딕" pitchFamily="34" charset="-120"/>
              </a:rPr>
              <a:t>반환형을 쓰지 않는다</a:t>
            </a:r>
            <a:endParaRPr lang="en-US" sz="1400" dirty="0"/>
          </a:p>
        </p:txBody>
      </p:sp>
      <p:sp>
        <p:nvSpPr>
          <p:cNvPr id="12" name="Shape 10"/>
          <p:cNvSpPr/>
          <p:nvPr/>
        </p:nvSpPr>
        <p:spPr>
          <a:xfrm>
            <a:off x="731520" y="5458968"/>
            <a:ext cx="146304" cy="146304"/>
          </a:xfrm>
          <a:prstGeom prst="ellipse">
            <a:avLst/>
          </a:prstGeom>
          <a:solidFill>
            <a:srgbClr val="E8482B"/>
          </a:solidFill>
          <a:ln w="12700">
            <a:solidFill>
              <a:srgbClr val="E8482B"/>
            </a:solidFill>
            <a:prstDash val="solid"/>
          </a:ln>
        </p:spPr>
      </p:sp>
      <p:sp>
        <p:nvSpPr>
          <p:cNvPr id="13" name="Text 11"/>
          <p:cNvSpPr txBox="1"/>
          <p:nvPr/>
        </p:nvSpPr>
        <p:spPr>
          <a:xfrm>
            <a:off x="1069848" y="5340096"/>
            <a:ext cx="5394960" cy="384048"/>
          </a:xfrm>
          <a:prstGeom prst="rect">
            <a:avLst/>
          </a:prstGeom>
          <a:noFill/>
          <a:ln/>
        </p:spPr>
        <p:txBody>
          <a:bodyPr wrap="square" lIns="0" tIns="0" rIns="0" bIns="0" rtlCol="0" anchor="ctr"/>
          <a:lstStyle/>
          <a:p>
            <a:pPr marL="0" indent="0">
              <a:buNone/>
            </a:pPr>
            <a:r>
              <a:rPr lang="en-US" sz="1400" dirty="0">
                <a:solidFill>
                  <a:srgbClr val="111214"/>
                </a:solidFill>
                <a:latin typeface="맑은 고딕" pitchFamily="34" charset="0"/>
                <a:ea typeface="맑은 고딕" pitchFamily="34" charset="-122"/>
                <a:cs typeface="맑은 고딕" pitchFamily="34" charset="-120"/>
              </a:rPr>
              <a:t>new 할 때 자동으로 실행된다</a:t>
            </a:r>
            <a:endParaRPr lang="en-US" sz="1400" dirty="0"/>
          </a:p>
        </p:txBody>
      </p:sp>
      <p:sp>
        <p:nvSpPr>
          <p:cNvPr id="14" name="Shape 12"/>
          <p:cNvSpPr/>
          <p:nvPr/>
        </p:nvSpPr>
        <p:spPr>
          <a:xfrm>
            <a:off x="6629400" y="2103120"/>
            <a:ext cx="4876495" cy="3657600"/>
          </a:xfrm>
          <a:prstGeom prst="roundRect">
            <a:avLst>
              <a:gd name="adj" fmla="val 1500"/>
            </a:avLst>
          </a:prstGeom>
          <a:solidFill>
            <a:srgbClr val="F3F2F0"/>
          </a:solidFill>
          <a:ln w="12700">
            <a:solidFill>
              <a:srgbClr val="F3F2F0"/>
            </a:solidFill>
            <a:prstDash val="solid"/>
          </a:ln>
        </p:spPr>
      </p:sp>
      <p:sp>
        <p:nvSpPr>
          <p:cNvPr id="15" name="Text 13"/>
          <p:cNvSpPr txBox="1"/>
          <p:nvPr/>
        </p:nvSpPr>
        <p:spPr>
          <a:xfrm>
            <a:off x="6995160" y="2286000"/>
            <a:ext cx="4144975" cy="274320"/>
          </a:xfrm>
          <a:prstGeom prst="rect">
            <a:avLst/>
          </a:prstGeom>
          <a:noFill/>
          <a:ln/>
        </p:spPr>
        <p:txBody>
          <a:bodyPr wrap="square" lIns="0" tIns="0" rIns="0" bIns="0" rtlCol="0" anchor="ctr"/>
          <a:lstStyle/>
          <a:p>
            <a:pPr marL="0" indent="0">
              <a:buNone/>
            </a:pPr>
            <a:r>
              <a:rPr lang="en-US" sz="1200" b="1" dirty="0">
                <a:solidFill>
                  <a:srgbClr val="6E6E73"/>
                </a:solidFill>
                <a:latin typeface="맑은 고딕" pitchFamily="34" charset="0"/>
                <a:ea typeface="맑은 고딕" pitchFamily="34" charset="-122"/>
                <a:cs typeface="맑은 고딕" pitchFamily="34" charset="-120"/>
              </a:rPr>
              <a:t>값이 흘러가는 순서</a:t>
            </a:r>
            <a:endParaRPr lang="en-US" sz="1200" dirty="0"/>
          </a:p>
        </p:txBody>
      </p:sp>
      <p:sp>
        <p:nvSpPr>
          <p:cNvPr id="16" name="Shape 14"/>
          <p:cNvSpPr/>
          <p:nvPr/>
        </p:nvSpPr>
        <p:spPr>
          <a:xfrm>
            <a:off x="6995160" y="2697480"/>
            <a:ext cx="4144975" cy="566928"/>
          </a:xfrm>
          <a:prstGeom prst="roundRect">
            <a:avLst>
              <a:gd name="adj" fmla="val 9677"/>
            </a:avLst>
          </a:prstGeom>
          <a:solidFill>
            <a:srgbClr val="FFFFFF"/>
          </a:solidFill>
          <a:ln w="12700">
            <a:solidFill>
              <a:srgbClr val="DCDAD6"/>
            </a:solidFill>
            <a:prstDash val="solid"/>
          </a:ln>
        </p:spPr>
      </p:sp>
      <p:sp>
        <p:nvSpPr>
          <p:cNvPr id="17" name="Text 15"/>
          <p:cNvSpPr txBox="1"/>
          <p:nvPr/>
        </p:nvSpPr>
        <p:spPr>
          <a:xfrm>
            <a:off x="7196328" y="2697480"/>
            <a:ext cx="2011680" cy="566928"/>
          </a:xfrm>
          <a:prstGeom prst="rect">
            <a:avLst/>
          </a:prstGeom>
          <a:noFill/>
          <a:ln/>
        </p:spPr>
        <p:txBody>
          <a:bodyPr wrap="square" lIns="0" tIns="0" rIns="0" bIns="0" rtlCol="0" anchor="ctr"/>
          <a:lstStyle/>
          <a:p>
            <a:pPr marL="0" indent="0">
              <a:buNone/>
            </a:pPr>
            <a:r>
              <a:rPr lang="en-US" sz="1300" b="1" dirty="0">
                <a:solidFill>
                  <a:srgbClr val="111214"/>
                </a:solidFill>
                <a:latin typeface="Consolas" pitchFamily="34" charset="0"/>
                <a:ea typeface="Consolas" pitchFamily="34" charset="-122"/>
                <a:cs typeface="Consolas" pitchFamily="34" charset="-120"/>
              </a:rPr>
              <a:t>450000</a:t>
            </a:r>
            <a:endParaRPr lang="en-US" sz="1300" dirty="0"/>
          </a:p>
        </p:txBody>
      </p:sp>
      <p:sp>
        <p:nvSpPr>
          <p:cNvPr id="18" name="Text 16"/>
          <p:cNvSpPr txBox="1"/>
          <p:nvPr/>
        </p:nvSpPr>
        <p:spPr>
          <a:xfrm>
            <a:off x="9235440" y="2697480"/>
            <a:ext cx="1813255" cy="566928"/>
          </a:xfrm>
          <a:prstGeom prst="rect">
            <a:avLst/>
          </a:prstGeom>
          <a:noFill/>
          <a:ln/>
        </p:spPr>
        <p:txBody>
          <a:bodyPr wrap="square" lIns="0" tIns="0" rIns="0" bIns="0" rtlCol="0" anchor="ctr"/>
          <a:lstStyle/>
          <a:p>
            <a:pPr marL="0" indent="0">
              <a:lnSpc>
                <a:spcPts val="1400"/>
              </a:lnSpc>
              <a:buNone/>
            </a:pPr>
            <a:r>
              <a:rPr lang="en-US" sz="1100" dirty="0">
                <a:solidFill>
                  <a:srgbClr val="6E6E73"/>
                </a:solidFill>
                <a:latin typeface="맑은 고딕" pitchFamily="34" charset="0"/>
                <a:ea typeface="맑은 고딕" pitchFamily="34" charset="-122"/>
                <a:cs typeface="맑은 고딕" pitchFamily="34" charset="-120"/>
              </a:rPr>
              <a:t>new Product(...)에 넘긴 값 — 인자</a:t>
            </a:r>
            <a:endParaRPr lang="en-US" sz="1100" dirty="0"/>
          </a:p>
        </p:txBody>
      </p:sp>
      <p:sp>
        <p:nvSpPr>
          <p:cNvPr id="19" name="Shape 17"/>
          <p:cNvSpPr/>
          <p:nvPr/>
        </p:nvSpPr>
        <p:spPr>
          <a:xfrm>
            <a:off x="7406640" y="3282696"/>
            <a:ext cx="0" cy="173736"/>
          </a:xfrm>
          <a:prstGeom prst="line">
            <a:avLst/>
          </a:prstGeom>
          <a:noFill/>
          <a:ln w="22225">
            <a:solidFill>
              <a:srgbClr val="E8482B"/>
            </a:solidFill>
            <a:prstDash val="solid"/>
            <a:tailEnd type="triangle"/>
          </a:ln>
        </p:spPr>
      </p:sp>
      <p:sp>
        <p:nvSpPr>
          <p:cNvPr id="20" name="Shape 18"/>
          <p:cNvSpPr/>
          <p:nvPr/>
        </p:nvSpPr>
        <p:spPr>
          <a:xfrm>
            <a:off x="6995160" y="3474720"/>
            <a:ext cx="4144975" cy="566928"/>
          </a:xfrm>
          <a:prstGeom prst="roundRect">
            <a:avLst>
              <a:gd name="adj" fmla="val 9677"/>
            </a:avLst>
          </a:prstGeom>
          <a:solidFill>
            <a:srgbClr val="FFFFFF"/>
          </a:solidFill>
          <a:ln w="12700">
            <a:solidFill>
              <a:srgbClr val="DCDAD6"/>
            </a:solidFill>
            <a:prstDash val="solid"/>
          </a:ln>
        </p:spPr>
      </p:sp>
      <p:sp>
        <p:nvSpPr>
          <p:cNvPr id="21" name="Text 19"/>
          <p:cNvSpPr txBox="1"/>
          <p:nvPr/>
        </p:nvSpPr>
        <p:spPr>
          <a:xfrm>
            <a:off x="7196328" y="3474720"/>
            <a:ext cx="2011680" cy="566928"/>
          </a:xfrm>
          <a:prstGeom prst="rect">
            <a:avLst/>
          </a:prstGeom>
          <a:noFill/>
          <a:ln/>
        </p:spPr>
        <p:txBody>
          <a:bodyPr wrap="square" lIns="0" tIns="0" rIns="0" bIns="0" rtlCol="0" anchor="ctr"/>
          <a:lstStyle/>
          <a:p>
            <a:pPr marL="0" indent="0">
              <a:buNone/>
            </a:pPr>
            <a:r>
              <a:rPr lang="en-US" sz="1300" b="1" dirty="0">
                <a:solidFill>
                  <a:srgbClr val="111214"/>
                </a:solidFill>
                <a:latin typeface="Consolas" pitchFamily="34" charset="0"/>
                <a:ea typeface="Consolas" pitchFamily="34" charset="-122"/>
                <a:cs typeface="Consolas" pitchFamily="34" charset="-120"/>
              </a:rPr>
              <a:t>price</a:t>
            </a:r>
            <a:endParaRPr lang="en-US" sz="1300" dirty="0"/>
          </a:p>
        </p:txBody>
      </p:sp>
      <p:sp>
        <p:nvSpPr>
          <p:cNvPr id="22" name="Text 20"/>
          <p:cNvSpPr txBox="1"/>
          <p:nvPr/>
        </p:nvSpPr>
        <p:spPr>
          <a:xfrm>
            <a:off x="9235440" y="3474720"/>
            <a:ext cx="1813255" cy="566928"/>
          </a:xfrm>
          <a:prstGeom prst="rect">
            <a:avLst/>
          </a:prstGeom>
          <a:noFill/>
          <a:ln/>
        </p:spPr>
        <p:txBody>
          <a:bodyPr wrap="square" lIns="0" tIns="0" rIns="0" bIns="0" rtlCol="0" anchor="ctr"/>
          <a:lstStyle/>
          <a:p>
            <a:pPr marL="0" indent="0">
              <a:lnSpc>
                <a:spcPts val="1400"/>
              </a:lnSpc>
              <a:buNone/>
            </a:pPr>
            <a:r>
              <a:rPr lang="en-US" sz="1100" dirty="0">
                <a:solidFill>
                  <a:srgbClr val="6E6E73"/>
                </a:solidFill>
                <a:latin typeface="맑은 고딕" pitchFamily="34" charset="0"/>
                <a:ea typeface="맑은 고딕" pitchFamily="34" charset="-122"/>
                <a:cs typeface="맑은 고딕" pitchFamily="34" charset="-120"/>
              </a:rPr>
              <a:t>생성자가 받은 값 — 매개변수</a:t>
            </a:r>
            <a:endParaRPr lang="en-US" sz="1100" dirty="0"/>
          </a:p>
        </p:txBody>
      </p:sp>
      <p:sp>
        <p:nvSpPr>
          <p:cNvPr id="23" name="Shape 21"/>
          <p:cNvSpPr/>
          <p:nvPr/>
        </p:nvSpPr>
        <p:spPr>
          <a:xfrm>
            <a:off x="7406640" y="4059936"/>
            <a:ext cx="0" cy="173736"/>
          </a:xfrm>
          <a:prstGeom prst="line">
            <a:avLst/>
          </a:prstGeom>
          <a:noFill/>
          <a:ln w="22225">
            <a:solidFill>
              <a:srgbClr val="E8482B"/>
            </a:solidFill>
            <a:prstDash val="solid"/>
            <a:tailEnd type="triangle"/>
          </a:ln>
        </p:spPr>
      </p:sp>
      <p:sp>
        <p:nvSpPr>
          <p:cNvPr id="24" name="Shape 22"/>
          <p:cNvSpPr/>
          <p:nvPr/>
        </p:nvSpPr>
        <p:spPr>
          <a:xfrm>
            <a:off x="6995160" y="4251960"/>
            <a:ext cx="4144975" cy="566928"/>
          </a:xfrm>
          <a:prstGeom prst="roundRect">
            <a:avLst>
              <a:gd name="adj" fmla="val 9677"/>
            </a:avLst>
          </a:prstGeom>
          <a:solidFill>
            <a:srgbClr val="FFFFFF"/>
          </a:solidFill>
          <a:ln w="12700">
            <a:solidFill>
              <a:srgbClr val="DCDAD6"/>
            </a:solidFill>
            <a:prstDash val="solid"/>
          </a:ln>
        </p:spPr>
      </p:sp>
      <p:sp>
        <p:nvSpPr>
          <p:cNvPr id="25" name="Text 23"/>
          <p:cNvSpPr txBox="1"/>
          <p:nvPr/>
        </p:nvSpPr>
        <p:spPr>
          <a:xfrm>
            <a:off x="7196328" y="4251960"/>
            <a:ext cx="2011680" cy="566928"/>
          </a:xfrm>
          <a:prstGeom prst="rect">
            <a:avLst/>
          </a:prstGeom>
          <a:noFill/>
          <a:ln/>
        </p:spPr>
        <p:txBody>
          <a:bodyPr wrap="square" lIns="0" tIns="0" rIns="0" bIns="0" rtlCol="0" anchor="ctr"/>
          <a:lstStyle/>
          <a:p>
            <a:pPr marL="0" indent="0">
              <a:buNone/>
            </a:pPr>
            <a:r>
              <a:rPr lang="en-US" sz="1300" b="1" dirty="0">
                <a:solidFill>
                  <a:srgbClr val="111214"/>
                </a:solidFill>
                <a:latin typeface="Consolas" pitchFamily="34" charset="0"/>
                <a:ea typeface="Consolas" pitchFamily="34" charset="-122"/>
                <a:cs typeface="Consolas" pitchFamily="34" charset="-120"/>
              </a:rPr>
              <a:t>this.price</a:t>
            </a:r>
            <a:endParaRPr lang="en-US" sz="1300" dirty="0"/>
          </a:p>
        </p:txBody>
      </p:sp>
      <p:sp>
        <p:nvSpPr>
          <p:cNvPr id="26" name="Text 24"/>
          <p:cNvSpPr txBox="1"/>
          <p:nvPr/>
        </p:nvSpPr>
        <p:spPr>
          <a:xfrm>
            <a:off x="9235440" y="4251960"/>
            <a:ext cx="1813255" cy="566928"/>
          </a:xfrm>
          <a:prstGeom prst="rect">
            <a:avLst/>
          </a:prstGeom>
          <a:noFill/>
          <a:ln/>
        </p:spPr>
        <p:txBody>
          <a:bodyPr wrap="square" lIns="0" tIns="0" rIns="0" bIns="0" rtlCol="0" anchor="ctr"/>
          <a:lstStyle/>
          <a:p>
            <a:pPr marL="0" indent="0">
              <a:lnSpc>
                <a:spcPts val="1400"/>
              </a:lnSpc>
              <a:buNone/>
            </a:pPr>
            <a:r>
              <a:rPr lang="en-US" sz="1100" dirty="0">
                <a:solidFill>
                  <a:srgbClr val="6E6E73"/>
                </a:solidFill>
                <a:latin typeface="맑은 고딕" pitchFamily="34" charset="0"/>
                <a:ea typeface="맑은 고딕" pitchFamily="34" charset="-122"/>
                <a:cs typeface="맑은 고딕" pitchFamily="34" charset="-120"/>
              </a:rPr>
              <a:t>지금 만들어지는 객체의 필드</a:t>
            </a:r>
            <a:endParaRPr lang="en-US" sz="1100" dirty="0"/>
          </a:p>
        </p:txBody>
      </p:sp>
      <p:sp>
        <p:nvSpPr>
          <p:cNvPr id="27" name="Shape 25"/>
          <p:cNvSpPr/>
          <p:nvPr/>
        </p:nvSpPr>
        <p:spPr>
          <a:xfrm>
            <a:off x="7406640" y="4837176"/>
            <a:ext cx="0" cy="173736"/>
          </a:xfrm>
          <a:prstGeom prst="line">
            <a:avLst/>
          </a:prstGeom>
          <a:noFill/>
          <a:ln w="22225">
            <a:solidFill>
              <a:srgbClr val="E8482B"/>
            </a:solidFill>
            <a:prstDash val="solid"/>
            <a:tailEnd type="triangle"/>
          </a:ln>
        </p:spPr>
      </p:sp>
      <p:sp>
        <p:nvSpPr>
          <p:cNvPr id="28" name="Shape 26"/>
          <p:cNvSpPr/>
          <p:nvPr/>
        </p:nvSpPr>
        <p:spPr>
          <a:xfrm>
            <a:off x="6995160" y="5029200"/>
            <a:ext cx="4144975" cy="566928"/>
          </a:xfrm>
          <a:prstGeom prst="roundRect">
            <a:avLst>
              <a:gd name="adj" fmla="val 9677"/>
            </a:avLst>
          </a:prstGeom>
          <a:solidFill>
            <a:srgbClr val="FFFFFF"/>
          </a:solidFill>
          <a:ln w="12700">
            <a:solidFill>
              <a:srgbClr val="E8482B"/>
            </a:solidFill>
            <a:prstDash val="solid"/>
          </a:ln>
        </p:spPr>
      </p:sp>
      <p:sp>
        <p:nvSpPr>
          <p:cNvPr id="29" name="Text 27"/>
          <p:cNvSpPr txBox="1"/>
          <p:nvPr/>
        </p:nvSpPr>
        <p:spPr>
          <a:xfrm>
            <a:off x="7196328" y="5029200"/>
            <a:ext cx="2011680" cy="566928"/>
          </a:xfrm>
          <a:prstGeom prst="rect">
            <a:avLst/>
          </a:prstGeom>
          <a:noFill/>
          <a:ln/>
        </p:spPr>
        <p:txBody>
          <a:bodyPr wrap="square" lIns="0" tIns="0" rIns="0" bIns="0" rtlCol="0" anchor="ctr"/>
          <a:lstStyle/>
          <a:p>
            <a:pPr marL="0" indent="0">
              <a:buNone/>
            </a:pPr>
            <a:r>
              <a:rPr lang="en-US" sz="1300" b="1" dirty="0">
                <a:solidFill>
                  <a:srgbClr val="E8482B"/>
                </a:solidFill>
                <a:latin typeface="Consolas" pitchFamily="34" charset="0"/>
                <a:ea typeface="Consolas" pitchFamily="34" charset="-122"/>
                <a:cs typeface="Consolas" pitchFamily="34" charset="-120"/>
              </a:rPr>
              <a:t>price = 450000</a:t>
            </a:r>
            <a:endParaRPr lang="en-US" sz="1300" dirty="0"/>
          </a:p>
        </p:txBody>
      </p:sp>
      <p:sp>
        <p:nvSpPr>
          <p:cNvPr id="30" name="Text 28"/>
          <p:cNvSpPr txBox="1"/>
          <p:nvPr/>
        </p:nvSpPr>
        <p:spPr>
          <a:xfrm>
            <a:off x="9235440" y="5029200"/>
            <a:ext cx="1813255" cy="566928"/>
          </a:xfrm>
          <a:prstGeom prst="rect">
            <a:avLst/>
          </a:prstGeom>
          <a:noFill/>
          <a:ln/>
        </p:spPr>
        <p:txBody>
          <a:bodyPr wrap="square" lIns="0" tIns="0" rIns="0" bIns="0" rtlCol="0" anchor="ctr"/>
          <a:lstStyle/>
          <a:p>
            <a:pPr marL="0" indent="0">
              <a:lnSpc>
                <a:spcPts val="1400"/>
              </a:lnSpc>
              <a:buNone/>
            </a:pPr>
            <a:r>
              <a:rPr lang="en-US" sz="1100" dirty="0">
                <a:solidFill>
                  <a:srgbClr val="6E6E73"/>
                </a:solidFill>
                <a:latin typeface="맑은 고딕" pitchFamily="34" charset="0"/>
                <a:ea typeface="맑은 고딕" pitchFamily="34" charset="-122"/>
                <a:cs typeface="맑은 고딕" pitchFamily="34" charset="-120"/>
              </a:rPr>
              <a:t>객체의 초기 상태 완성</a:t>
            </a:r>
            <a:endParaRPr lang="en-US" sz="1100" dirty="0"/>
          </a:p>
        </p:txBody>
      </p:sp>
      <p:sp>
        <p:nvSpPr>
          <p:cNvPr id="31" name="Text 29"/>
          <p:cNvSpPr txBox="1"/>
          <p:nvPr/>
        </p:nvSpPr>
        <p:spPr>
          <a:xfrm>
            <a:off x="685800" y="6035040"/>
            <a:ext cx="10820095" cy="320040"/>
          </a:xfrm>
          <a:prstGeom prst="rect">
            <a:avLst/>
          </a:prstGeom>
          <a:noFill/>
          <a:ln/>
        </p:spPr>
        <p:txBody>
          <a:bodyPr wrap="square" lIns="0" tIns="0" rIns="0" bIns="0" rtlCol="0" anchor="ctr"/>
          <a:lstStyle/>
          <a:p>
            <a:pPr marL="0" indent="0">
              <a:buNone/>
            </a:pPr>
            <a:r>
              <a:rPr lang="en-US" sz="1300" b="1" dirty="0">
                <a:solidFill>
                  <a:srgbClr val="111214"/>
                </a:solidFill>
                <a:latin typeface="맑은 고딕" pitchFamily="34" charset="0"/>
                <a:ea typeface="맑은 고딕" pitchFamily="34" charset="-122"/>
                <a:cs typeface="맑은 고딕" pitchFamily="34" charset="-120"/>
              </a:rPr>
              <a:t>왼쪽 this.price = 이 객체의 필드   /   오른쪽 price = 전달받은 값</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85800" y="384048"/>
            <a:ext cx="1005840" cy="292608"/>
          </a:xfrm>
          <a:prstGeom prst="roundRect">
            <a:avLst>
              <a:gd name="adj" fmla="val 50000"/>
            </a:avLst>
          </a:prstGeom>
          <a:solidFill>
            <a:srgbClr val="FBE7E2"/>
          </a:solidFill>
          <a:ln w="12700">
            <a:solidFill>
              <a:srgbClr val="FBE7E2"/>
            </a:solidFill>
            <a:prstDash val="solid"/>
          </a:ln>
        </p:spPr>
      </p:sp>
      <p:sp>
        <p:nvSpPr>
          <p:cNvPr id="3" name="Text 1"/>
          <p:cNvSpPr txBox="1"/>
          <p:nvPr/>
        </p:nvSpPr>
        <p:spPr>
          <a:xfrm>
            <a:off x="685800" y="384048"/>
            <a:ext cx="1005840" cy="292608"/>
          </a:xfrm>
          <a:prstGeom prst="rect">
            <a:avLst/>
          </a:prstGeom>
          <a:noFill/>
          <a:ln/>
        </p:spPr>
        <p:txBody>
          <a:bodyPr wrap="square" lIns="0" tIns="0" rIns="0" bIns="0" rtlCol="0" anchor="ctr"/>
          <a:lstStyle/>
          <a:p>
            <a:pPr marL="0" indent="0" algn="ctr">
              <a:buNone/>
            </a:pPr>
            <a:r>
              <a:rPr lang="en-US" sz="1100" b="1" dirty="0">
                <a:solidFill>
                  <a:srgbClr val="E8482B"/>
                </a:solidFill>
                <a:latin typeface="맑은 고딕" pitchFamily="34" charset="0"/>
                <a:ea typeface="맑은 고딕" pitchFamily="34" charset="-122"/>
                <a:cs typeface="맑은 고딕" pitchFamily="34" charset="-120"/>
              </a:rPr>
              <a:t>메서드</a:t>
            </a:r>
            <a:endParaRPr lang="en-US" sz="1100" dirty="0"/>
          </a:p>
        </p:txBody>
      </p:sp>
      <p:sp>
        <p:nvSpPr>
          <p:cNvPr id="4" name="Text 2"/>
          <p:cNvSpPr txBox="1"/>
          <p:nvPr/>
        </p:nvSpPr>
        <p:spPr>
          <a:xfrm>
            <a:off x="685800" y="713232"/>
            <a:ext cx="10820095" cy="603504"/>
          </a:xfrm>
          <a:prstGeom prst="rect">
            <a:avLst/>
          </a:prstGeom>
          <a:noFill/>
          <a:ln/>
        </p:spPr>
        <p:txBody>
          <a:bodyPr wrap="square" lIns="0" tIns="0" rIns="0" bIns="0" rtlCol="0" anchor="ctr"/>
          <a:lstStyle/>
          <a:p>
            <a:pPr marL="0" indent="0">
              <a:buNone/>
            </a:pPr>
            <a:r>
              <a:rPr lang="en-US" sz="3400" b="1" dirty="0">
                <a:solidFill>
                  <a:srgbClr val="111214"/>
                </a:solidFill>
                <a:latin typeface="맑은 고딕" pitchFamily="34" charset="0"/>
                <a:ea typeface="맑은 고딕" pitchFamily="34" charset="-122"/>
                <a:cs typeface="맑은 고딕" pitchFamily="34" charset="-120"/>
              </a:rPr>
              <a:t>메서드 — 객체가 할 수 있는 일</a:t>
            </a:r>
            <a:endParaRPr lang="en-US" sz="3400" dirty="0"/>
          </a:p>
        </p:txBody>
      </p:sp>
      <p:sp>
        <p:nvSpPr>
          <p:cNvPr id="5" name="Text 3"/>
          <p:cNvSpPr txBox="1"/>
          <p:nvPr/>
        </p:nvSpPr>
        <p:spPr>
          <a:xfrm>
            <a:off x="685800" y="1316736"/>
            <a:ext cx="10820095" cy="310896"/>
          </a:xfrm>
          <a:prstGeom prst="rect">
            <a:avLst/>
          </a:prstGeom>
          <a:noFill/>
          <a:ln/>
        </p:spPr>
        <p:txBody>
          <a:bodyPr wrap="square" lIns="0" tIns="0" rIns="0" bIns="0" rtlCol="0" anchor="ctr"/>
          <a:lstStyle/>
          <a:p>
            <a:pPr marL="0" indent="0">
              <a:buNone/>
            </a:pPr>
            <a:r>
              <a:rPr lang="en-US" sz="1400" dirty="0">
                <a:solidFill>
                  <a:srgbClr val="6E6E73"/>
                </a:solidFill>
                <a:latin typeface="맑은 고딕" pitchFamily="34" charset="0"/>
                <a:ea typeface="맑은 고딕" pitchFamily="34" charset="-122"/>
                <a:cs typeface="맑은 고딕" pitchFamily="34" charset="-120"/>
              </a:rPr>
              <a:t>데이터에 이어서, 이번엔 기능</a:t>
            </a:r>
            <a:endParaRPr lang="en-US" sz="1400" dirty="0"/>
          </a:p>
        </p:txBody>
      </p:sp>
      <p:sp>
        <p:nvSpPr>
          <p:cNvPr id="6" name="Shape 4"/>
          <p:cNvSpPr/>
          <p:nvPr/>
        </p:nvSpPr>
        <p:spPr>
          <a:xfrm>
            <a:off x="685800" y="2011680"/>
            <a:ext cx="5394960" cy="2377440"/>
          </a:xfrm>
          <a:prstGeom prst="roundRect">
            <a:avLst>
              <a:gd name="adj" fmla="val 2308"/>
            </a:avLst>
          </a:prstGeom>
          <a:solidFill>
            <a:srgbClr val="FFFFFF"/>
          </a:solidFill>
          <a:ln w="12700">
            <a:solidFill>
              <a:srgbClr val="DCDAD6"/>
            </a:solidFill>
            <a:prstDash val="solid"/>
          </a:ln>
        </p:spPr>
      </p:sp>
      <p:sp>
        <p:nvSpPr>
          <p:cNvPr id="7" name="Text 5"/>
          <p:cNvSpPr txBox="1"/>
          <p:nvPr/>
        </p:nvSpPr>
        <p:spPr>
          <a:xfrm>
            <a:off x="1005840" y="2194560"/>
            <a:ext cx="4754880" cy="320040"/>
          </a:xfrm>
          <a:prstGeom prst="rect">
            <a:avLst/>
          </a:prstGeom>
          <a:noFill/>
          <a:ln/>
        </p:spPr>
        <p:txBody>
          <a:bodyPr wrap="square" lIns="0" tIns="0" rIns="0" bIns="0" rtlCol="0" anchor="ctr"/>
          <a:lstStyle/>
          <a:p>
            <a:pPr marL="0" indent="0">
              <a:buNone/>
            </a:pPr>
            <a:r>
              <a:rPr lang="en-US" sz="1600" b="1" dirty="0">
                <a:solidFill>
                  <a:srgbClr val="E8482B"/>
                </a:solidFill>
                <a:latin typeface="Consolas" pitchFamily="34" charset="0"/>
                <a:ea typeface="Consolas" pitchFamily="34" charset="-122"/>
                <a:cs typeface="Consolas" pitchFamily="34" charset="-120"/>
              </a:rPr>
              <a:t>showInfo()</a:t>
            </a:r>
            <a:endParaRPr lang="en-US" sz="1600" dirty="0"/>
          </a:p>
        </p:txBody>
      </p:sp>
      <p:sp>
        <p:nvSpPr>
          <p:cNvPr id="8" name="Text 6"/>
          <p:cNvSpPr txBox="1"/>
          <p:nvPr/>
        </p:nvSpPr>
        <p:spPr>
          <a:xfrm>
            <a:off x="1005840" y="2514600"/>
            <a:ext cx="4754880" cy="274320"/>
          </a:xfrm>
          <a:prstGeom prst="rect">
            <a:avLst/>
          </a:prstGeom>
          <a:noFill/>
          <a:ln/>
        </p:spPr>
        <p:txBody>
          <a:bodyPr wrap="square" lIns="0" tIns="0" rIns="0" bIns="0" rtlCol="0" anchor="ctr"/>
          <a:lstStyle/>
          <a:p>
            <a:pPr marL="0" indent="0">
              <a:buNone/>
            </a:pPr>
            <a:r>
              <a:rPr lang="en-US" sz="1250" dirty="0">
                <a:solidFill>
                  <a:srgbClr val="6E6E73"/>
                </a:solidFill>
                <a:latin typeface="맑은 고딕" pitchFamily="34" charset="0"/>
                <a:ea typeface="맑은 고딕" pitchFamily="34" charset="-122"/>
                <a:cs typeface="맑은 고딕" pitchFamily="34" charset="-120"/>
              </a:rPr>
              <a:t>상품 정보를 출력한다</a:t>
            </a:r>
            <a:endParaRPr lang="en-US" sz="1250" dirty="0"/>
          </a:p>
        </p:txBody>
      </p:sp>
      <p:sp>
        <p:nvSpPr>
          <p:cNvPr id="9" name="Shape 7"/>
          <p:cNvSpPr/>
          <p:nvPr/>
        </p:nvSpPr>
        <p:spPr>
          <a:xfrm>
            <a:off x="1005840" y="2926080"/>
            <a:ext cx="4754880" cy="1325880"/>
          </a:xfrm>
          <a:prstGeom prst="roundRect">
            <a:avLst>
              <a:gd name="adj" fmla="val 5517"/>
            </a:avLst>
          </a:prstGeom>
          <a:solidFill>
            <a:srgbClr val="17181C"/>
          </a:solidFill>
          <a:ln w="12700">
            <a:solidFill>
              <a:srgbClr val="17181C"/>
            </a:solidFill>
            <a:prstDash val="solid"/>
          </a:ln>
        </p:spPr>
      </p:sp>
      <p:sp>
        <p:nvSpPr>
          <p:cNvPr id="10" name="Text 8"/>
          <p:cNvSpPr txBox="1"/>
          <p:nvPr/>
        </p:nvSpPr>
        <p:spPr>
          <a:xfrm>
            <a:off x="1243584" y="3118104"/>
            <a:ext cx="4279392" cy="941832"/>
          </a:xfrm>
          <a:prstGeom prst="rect">
            <a:avLst/>
          </a:prstGeom>
          <a:noFill/>
          <a:ln/>
        </p:spPr>
        <p:txBody>
          <a:bodyPr wrap="square" lIns="0" tIns="0" rIns="0" bIns="0" rtlCol="0" anchor="t"/>
          <a:lstStyle/>
          <a:p>
            <a:pPr marL="0" indent="0">
              <a:lnSpc>
                <a:spcPts val="1633"/>
              </a:lnSpc>
              <a:buNone/>
            </a:pPr>
            <a:r>
              <a:rPr lang="en-US" sz="1150" dirty="0">
                <a:solidFill>
                  <a:srgbClr val="FF8A66"/>
                </a:solidFill>
                <a:latin typeface="Consolas" pitchFamily="34" charset="0"/>
                <a:ea typeface="Consolas" pitchFamily="34" charset="-122"/>
                <a:cs typeface="Consolas" pitchFamily="34" charset="-120"/>
              </a:rPr>
              <a:t>public void</a:t>
            </a:r>
            <a:r>
              <a:rPr lang="en-US" sz="1150" dirty="0">
                <a:solidFill>
                  <a:srgbClr val="E9E8E4"/>
                </a:solidFill>
                <a:latin typeface="Consolas" pitchFamily="34" charset="0"/>
                <a:ea typeface="Consolas" pitchFamily="34" charset="-122"/>
                <a:cs typeface="Consolas" pitchFamily="34" charset="-120"/>
              </a:rPr>
              <a:t> showInfo() {</a:t>
            </a:r>
            <a:endParaRPr lang="en-US" sz="1150" dirty="0"/>
          </a:p>
          <a:p>
            <a:pPr marL="0" indent="0">
              <a:lnSpc>
                <a:spcPts val="1633"/>
              </a:lnSpc>
              <a:buNone/>
            </a:pPr>
            <a:r>
              <a:rPr lang="en-US" sz="1150" dirty="0">
                <a:solidFill>
                  <a:srgbClr val="E9E8E4"/>
                </a:solidFill>
                <a:latin typeface="Consolas" pitchFamily="34" charset="0"/>
                <a:ea typeface="Consolas" pitchFamily="34" charset="-122"/>
                <a:cs typeface="Consolas" pitchFamily="34" charset="-120"/>
              </a:rPr>
              <a:t>    System.out.println(</a:t>
            </a:r>
            <a:r>
              <a:rPr lang="en-US" sz="1150" dirty="0">
                <a:solidFill>
                  <a:srgbClr val="9CCFA4"/>
                </a:solidFill>
                <a:latin typeface="Consolas" pitchFamily="34" charset="0"/>
                <a:ea typeface="Consolas" pitchFamily="34" charset="-122"/>
                <a:cs typeface="Consolas" pitchFamily="34" charset="-120"/>
              </a:rPr>
              <a:t>"Price: "</a:t>
            </a:r>
            <a:r>
              <a:rPr lang="en-US" sz="1150" dirty="0">
                <a:solidFill>
                  <a:srgbClr val="E9E8E4"/>
                </a:solidFill>
                <a:latin typeface="Consolas" pitchFamily="34" charset="0"/>
                <a:ea typeface="Consolas" pitchFamily="34" charset="-122"/>
                <a:cs typeface="Consolas" pitchFamily="34" charset="-120"/>
              </a:rPr>
              <a:t> + price);</a:t>
            </a:r>
            <a:endParaRPr lang="en-US" sz="1150" dirty="0"/>
          </a:p>
          <a:p>
            <a:pPr marL="0" indent="0">
              <a:lnSpc>
                <a:spcPts val="1633"/>
              </a:lnSpc>
              <a:buNone/>
            </a:pPr>
            <a:r>
              <a:rPr lang="en-US" sz="1150" dirty="0">
                <a:solidFill>
                  <a:srgbClr val="E9E8E4"/>
                </a:solidFill>
                <a:latin typeface="Consolas" pitchFamily="34" charset="0"/>
                <a:ea typeface="Consolas" pitchFamily="34" charset="-122"/>
                <a:cs typeface="Consolas" pitchFamily="34" charset="-120"/>
              </a:rPr>
              <a:t>}</a:t>
            </a:r>
            <a:endParaRPr lang="en-US" sz="1150" dirty="0"/>
          </a:p>
        </p:txBody>
      </p:sp>
      <p:sp>
        <p:nvSpPr>
          <p:cNvPr id="11" name="Shape 9"/>
          <p:cNvSpPr/>
          <p:nvPr/>
        </p:nvSpPr>
        <p:spPr>
          <a:xfrm>
            <a:off x="6400800" y="2011680"/>
            <a:ext cx="5394960" cy="2377440"/>
          </a:xfrm>
          <a:prstGeom prst="roundRect">
            <a:avLst>
              <a:gd name="adj" fmla="val 2308"/>
            </a:avLst>
          </a:prstGeom>
          <a:solidFill>
            <a:srgbClr val="FFFFFF"/>
          </a:solidFill>
          <a:ln w="12700">
            <a:solidFill>
              <a:srgbClr val="DCDAD6"/>
            </a:solidFill>
            <a:prstDash val="solid"/>
          </a:ln>
        </p:spPr>
      </p:sp>
      <p:sp>
        <p:nvSpPr>
          <p:cNvPr id="12" name="Text 10"/>
          <p:cNvSpPr txBox="1"/>
          <p:nvPr/>
        </p:nvSpPr>
        <p:spPr>
          <a:xfrm>
            <a:off x="6720840" y="2194560"/>
            <a:ext cx="4754880" cy="320040"/>
          </a:xfrm>
          <a:prstGeom prst="rect">
            <a:avLst/>
          </a:prstGeom>
          <a:noFill/>
          <a:ln/>
        </p:spPr>
        <p:txBody>
          <a:bodyPr wrap="square" lIns="0" tIns="0" rIns="0" bIns="0" rtlCol="0" anchor="ctr"/>
          <a:lstStyle/>
          <a:p>
            <a:pPr marL="0" indent="0">
              <a:buNone/>
            </a:pPr>
            <a:r>
              <a:rPr lang="en-US" sz="1600" b="1" dirty="0">
                <a:solidFill>
                  <a:srgbClr val="E8482B"/>
                </a:solidFill>
                <a:latin typeface="Consolas" pitchFamily="34" charset="0"/>
                <a:ea typeface="Consolas" pitchFamily="34" charset="-122"/>
                <a:cs typeface="Consolas" pitchFamily="34" charset="-120"/>
              </a:rPr>
              <a:t>sell()</a:t>
            </a:r>
            <a:endParaRPr lang="en-US" sz="1600" dirty="0"/>
          </a:p>
        </p:txBody>
      </p:sp>
      <p:sp>
        <p:nvSpPr>
          <p:cNvPr id="13" name="Text 11"/>
          <p:cNvSpPr txBox="1"/>
          <p:nvPr/>
        </p:nvSpPr>
        <p:spPr>
          <a:xfrm>
            <a:off x="6720840" y="2514600"/>
            <a:ext cx="4754880" cy="274320"/>
          </a:xfrm>
          <a:prstGeom prst="rect">
            <a:avLst/>
          </a:prstGeom>
          <a:noFill/>
          <a:ln/>
        </p:spPr>
        <p:txBody>
          <a:bodyPr wrap="square" lIns="0" tIns="0" rIns="0" bIns="0" rtlCol="0" anchor="ctr"/>
          <a:lstStyle/>
          <a:p>
            <a:pPr marL="0" indent="0">
              <a:buNone/>
            </a:pPr>
            <a:r>
              <a:rPr lang="en-US" sz="1250" dirty="0">
                <a:solidFill>
                  <a:srgbClr val="6E6E73"/>
                </a:solidFill>
                <a:latin typeface="맑은 고딕" pitchFamily="34" charset="0"/>
                <a:ea typeface="맑은 고딕" pitchFamily="34" charset="-122"/>
                <a:cs typeface="맑은 고딕" pitchFamily="34" charset="-120"/>
              </a:rPr>
              <a:t>재고가 있으면 1개 판매하고 재고를 줄인다</a:t>
            </a:r>
            <a:endParaRPr lang="en-US" sz="1250" dirty="0"/>
          </a:p>
        </p:txBody>
      </p:sp>
      <p:sp>
        <p:nvSpPr>
          <p:cNvPr id="14" name="Shape 12"/>
          <p:cNvSpPr/>
          <p:nvPr/>
        </p:nvSpPr>
        <p:spPr>
          <a:xfrm>
            <a:off x="6720840" y="2926080"/>
            <a:ext cx="4754880" cy="1325880"/>
          </a:xfrm>
          <a:prstGeom prst="roundRect">
            <a:avLst>
              <a:gd name="adj" fmla="val 5517"/>
            </a:avLst>
          </a:prstGeom>
          <a:solidFill>
            <a:srgbClr val="17181C"/>
          </a:solidFill>
          <a:ln w="12700">
            <a:solidFill>
              <a:srgbClr val="17181C"/>
            </a:solidFill>
            <a:prstDash val="solid"/>
          </a:ln>
        </p:spPr>
      </p:sp>
      <p:sp>
        <p:nvSpPr>
          <p:cNvPr id="15" name="Text 13"/>
          <p:cNvSpPr txBox="1"/>
          <p:nvPr/>
        </p:nvSpPr>
        <p:spPr>
          <a:xfrm>
            <a:off x="6958584" y="3118104"/>
            <a:ext cx="4279392" cy="941832"/>
          </a:xfrm>
          <a:prstGeom prst="rect">
            <a:avLst/>
          </a:prstGeom>
          <a:noFill/>
          <a:ln/>
        </p:spPr>
        <p:txBody>
          <a:bodyPr wrap="square" lIns="0" tIns="0" rIns="0" bIns="0" rtlCol="0" anchor="t"/>
          <a:lstStyle/>
          <a:p>
            <a:pPr marL="0" indent="0">
              <a:lnSpc>
                <a:spcPts val="1633"/>
              </a:lnSpc>
              <a:buNone/>
            </a:pPr>
            <a:r>
              <a:rPr lang="en-US" sz="1150" dirty="0">
                <a:solidFill>
                  <a:srgbClr val="FF8A66"/>
                </a:solidFill>
                <a:latin typeface="Consolas" pitchFamily="34" charset="0"/>
                <a:ea typeface="Consolas" pitchFamily="34" charset="-122"/>
                <a:cs typeface="Consolas" pitchFamily="34" charset="-120"/>
              </a:rPr>
              <a:t>if</a:t>
            </a:r>
            <a:r>
              <a:rPr lang="en-US" sz="1150" dirty="0">
                <a:solidFill>
                  <a:srgbClr val="E9E8E4"/>
                </a:solidFill>
                <a:latin typeface="Consolas" pitchFamily="34" charset="0"/>
                <a:ea typeface="Consolas" pitchFamily="34" charset="-122"/>
                <a:cs typeface="Consolas" pitchFamily="34" charset="-120"/>
              </a:rPr>
              <a:t> (stock &gt; 0) {</a:t>
            </a:r>
            <a:endParaRPr lang="en-US" sz="1150" dirty="0"/>
          </a:p>
          <a:p>
            <a:pPr marL="0" indent="0">
              <a:lnSpc>
                <a:spcPts val="1633"/>
              </a:lnSpc>
              <a:buNone/>
            </a:pPr>
            <a:r>
              <a:rPr lang="en-US" sz="1150" dirty="0">
                <a:solidFill>
                  <a:srgbClr val="E9E8E4"/>
                </a:solidFill>
                <a:latin typeface="Consolas" pitchFamily="34" charset="0"/>
                <a:ea typeface="Consolas" pitchFamily="34" charset="-122"/>
                <a:cs typeface="Consolas" pitchFamily="34" charset="-120"/>
              </a:rPr>
              <a:t>    stock--;</a:t>
            </a:r>
            <a:endParaRPr lang="en-US" sz="1150" dirty="0"/>
          </a:p>
          <a:p>
            <a:pPr marL="0" indent="0">
              <a:lnSpc>
                <a:spcPts val="1633"/>
              </a:lnSpc>
              <a:buNone/>
            </a:pPr>
            <a:r>
              <a:rPr lang="en-US" sz="1150" dirty="0">
                <a:solidFill>
                  <a:srgbClr val="E9E8E4"/>
                </a:solidFill>
                <a:latin typeface="Consolas" pitchFamily="34" charset="0"/>
                <a:ea typeface="Consolas" pitchFamily="34" charset="-122"/>
                <a:cs typeface="Consolas" pitchFamily="34" charset="-120"/>
              </a:rPr>
              <a:t>    System.out.println(name + </a:t>
            </a:r>
            <a:r>
              <a:rPr lang="en-US" sz="1150" dirty="0">
                <a:solidFill>
                  <a:srgbClr val="9CCFA4"/>
                </a:solidFill>
                <a:latin typeface="Consolas" pitchFamily="34" charset="0"/>
                <a:ea typeface="Consolas" pitchFamily="34" charset="-122"/>
                <a:cs typeface="Consolas" pitchFamily="34" charset="-120"/>
              </a:rPr>
              <a:t>"판매완료!"</a:t>
            </a:r>
            <a:r>
              <a:rPr lang="en-US" sz="1150" dirty="0">
                <a:solidFill>
                  <a:srgbClr val="E9E8E4"/>
                </a:solidFill>
                <a:latin typeface="Consolas" pitchFamily="34" charset="0"/>
                <a:ea typeface="Consolas" pitchFamily="34" charset="-122"/>
                <a:cs typeface="Consolas" pitchFamily="34" charset="-120"/>
              </a:rPr>
              <a:t>);</a:t>
            </a:r>
            <a:endParaRPr lang="en-US" sz="1150" dirty="0"/>
          </a:p>
          <a:p>
            <a:pPr marL="0" indent="0">
              <a:lnSpc>
                <a:spcPts val="1633"/>
              </a:lnSpc>
              <a:buNone/>
            </a:pPr>
            <a:r>
              <a:rPr lang="en-US" sz="1150" dirty="0">
                <a:solidFill>
                  <a:srgbClr val="E9E8E4"/>
                </a:solidFill>
                <a:latin typeface="Consolas" pitchFamily="34" charset="0"/>
                <a:ea typeface="Consolas" pitchFamily="34" charset="-122"/>
                <a:cs typeface="Consolas" pitchFamily="34" charset="-120"/>
              </a:rPr>
              <a:t>}</a:t>
            </a:r>
            <a:endParaRPr lang="en-US" sz="1150" dirty="0"/>
          </a:p>
        </p:txBody>
      </p:sp>
      <p:sp>
        <p:nvSpPr>
          <p:cNvPr id="16" name="Shape 14"/>
          <p:cNvSpPr/>
          <p:nvPr/>
        </p:nvSpPr>
        <p:spPr>
          <a:xfrm>
            <a:off x="685800" y="4617720"/>
            <a:ext cx="10820095" cy="1234440"/>
          </a:xfrm>
          <a:prstGeom prst="roundRect">
            <a:avLst>
              <a:gd name="adj" fmla="val 4444"/>
            </a:avLst>
          </a:prstGeom>
          <a:solidFill>
            <a:srgbClr val="111214"/>
          </a:solidFill>
          <a:ln w="12700">
            <a:solidFill>
              <a:srgbClr val="111214"/>
            </a:solidFill>
            <a:prstDash val="solid"/>
          </a:ln>
        </p:spPr>
      </p:sp>
      <p:sp>
        <p:nvSpPr>
          <p:cNvPr id="17" name="Text 15"/>
          <p:cNvSpPr txBox="1"/>
          <p:nvPr/>
        </p:nvSpPr>
        <p:spPr>
          <a:xfrm>
            <a:off x="1143000" y="4800600"/>
            <a:ext cx="3291840" cy="457200"/>
          </a:xfrm>
          <a:prstGeom prst="rect">
            <a:avLst/>
          </a:prstGeom>
          <a:noFill/>
          <a:ln/>
        </p:spPr>
        <p:txBody>
          <a:bodyPr wrap="square" lIns="0" tIns="0" rIns="0" bIns="0" rtlCol="0" anchor="ctr"/>
          <a:lstStyle/>
          <a:p>
            <a:pPr marL="0" indent="0">
              <a:buNone/>
            </a:pPr>
            <a:r>
              <a:rPr lang="en-US" sz="2200" b="1" dirty="0">
                <a:solidFill>
                  <a:srgbClr val="FFFFFF"/>
                </a:solidFill>
                <a:latin typeface="Consolas" pitchFamily="34" charset="0"/>
                <a:ea typeface="Consolas" pitchFamily="34" charset="-122"/>
                <a:cs typeface="Consolas" pitchFamily="34" charset="-120"/>
              </a:rPr>
              <a:t>product1.sell();</a:t>
            </a:r>
            <a:endParaRPr lang="en-US" sz="2200" dirty="0"/>
          </a:p>
        </p:txBody>
      </p:sp>
      <p:sp>
        <p:nvSpPr>
          <p:cNvPr id="18" name="Shape 16"/>
          <p:cNvSpPr/>
          <p:nvPr/>
        </p:nvSpPr>
        <p:spPr>
          <a:xfrm>
            <a:off x="4617720" y="5230368"/>
            <a:ext cx="685800" cy="0"/>
          </a:xfrm>
          <a:prstGeom prst="line">
            <a:avLst/>
          </a:prstGeom>
          <a:noFill/>
          <a:ln w="22225">
            <a:solidFill>
              <a:srgbClr val="FF8A66"/>
            </a:solidFill>
            <a:prstDash val="solid"/>
            <a:tailEnd type="triangle"/>
          </a:ln>
        </p:spPr>
      </p:sp>
      <p:sp>
        <p:nvSpPr>
          <p:cNvPr id="19" name="Text 17"/>
          <p:cNvSpPr txBox="1"/>
          <p:nvPr/>
        </p:nvSpPr>
        <p:spPr>
          <a:xfrm>
            <a:off x="5577840" y="4754880"/>
            <a:ext cx="6035040" cy="914400"/>
          </a:xfrm>
          <a:prstGeom prst="rect">
            <a:avLst/>
          </a:prstGeom>
          <a:noFill/>
          <a:ln/>
        </p:spPr>
        <p:txBody>
          <a:bodyPr wrap="square" lIns="0" tIns="0" rIns="0" bIns="0" rtlCol="0" anchor="ctr"/>
          <a:lstStyle/>
          <a:p>
            <a:pPr marL="0" indent="0">
              <a:lnSpc>
                <a:spcPts val="2200"/>
              </a:lnSpc>
              <a:buNone/>
            </a:pPr>
            <a:r>
              <a:rPr lang="en-US" sz="1400" dirty="0">
                <a:solidFill>
                  <a:srgbClr val="E9E8E4"/>
                </a:solidFill>
                <a:latin typeface="맑은 고딕" pitchFamily="34" charset="0"/>
                <a:ea typeface="맑은 고딕" pitchFamily="34" charset="-122"/>
                <a:cs typeface="맑은 고딕" pitchFamily="34" charset="-120"/>
              </a:rPr>
              <a:t>product1이 가리키는 객체의 sell()이 실행되고,</a:t>
            </a:r>
            <a:endParaRPr lang="en-US" sz="1400" dirty="0"/>
          </a:p>
          <a:p>
            <a:pPr marL="0" indent="0">
              <a:lnSpc>
                <a:spcPts val="2200"/>
              </a:lnSpc>
              <a:buNone/>
            </a:pPr>
            <a:r>
              <a:rPr lang="en-US" sz="1400" dirty="0">
                <a:solidFill>
                  <a:srgbClr val="E9E8E4"/>
                </a:solidFill>
                <a:latin typeface="맑은 고딕" pitchFamily="34" charset="0"/>
                <a:ea typeface="맑은 고딕" pitchFamily="34" charset="-122"/>
                <a:cs typeface="맑은 고딕" pitchFamily="34" charset="-120"/>
              </a:rPr>
              <a:t>그 객체 자신의 name과 stock을 사용한다</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85800" y="384048"/>
            <a:ext cx="1234440" cy="292608"/>
          </a:xfrm>
          <a:prstGeom prst="roundRect">
            <a:avLst>
              <a:gd name="adj" fmla="val 50000"/>
            </a:avLst>
          </a:prstGeom>
          <a:solidFill>
            <a:srgbClr val="FBE7E2"/>
          </a:solidFill>
          <a:ln w="12700">
            <a:solidFill>
              <a:srgbClr val="FBE7E2"/>
            </a:solidFill>
            <a:prstDash val="solid"/>
          </a:ln>
        </p:spPr>
      </p:sp>
      <p:sp>
        <p:nvSpPr>
          <p:cNvPr id="3" name="Text 1"/>
          <p:cNvSpPr txBox="1"/>
          <p:nvPr/>
        </p:nvSpPr>
        <p:spPr>
          <a:xfrm>
            <a:off x="685800" y="384048"/>
            <a:ext cx="1234440" cy="292608"/>
          </a:xfrm>
          <a:prstGeom prst="rect">
            <a:avLst/>
          </a:prstGeom>
          <a:noFill/>
          <a:ln/>
        </p:spPr>
        <p:txBody>
          <a:bodyPr wrap="square" lIns="0" tIns="0" rIns="0" bIns="0" rtlCol="0" anchor="ctr"/>
          <a:lstStyle/>
          <a:p>
            <a:pPr marL="0" indent="0" algn="ctr">
              <a:buNone/>
            </a:pPr>
            <a:r>
              <a:rPr lang="en-US" sz="1100" b="1" dirty="0">
                <a:solidFill>
                  <a:srgbClr val="E8482B"/>
                </a:solidFill>
                <a:latin typeface="맑은 고딕" pitchFamily="34" charset="0"/>
                <a:ea typeface="맑은 고딕" pitchFamily="34" charset="-122"/>
                <a:cs typeface="맑은 고딕" pitchFamily="34" charset="-120"/>
              </a:rPr>
              <a:t>핵심 확인</a:t>
            </a:r>
            <a:endParaRPr lang="en-US" sz="1100" dirty="0"/>
          </a:p>
        </p:txBody>
      </p:sp>
      <p:sp>
        <p:nvSpPr>
          <p:cNvPr id="4" name="Text 2"/>
          <p:cNvSpPr txBox="1"/>
          <p:nvPr/>
        </p:nvSpPr>
        <p:spPr>
          <a:xfrm>
            <a:off x="685800" y="713232"/>
            <a:ext cx="10820095" cy="603504"/>
          </a:xfrm>
          <a:prstGeom prst="rect">
            <a:avLst/>
          </a:prstGeom>
          <a:noFill/>
          <a:ln/>
        </p:spPr>
        <p:txBody>
          <a:bodyPr wrap="square" lIns="0" tIns="0" rIns="0" bIns="0" rtlCol="0" anchor="ctr"/>
          <a:lstStyle/>
          <a:p>
            <a:pPr marL="0" indent="0">
              <a:buNone/>
            </a:pPr>
            <a:r>
              <a:rPr lang="en-US" sz="3400" b="1" dirty="0">
                <a:solidFill>
                  <a:srgbClr val="111214"/>
                </a:solidFill>
                <a:latin typeface="맑은 고딕" pitchFamily="34" charset="0"/>
                <a:ea typeface="맑은 고딕" pitchFamily="34" charset="-122"/>
                <a:cs typeface="맑은 고딕" pitchFamily="34" charset="-120"/>
              </a:rPr>
              <a:t>같은 클래스, 서로 다른 객체</a:t>
            </a:r>
            <a:endParaRPr lang="en-US" sz="3400" dirty="0"/>
          </a:p>
        </p:txBody>
      </p:sp>
      <p:sp>
        <p:nvSpPr>
          <p:cNvPr id="5" name="Text 3"/>
          <p:cNvSpPr txBox="1"/>
          <p:nvPr/>
        </p:nvSpPr>
        <p:spPr>
          <a:xfrm>
            <a:off x="685800" y="1316736"/>
            <a:ext cx="10820095" cy="310896"/>
          </a:xfrm>
          <a:prstGeom prst="rect">
            <a:avLst/>
          </a:prstGeom>
          <a:noFill/>
          <a:ln/>
        </p:spPr>
        <p:txBody>
          <a:bodyPr wrap="square" lIns="0" tIns="0" rIns="0" bIns="0" rtlCol="0" anchor="ctr"/>
          <a:lstStyle/>
          <a:p>
            <a:pPr marL="0" indent="0">
              <a:buNone/>
            </a:pPr>
            <a:r>
              <a:rPr lang="en-US" sz="1400" dirty="0">
                <a:solidFill>
                  <a:srgbClr val="6E6E73"/>
                </a:solidFill>
                <a:latin typeface="맑은 고딕" pitchFamily="34" charset="0"/>
                <a:ea typeface="맑은 고딕" pitchFamily="34" charset="-122"/>
                <a:cs typeface="맑은 고딕" pitchFamily="34" charset="-120"/>
              </a:rPr>
              <a:t>같은 sell()을 써도 결과는 각자에게만</a:t>
            </a:r>
            <a:endParaRPr lang="en-US" sz="1400" dirty="0"/>
          </a:p>
        </p:txBody>
      </p:sp>
      <p:sp>
        <p:nvSpPr>
          <p:cNvPr id="6" name="Shape 4"/>
          <p:cNvSpPr/>
          <p:nvPr/>
        </p:nvSpPr>
        <p:spPr>
          <a:xfrm>
            <a:off x="685800" y="2103120"/>
            <a:ext cx="3337560" cy="2286000"/>
          </a:xfrm>
          <a:prstGeom prst="roundRect">
            <a:avLst>
              <a:gd name="adj" fmla="val 2400"/>
            </a:avLst>
          </a:prstGeom>
          <a:solidFill>
            <a:srgbClr val="F3F2F0"/>
          </a:solidFill>
          <a:ln w="12700">
            <a:solidFill>
              <a:srgbClr val="F3F2F0"/>
            </a:solidFill>
            <a:prstDash val="solid"/>
          </a:ln>
        </p:spPr>
      </p:sp>
      <p:sp>
        <p:nvSpPr>
          <p:cNvPr id="7" name="Text 5"/>
          <p:cNvSpPr txBox="1"/>
          <p:nvPr/>
        </p:nvSpPr>
        <p:spPr>
          <a:xfrm>
            <a:off x="1005840" y="2286000"/>
            <a:ext cx="2697480" cy="274320"/>
          </a:xfrm>
          <a:prstGeom prst="rect">
            <a:avLst/>
          </a:prstGeom>
          <a:noFill/>
          <a:ln/>
        </p:spPr>
        <p:txBody>
          <a:bodyPr wrap="square" lIns="0" tIns="0" rIns="0" bIns="0" rtlCol="0" anchor="ctr"/>
          <a:lstStyle/>
          <a:p>
            <a:pPr marL="0" indent="0">
              <a:buNone/>
            </a:pPr>
            <a:r>
              <a:rPr lang="en-US" sz="1150" b="1" dirty="0">
                <a:solidFill>
                  <a:srgbClr val="6E6E73"/>
                </a:solidFill>
                <a:latin typeface="맑은 고딕" pitchFamily="34" charset="0"/>
                <a:ea typeface="맑은 고딕" pitchFamily="34" charset="-122"/>
                <a:cs typeface="맑은 고딕" pitchFamily="34" charset="-120"/>
              </a:rPr>
              <a:t>BEFORE</a:t>
            </a:r>
            <a:endParaRPr lang="en-US" sz="1150" dirty="0"/>
          </a:p>
        </p:txBody>
      </p:sp>
      <p:sp>
        <p:nvSpPr>
          <p:cNvPr id="8" name="Text 6"/>
          <p:cNvSpPr txBox="1"/>
          <p:nvPr/>
        </p:nvSpPr>
        <p:spPr>
          <a:xfrm>
            <a:off x="1005840" y="2697480"/>
            <a:ext cx="2697480" cy="685800"/>
          </a:xfrm>
          <a:prstGeom prst="rect">
            <a:avLst/>
          </a:prstGeom>
          <a:noFill/>
          <a:ln/>
        </p:spPr>
        <p:txBody>
          <a:bodyPr wrap="square" lIns="0" tIns="0" rIns="0" bIns="0" rtlCol="0" anchor="ctr"/>
          <a:lstStyle/>
          <a:p>
            <a:pPr marL="0" indent="0">
              <a:lnSpc>
                <a:spcPts val="2400"/>
              </a:lnSpc>
              <a:buNone/>
            </a:pPr>
            <a:r>
              <a:rPr lang="en-US" sz="1500" b="1" dirty="0">
                <a:solidFill>
                  <a:srgbClr val="111214"/>
                </a:solidFill>
                <a:latin typeface="맑은 고딕" pitchFamily="34" charset="0"/>
                <a:ea typeface="맑은 고딕" pitchFamily="34" charset="-122"/>
                <a:cs typeface="맑은 고딕" pitchFamily="34" charset="-120"/>
              </a:rPr>
              <a:t>ERL Hoodie</a:t>
            </a:r>
            <a:endParaRPr lang="en-US" sz="1500" dirty="0"/>
          </a:p>
          <a:p>
            <a:pPr marL="0" indent="0">
              <a:lnSpc>
                <a:spcPts val="2400"/>
              </a:lnSpc>
              <a:buNone/>
            </a:pPr>
            <a:r>
              <a:rPr lang="en-US" sz="1500" b="1" dirty="0">
                <a:solidFill>
                  <a:srgbClr val="111214"/>
                </a:solidFill>
                <a:latin typeface="맑은 고딕" pitchFamily="34" charset="0"/>
                <a:ea typeface="맑은 고딕" pitchFamily="34" charset="-122"/>
                <a:cs typeface="맑은 고딕" pitchFamily="34" charset="-120"/>
              </a:rPr>
              <a:t>stock = 3</a:t>
            </a:r>
            <a:endParaRPr lang="en-US" sz="1500" dirty="0"/>
          </a:p>
        </p:txBody>
      </p:sp>
      <p:sp>
        <p:nvSpPr>
          <p:cNvPr id="9" name="Text 7"/>
          <p:cNvSpPr txBox="1"/>
          <p:nvPr/>
        </p:nvSpPr>
        <p:spPr>
          <a:xfrm>
            <a:off x="1005840" y="3520440"/>
            <a:ext cx="2697480" cy="685800"/>
          </a:xfrm>
          <a:prstGeom prst="rect">
            <a:avLst/>
          </a:prstGeom>
          <a:noFill/>
          <a:ln/>
        </p:spPr>
        <p:txBody>
          <a:bodyPr wrap="square" lIns="0" tIns="0" rIns="0" bIns="0" rtlCol="0" anchor="ctr"/>
          <a:lstStyle/>
          <a:p>
            <a:pPr marL="0" indent="0">
              <a:lnSpc>
                <a:spcPts val="2400"/>
              </a:lnSpc>
              <a:buNone/>
            </a:pPr>
            <a:r>
              <a:rPr lang="en-US" sz="1500" b="1" dirty="0">
                <a:solidFill>
                  <a:srgbClr val="111214"/>
                </a:solidFill>
                <a:latin typeface="맑은 고딕" pitchFamily="34" charset="0"/>
                <a:ea typeface="맑은 고딕" pitchFamily="34" charset="-122"/>
                <a:cs typeface="맑은 고딕" pitchFamily="34" charset="-120"/>
              </a:rPr>
              <a:t>Diesel Jeans</a:t>
            </a:r>
            <a:endParaRPr lang="en-US" sz="1500" dirty="0"/>
          </a:p>
          <a:p>
            <a:pPr marL="0" indent="0">
              <a:lnSpc>
                <a:spcPts val="2400"/>
              </a:lnSpc>
              <a:buNone/>
            </a:pPr>
            <a:r>
              <a:rPr lang="en-US" sz="1500" b="1" dirty="0">
                <a:solidFill>
                  <a:srgbClr val="111214"/>
                </a:solidFill>
                <a:latin typeface="맑은 고딕" pitchFamily="34" charset="0"/>
                <a:ea typeface="맑은 고딕" pitchFamily="34" charset="-122"/>
                <a:cs typeface="맑은 고딕" pitchFamily="34" charset="-120"/>
              </a:rPr>
              <a:t>stock = 5</a:t>
            </a:r>
            <a:endParaRPr lang="en-US" sz="1500" dirty="0"/>
          </a:p>
        </p:txBody>
      </p:sp>
      <p:sp>
        <p:nvSpPr>
          <p:cNvPr id="10" name="Shape 8"/>
          <p:cNvSpPr/>
          <p:nvPr/>
        </p:nvSpPr>
        <p:spPr>
          <a:xfrm>
            <a:off x="4434840" y="2103120"/>
            <a:ext cx="3337560" cy="2286000"/>
          </a:xfrm>
          <a:prstGeom prst="roundRect">
            <a:avLst>
              <a:gd name="adj" fmla="val 2400"/>
            </a:avLst>
          </a:prstGeom>
          <a:solidFill>
            <a:srgbClr val="111214"/>
          </a:solidFill>
          <a:ln w="12700">
            <a:solidFill>
              <a:srgbClr val="111214"/>
            </a:solidFill>
            <a:prstDash val="solid"/>
          </a:ln>
        </p:spPr>
      </p:sp>
      <p:sp>
        <p:nvSpPr>
          <p:cNvPr id="11" name="Text 9"/>
          <p:cNvSpPr txBox="1"/>
          <p:nvPr/>
        </p:nvSpPr>
        <p:spPr>
          <a:xfrm>
            <a:off x="4754880" y="2286000"/>
            <a:ext cx="2697480" cy="274320"/>
          </a:xfrm>
          <a:prstGeom prst="rect">
            <a:avLst/>
          </a:prstGeom>
          <a:noFill/>
          <a:ln/>
        </p:spPr>
        <p:txBody>
          <a:bodyPr wrap="square" lIns="0" tIns="0" rIns="0" bIns="0" rtlCol="0" anchor="ctr"/>
          <a:lstStyle/>
          <a:p>
            <a:pPr marL="0" indent="0">
              <a:buNone/>
            </a:pPr>
            <a:r>
              <a:rPr lang="en-US" sz="1150" b="1" dirty="0">
                <a:solidFill>
                  <a:srgbClr val="8E8E96"/>
                </a:solidFill>
                <a:latin typeface="맑은 고딕" pitchFamily="34" charset="0"/>
                <a:ea typeface="맑은 고딕" pitchFamily="34" charset="-122"/>
                <a:cs typeface="맑은 고딕" pitchFamily="34" charset="-120"/>
              </a:rPr>
              <a:t>CALL</a:t>
            </a:r>
            <a:endParaRPr lang="en-US" sz="1150" dirty="0"/>
          </a:p>
        </p:txBody>
      </p:sp>
      <p:sp>
        <p:nvSpPr>
          <p:cNvPr id="12" name="Text 10"/>
          <p:cNvSpPr txBox="1"/>
          <p:nvPr/>
        </p:nvSpPr>
        <p:spPr>
          <a:xfrm>
            <a:off x="4754880" y="2743200"/>
            <a:ext cx="2697480" cy="1371600"/>
          </a:xfrm>
          <a:prstGeom prst="rect">
            <a:avLst/>
          </a:prstGeom>
          <a:noFill/>
          <a:ln/>
        </p:spPr>
        <p:txBody>
          <a:bodyPr wrap="square" lIns="0" tIns="0" rIns="0" bIns="0" rtlCol="0" anchor="ctr"/>
          <a:lstStyle/>
          <a:p>
            <a:pPr marL="0" indent="0">
              <a:lnSpc>
                <a:spcPts val="3000"/>
              </a:lnSpc>
              <a:buNone/>
            </a:pPr>
            <a:r>
              <a:rPr lang="en-US" sz="1500" dirty="0">
                <a:solidFill>
                  <a:srgbClr val="FFFFFF"/>
                </a:solidFill>
                <a:latin typeface="Consolas" pitchFamily="34" charset="0"/>
                <a:ea typeface="Consolas" pitchFamily="34" charset="-122"/>
                <a:cs typeface="Consolas" pitchFamily="34" charset="-120"/>
              </a:rPr>
              <a:t>product1.sell();</a:t>
            </a:r>
            <a:endParaRPr lang="en-US" sz="1500" dirty="0"/>
          </a:p>
          <a:p>
            <a:pPr marL="0" indent="0">
              <a:lnSpc>
                <a:spcPts val="3000"/>
              </a:lnSpc>
              <a:buNone/>
            </a:pPr>
            <a:r>
              <a:rPr lang="en-US" sz="1500" dirty="0">
                <a:solidFill>
                  <a:srgbClr val="FFFFFF"/>
                </a:solidFill>
                <a:latin typeface="Consolas" pitchFamily="34" charset="0"/>
                <a:ea typeface="Consolas" pitchFamily="34" charset="-122"/>
                <a:cs typeface="Consolas" pitchFamily="34" charset="-120"/>
              </a:rPr>
              <a:t>product1.sell();</a:t>
            </a:r>
            <a:endParaRPr lang="en-US" sz="1500" dirty="0"/>
          </a:p>
          <a:p>
            <a:pPr marL="0" indent="0">
              <a:lnSpc>
                <a:spcPts val="3000"/>
              </a:lnSpc>
              <a:buNone/>
            </a:pPr>
            <a:r>
              <a:rPr lang="en-US" sz="1500" dirty="0">
                <a:solidFill>
                  <a:srgbClr val="FFFFFF"/>
                </a:solidFill>
                <a:latin typeface="Consolas" pitchFamily="34" charset="0"/>
                <a:ea typeface="Consolas" pitchFamily="34" charset="-122"/>
                <a:cs typeface="Consolas" pitchFamily="34" charset="-120"/>
              </a:rPr>
              <a:t>product2.sell();</a:t>
            </a:r>
            <a:endParaRPr lang="en-US" sz="1500" dirty="0"/>
          </a:p>
        </p:txBody>
      </p:sp>
      <p:sp>
        <p:nvSpPr>
          <p:cNvPr id="13" name="Shape 11"/>
          <p:cNvSpPr/>
          <p:nvPr/>
        </p:nvSpPr>
        <p:spPr>
          <a:xfrm>
            <a:off x="8183880" y="2103120"/>
            <a:ext cx="3337560" cy="2286000"/>
          </a:xfrm>
          <a:prstGeom prst="roundRect">
            <a:avLst>
              <a:gd name="adj" fmla="val 2400"/>
            </a:avLst>
          </a:prstGeom>
          <a:solidFill>
            <a:srgbClr val="FFFFFF"/>
          </a:solidFill>
          <a:ln w="12700">
            <a:solidFill>
              <a:srgbClr val="E8482B"/>
            </a:solidFill>
            <a:prstDash val="solid"/>
          </a:ln>
        </p:spPr>
      </p:sp>
      <p:sp>
        <p:nvSpPr>
          <p:cNvPr id="14" name="Text 12"/>
          <p:cNvSpPr txBox="1"/>
          <p:nvPr/>
        </p:nvSpPr>
        <p:spPr>
          <a:xfrm>
            <a:off x="8503920" y="2286000"/>
            <a:ext cx="2697480" cy="274320"/>
          </a:xfrm>
          <a:prstGeom prst="rect">
            <a:avLst/>
          </a:prstGeom>
          <a:noFill/>
          <a:ln/>
        </p:spPr>
        <p:txBody>
          <a:bodyPr wrap="square" lIns="0" tIns="0" rIns="0" bIns="0" rtlCol="0" anchor="ctr"/>
          <a:lstStyle/>
          <a:p>
            <a:pPr marL="0" indent="0">
              <a:buNone/>
            </a:pPr>
            <a:r>
              <a:rPr lang="en-US" sz="1150" b="1" dirty="0">
                <a:solidFill>
                  <a:srgbClr val="E8482B"/>
                </a:solidFill>
                <a:latin typeface="맑은 고딕" pitchFamily="34" charset="0"/>
                <a:ea typeface="맑은 고딕" pitchFamily="34" charset="-122"/>
                <a:cs typeface="맑은 고딕" pitchFamily="34" charset="-120"/>
              </a:rPr>
              <a:t>AFTER</a:t>
            </a:r>
            <a:endParaRPr lang="en-US" sz="1150" dirty="0"/>
          </a:p>
        </p:txBody>
      </p:sp>
      <p:sp>
        <p:nvSpPr>
          <p:cNvPr id="15" name="Text 13"/>
          <p:cNvSpPr txBox="1"/>
          <p:nvPr/>
        </p:nvSpPr>
        <p:spPr>
          <a:xfrm>
            <a:off x="8503920" y="2697480"/>
            <a:ext cx="2697480" cy="685800"/>
          </a:xfrm>
          <a:prstGeom prst="rect">
            <a:avLst/>
          </a:prstGeom>
          <a:noFill/>
          <a:ln/>
        </p:spPr>
        <p:txBody>
          <a:bodyPr wrap="square" lIns="0" tIns="0" rIns="0" bIns="0" rtlCol="0" anchor="ctr"/>
          <a:lstStyle/>
          <a:p>
            <a:pPr marL="0" indent="0">
              <a:lnSpc>
                <a:spcPts val="2400"/>
              </a:lnSpc>
              <a:buNone/>
            </a:pPr>
            <a:r>
              <a:rPr lang="en-US" sz="1500" b="1" dirty="0">
                <a:solidFill>
                  <a:srgbClr val="111214"/>
                </a:solidFill>
                <a:latin typeface="맑은 고딕" pitchFamily="34" charset="0"/>
                <a:ea typeface="맑은 고딕" pitchFamily="34" charset="-122"/>
                <a:cs typeface="맑은 고딕" pitchFamily="34" charset="-120"/>
              </a:rPr>
              <a:t>ERL Hoodie
</a:t>
            </a:r>
            <a:r>
              <a:rPr lang="en-US" sz="1500" b="1" dirty="0">
                <a:solidFill>
                  <a:srgbClr val="E8482B"/>
                </a:solidFill>
                <a:latin typeface="맑은 고딕" pitchFamily="34" charset="0"/>
                <a:ea typeface="맑은 고딕" pitchFamily="34" charset="-122"/>
                <a:cs typeface="맑은 고딕" pitchFamily="34" charset="-120"/>
              </a:rPr>
              <a:t>stock = 1</a:t>
            </a:r>
            <a:endParaRPr lang="en-US" sz="1500" dirty="0"/>
          </a:p>
        </p:txBody>
      </p:sp>
      <p:sp>
        <p:nvSpPr>
          <p:cNvPr id="16" name="Text 14"/>
          <p:cNvSpPr txBox="1"/>
          <p:nvPr/>
        </p:nvSpPr>
        <p:spPr>
          <a:xfrm>
            <a:off x="8503920" y="3520440"/>
            <a:ext cx="2697480" cy="685800"/>
          </a:xfrm>
          <a:prstGeom prst="rect">
            <a:avLst/>
          </a:prstGeom>
          <a:noFill/>
          <a:ln/>
        </p:spPr>
        <p:txBody>
          <a:bodyPr wrap="square" lIns="0" tIns="0" rIns="0" bIns="0" rtlCol="0" anchor="ctr"/>
          <a:lstStyle/>
          <a:p>
            <a:pPr marL="0" indent="0">
              <a:lnSpc>
                <a:spcPts val="2400"/>
              </a:lnSpc>
              <a:buNone/>
            </a:pPr>
            <a:r>
              <a:rPr lang="en-US" sz="1500" b="1" dirty="0">
                <a:solidFill>
                  <a:srgbClr val="111214"/>
                </a:solidFill>
                <a:latin typeface="맑은 고딕" pitchFamily="34" charset="0"/>
                <a:ea typeface="맑은 고딕" pitchFamily="34" charset="-122"/>
                <a:cs typeface="맑은 고딕" pitchFamily="34" charset="-120"/>
              </a:rPr>
              <a:t>Diesel Jeans
</a:t>
            </a:r>
            <a:r>
              <a:rPr lang="en-US" sz="1500" b="1" dirty="0">
                <a:solidFill>
                  <a:srgbClr val="E8482B"/>
                </a:solidFill>
                <a:latin typeface="맑은 고딕" pitchFamily="34" charset="0"/>
                <a:ea typeface="맑은 고딕" pitchFamily="34" charset="-122"/>
                <a:cs typeface="맑은 고딕" pitchFamily="34" charset="-120"/>
              </a:rPr>
              <a:t>stock = 4</a:t>
            </a:r>
            <a:endParaRPr lang="en-US" sz="1500" dirty="0"/>
          </a:p>
        </p:txBody>
      </p:sp>
      <p:sp>
        <p:nvSpPr>
          <p:cNvPr id="17" name="Shape 15"/>
          <p:cNvSpPr/>
          <p:nvPr/>
        </p:nvSpPr>
        <p:spPr>
          <a:xfrm>
            <a:off x="4078224" y="3246120"/>
            <a:ext cx="292608" cy="0"/>
          </a:xfrm>
          <a:prstGeom prst="line">
            <a:avLst/>
          </a:prstGeom>
          <a:noFill/>
          <a:ln w="22225">
            <a:solidFill>
              <a:srgbClr val="E8482B"/>
            </a:solidFill>
            <a:prstDash val="solid"/>
            <a:tailEnd type="triangle"/>
          </a:ln>
        </p:spPr>
      </p:sp>
      <p:sp>
        <p:nvSpPr>
          <p:cNvPr id="18" name="Shape 16"/>
          <p:cNvSpPr/>
          <p:nvPr/>
        </p:nvSpPr>
        <p:spPr>
          <a:xfrm>
            <a:off x="7827264" y="3246120"/>
            <a:ext cx="292608" cy="0"/>
          </a:xfrm>
          <a:prstGeom prst="line">
            <a:avLst/>
          </a:prstGeom>
          <a:noFill/>
          <a:ln w="22225">
            <a:solidFill>
              <a:srgbClr val="E8482B"/>
            </a:solidFill>
            <a:prstDash val="solid"/>
            <a:tailEnd type="triangle"/>
          </a:ln>
        </p:spPr>
      </p:sp>
      <p:sp>
        <p:nvSpPr>
          <p:cNvPr id="19" name="Shape 17"/>
          <p:cNvSpPr/>
          <p:nvPr/>
        </p:nvSpPr>
        <p:spPr>
          <a:xfrm>
            <a:off x="685800" y="4754880"/>
            <a:ext cx="10820095" cy="1051560"/>
          </a:xfrm>
          <a:prstGeom prst="roundRect">
            <a:avLst>
              <a:gd name="adj" fmla="val 5217"/>
            </a:avLst>
          </a:prstGeom>
          <a:solidFill>
            <a:srgbClr val="FBE7E2"/>
          </a:solidFill>
          <a:ln w="12700">
            <a:solidFill>
              <a:srgbClr val="FBE7E2"/>
            </a:solidFill>
            <a:prstDash val="solid"/>
          </a:ln>
        </p:spPr>
      </p:sp>
      <p:sp>
        <p:nvSpPr>
          <p:cNvPr id="20" name="Text 18"/>
          <p:cNvSpPr txBox="1"/>
          <p:nvPr/>
        </p:nvSpPr>
        <p:spPr>
          <a:xfrm>
            <a:off x="685800" y="4754880"/>
            <a:ext cx="10820095" cy="1051560"/>
          </a:xfrm>
          <a:prstGeom prst="rect">
            <a:avLst/>
          </a:prstGeom>
          <a:noFill/>
          <a:ln/>
        </p:spPr>
        <p:txBody>
          <a:bodyPr wrap="square" lIns="0" tIns="0" rIns="0" bIns="0" rtlCol="0" anchor="ctr"/>
          <a:lstStyle/>
          <a:p>
            <a:pPr marL="0" indent="0" algn="ctr">
              <a:lnSpc>
                <a:spcPts val="2600"/>
              </a:lnSpc>
              <a:buNone/>
            </a:pPr>
            <a:r>
              <a:rPr lang="en-US" sz="1600" b="1" dirty="0">
                <a:solidFill>
                  <a:srgbClr val="A6301A"/>
                </a:solidFill>
                <a:latin typeface="맑은 고딕" pitchFamily="34" charset="0"/>
                <a:ea typeface="맑은 고딕" pitchFamily="34" charset="-122"/>
                <a:cs typeface="맑은 고딕" pitchFamily="34" charset="-120"/>
              </a:rPr>
              <a:t>같은 Product 클래스로 만들고 같은 sell()을 호출해도,</a:t>
            </a:r>
            <a:endParaRPr lang="en-US" sz="1600" dirty="0"/>
          </a:p>
          <a:p>
            <a:pPr marL="0" indent="0" algn="ctr">
              <a:lnSpc>
                <a:spcPts val="2600"/>
              </a:lnSpc>
              <a:buNone/>
            </a:pPr>
            <a:r>
              <a:rPr lang="en-US" sz="1600" b="1" dirty="0">
                <a:solidFill>
                  <a:srgbClr val="A6301A"/>
                </a:solidFill>
                <a:latin typeface="맑은 고딕" pitchFamily="34" charset="0"/>
                <a:ea typeface="맑은 고딕" pitchFamily="34" charset="-122"/>
                <a:cs typeface="맑은 고딕" pitchFamily="34" charset="-120"/>
              </a:rPr>
              <a:t>각 객체는 자기 데이터만 바꾼다</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85800" y="384048"/>
            <a:ext cx="1234440" cy="292608"/>
          </a:xfrm>
          <a:prstGeom prst="roundRect">
            <a:avLst>
              <a:gd name="adj" fmla="val 50000"/>
            </a:avLst>
          </a:prstGeom>
          <a:solidFill>
            <a:srgbClr val="FBE7E2"/>
          </a:solidFill>
          <a:ln w="12700">
            <a:solidFill>
              <a:srgbClr val="FBE7E2"/>
            </a:solidFill>
            <a:prstDash val="solid"/>
          </a:ln>
        </p:spPr>
      </p:sp>
      <p:sp>
        <p:nvSpPr>
          <p:cNvPr id="3" name="Text 1"/>
          <p:cNvSpPr txBox="1"/>
          <p:nvPr/>
        </p:nvSpPr>
        <p:spPr>
          <a:xfrm>
            <a:off x="685800" y="384048"/>
            <a:ext cx="1234440" cy="292608"/>
          </a:xfrm>
          <a:prstGeom prst="rect">
            <a:avLst/>
          </a:prstGeom>
          <a:noFill/>
          <a:ln/>
        </p:spPr>
        <p:txBody>
          <a:bodyPr wrap="square" lIns="0" tIns="0" rIns="0" bIns="0" rtlCol="0" anchor="ctr"/>
          <a:lstStyle/>
          <a:p>
            <a:pPr marL="0" indent="0" algn="ctr">
              <a:buNone/>
            </a:pPr>
            <a:r>
              <a:rPr lang="en-US" sz="1100" b="1" dirty="0">
                <a:solidFill>
                  <a:srgbClr val="E8482B"/>
                </a:solidFill>
                <a:latin typeface="맑은 고딕" pitchFamily="34" charset="0"/>
                <a:ea typeface="맑은 고딕" pitchFamily="34" charset="-122"/>
                <a:cs typeface="맑은 고딕" pitchFamily="34" charset="-120"/>
              </a:rPr>
              <a:t>실제 코드</a:t>
            </a:r>
            <a:endParaRPr lang="en-US" sz="1100" dirty="0"/>
          </a:p>
        </p:txBody>
      </p:sp>
      <p:sp>
        <p:nvSpPr>
          <p:cNvPr id="4" name="Text 2"/>
          <p:cNvSpPr txBox="1"/>
          <p:nvPr/>
        </p:nvSpPr>
        <p:spPr>
          <a:xfrm>
            <a:off x="685800" y="713232"/>
            <a:ext cx="10820095" cy="603504"/>
          </a:xfrm>
          <a:prstGeom prst="rect">
            <a:avLst/>
          </a:prstGeom>
          <a:noFill/>
          <a:ln/>
        </p:spPr>
        <p:txBody>
          <a:bodyPr wrap="square" lIns="0" tIns="0" rIns="0" bIns="0" rtlCol="0" anchor="ctr"/>
          <a:lstStyle/>
          <a:p>
            <a:pPr marL="0" indent="0">
              <a:buNone/>
            </a:pPr>
            <a:r>
              <a:rPr lang="en-US" sz="3400" b="1" dirty="0">
                <a:solidFill>
                  <a:srgbClr val="111214"/>
                </a:solidFill>
                <a:latin typeface="맑은 고딕" pitchFamily="34" charset="0"/>
                <a:ea typeface="맑은 고딕" pitchFamily="34" charset="-122"/>
                <a:cs typeface="맑은 고딕" pitchFamily="34" charset="-120"/>
              </a:rPr>
              <a:t>우리가 만든 Product 클래스</a:t>
            </a:r>
            <a:endParaRPr lang="en-US" sz="3400" dirty="0"/>
          </a:p>
        </p:txBody>
      </p:sp>
      <p:sp>
        <p:nvSpPr>
          <p:cNvPr id="5" name="Text 3"/>
          <p:cNvSpPr txBox="1"/>
          <p:nvPr/>
        </p:nvSpPr>
        <p:spPr>
          <a:xfrm>
            <a:off x="685800" y="1316736"/>
            <a:ext cx="10820095" cy="310896"/>
          </a:xfrm>
          <a:prstGeom prst="rect">
            <a:avLst/>
          </a:prstGeom>
          <a:noFill/>
          <a:ln/>
        </p:spPr>
        <p:txBody>
          <a:bodyPr wrap="square" lIns="0" tIns="0" rIns="0" bIns="0" rtlCol="0" anchor="ctr"/>
          <a:lstStyle/>
          <a:p>
            <a:pPr marL="0" indent="0">
              <a:buNone/>
            </a:pPr>
            <a:r>
              <a:rPr lang="en-US" sz="1400" dirty="0">
                <a:solidFill>
                  <a:srgbClr val="6E6E73"/>
                </a:solidFill>
                <a:latin typeface="맑은 고딕" pitchFamily="34" charset="0"/>
                <a:ea typeface="맑은 고딕" pitchFamily="34" charset="-122"/>
                <a:cs typeface="맑은 고딕" pitchFamily="34" charset="-120"/>
              </a:rPr>
              <a:t>오늘 하나씩 본 개념이 결국 이 한 파일 안에 들어 있습니다</a:t>
            </a:r>
            <a:endParaRPr lang="en-US" sz="1400" dirty="0"/>
          </a:p>
        </p:txBody>
      </p:sp>
      <p:sp>
        <p:nvSpPr>
          <p:cNvPr id="6" name="Shape 4"/>
          <p:cNvSpPr/>
          <p:nvPr/>
        </p:nvSpPr>
        <p:spPr>
          <a:xfrm>
            <a:off x="685800" y="1920240"/>
            <a:ext cx="5349240" cy="1892808"/>
          </a:xfrm>
          <a:prstGeom prst="roundRect">
            <a:avLst>
              <a:gd name="adj" fmla="val 2899"/>
            </a:avLst>
          </a:prstGeom>
          <a:solidFill>
            <a:srgbClr val="F3F2F0"/>
          </a:solidFill>
          <a:ln w="12700">
            <a:solidFill>
              <a:srgbClr val="F3F2F0"/>
            </a:solidFill>
            <a:prstDash val="solid"/>
          </a:ln>
        </p:spPr>
      </p:sp>
      <p:sp>
        <p:nvSpPr>
          <p:cNvPr id="7" name="Shape 5"/>
          <p:cNvSpPr/>
          <p:nvPr/>
        </p:nvSpPr>
        <p:spPr>
          <a:xfrm>
            <a:off x="941832" y="2121408"/>
            <a:ext cx="914400" cy="292608"/>
          </a:xfrm>
          <a:prstGeom prst="roundRect">
            <a:avLst>
              <a:gd name="adj" fmla="val 50000"/>
            </a:avLst>
          </a:prstGeom>
          <a:solidFill>
            <a:srgbClr val="E8482B"/>
          </a:solidFill>
          <a:ln w="12700">
            <a:solidFill>
              <a:srgbClr val="E8482B"/>
            </a:solidFill>
            <a:prstDash val="solid"/>
          </a:ln>
        </p:spPr>
      </p:sp>
      <p:sp>
        <p:nvSpPr>
          <p:cNvPr id="8" name="Text 6"/>
          <p:cNvSpPr txBox="1"/>
          <p:nvPr/>
        </p:nvSpPr>
        <p:spPr>
          <a:xfrm>
            <a:off x="941832" y="2121408"/>
            <a:ext cx="914400"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필드</a:t>
            </a:r>
            <a:endParaRPr lang="en-US" sz="1200" dirty="0"/>
          </a:p>
        </p:txBody>
      </p:sp>
      <p:sp>
        <p:nvSpPr>
          <p:cNvPr id="9" name="Text 7"/>
          <p:cNvSpPr txBox="1"/>
          <p:nvPr/>
        </p:nvSpPr>
        <p:spPr>
          <a:xfrm>
            <a:off x="1984248" y="2121408"/>
            <a:ext cx="3794760" cy="292608"/>
          </a:xfrm>
          <a:prstGeom prst="rect">
            <a:avLst/>
          </a:prstGeom>
          <a:noFill/>
          <a:ln/>
        </p:spPr>
        <p:txBody>
          <a:bodyPr wrap="square" lIns="0" tIns="0" rIns="0" bIns="0" rtlCol="0" anchor="ctr"/>
          <a:lstStyle/>
          <a:p>
            <a:pPr marL="0" indent="0">
              <a:buNone/>
            </a:pPr>
            <a:r>
              <a:rPr lang="en-US" sz="1250" dirty="0">
                <a:solidFill>
                  <a:srgbClr val="6E6E73"/>
                </a:solidFill>
                <a:latin typeface="맑은 고딕" pitchFamily="34" charset="0"/>
                <a:ea typeface="맑은 고딕" pitchFamily="34" charset="-122"/>
                <a:cs typeface="맑은 고딕" pitchFamily="34" charset="-120"/>
              </a:rPr>
              <a:t>객체가 가지는 데이터</a:t>
            </a:r>
            <a:endParaRPr lang="en-US" sz="1250" dirty="0"/>
          </a:p>
        </p:txBody>
      </p:sp>
      <p:sp>
        <p:nvSpPr>
          <p:cNvPr id="10" name="Shape 8"/>
          <p:cNvSpPr/>
          <p:nvPr/>
        </p:nvSpPr>
        <p:spPr>
          <a:xfrm>
            <a:off x="941832" y="2542032"/>
            <a:ext cx="4837176" cy="1069848"/>
          </a:xfrm>
          <a:prstGeom prst="roundRect">
            <a:avLst>
              <a:gd name="adj" fmla="val 6838"/>
            </a:avLst>
          </a:prstGeom>
          <a:solidFill>
            <a:srgbClr val="17181C"/>
          </a:solidFill>
          <a:ln w="12700">
            <a:solidFill>
              <a:srgbClr val="17181C"/>
            </a:solidFill>
            <a:prstDash val="solid"/>
          </a:ln>
        </p:spPr>
      </p:sp>
      <p:sp>
        <p:nvSpPr>
          <p:cNvPr id="11" name="Text 9"/>
          <p:cNvSpPr txBox="1"/>
          <p:nvPr/>
        </p:nvSpPr>
        <p:spPr>
          <a:xfrm>
            <a:off x="1124712" y="2679192"/>
            <a:ext cx="4471416" cy="795528"/>
          </a:xfrm>
          <a:prstGeom prst="rect">
            <a:avLst/>
          </a:prstGeom>
          <a:noFill/>
          <a:ln/>
        </p:spPr>
        <p:txBody>
          <a:bodyPr wrap="square" lIns="0" tIns="0" rIns="0" bIns="0" rtlCol="0" anchor="t"/>
          <a:lstStyle/>
          <a:p>
            <a:pPr marL="0" indent="0">
              <a:lnSpc>
                <a:spcPts val="1846"/>
              </a:lnSpc>
              <a:buNone/>
            </a:pPr>
            <a:r>
              <a:rPr lang="en-US" sz="1300" dirty="0">
                <a:solidFill>
                  <a:srgbClr val="FF8A66"/>
                </a:solidFill>
                <a:latin typeface="Consolas" pitchFamily="34" charset="0"/>
                <a:ea typeface="Consolas" pitchFamily="34" charset="-122"/>
                <a:cs typeface="Consolas" pitchFamily="34" charset="-120"/>
              </a:rPr>
              <a:t>String</a:t>
            </a:r>
            <a:r>
              <a:rPr lang="en-US" sz="1300" dirty="0">
                <a:solidFill>
                  <a:srgbClr val="E9E8E4"/>
                </a:solidFill>
                <a:latin typeface="Consolas" pitchFamily="34" charset="0"/>
                <a:ea typeface="Consolas" pitchFamily="34" charset="-122"/>
                <a:cs typeface="Consolas" pitchFamily="34" charset="-120"/>
              </a:rPr>
              <a:t> name;</a:t>
            </a:r>
            <a:endParaRPr lang="en-US" sz="1300" dirty="0"/>
          </a:p>
          <a:p>
            <a:pPr marL="0" indent="0">
              <a:lnSpc>
                <a:spcPts val="1846"/>
              </a:lnSpc>
              <a:buNone/>
            </a:pPr>
            <a:r>
              <a:rPr lang="en-US" sz="1300" dirty="0">
                <a:solidFill>
                  <a:srgbClr val="FF8A66"/>
                </a:solidFill>
                <a:latin typeface="Consolas" pitchFamily="34" charset="0"/>
                <a:ea typeface="Consolas" pitchFamily="34" charset="-122"/>
                <a:cs typeface="Consolas" pitchFamily="34" charset="-120"/>
              </a:rPr>
              <a:t>int</a:t>
            </a:r>
            <a:r>
              <a:rPr lang="en-US" sz="1300" dirty="0">
                <a:solidFill>
                  <a:srgbClr val="E9E8E4"/>
                </a:solidFill>
                <a:latin typeface="Consolas" pitchFamily="34" charset="0"/>
                <a:ea typeface="Consolas" pitchFamily="34" charset="-122"/>
                <a:cs typeface="Consolas" pitchFamily="34" charset="-120"/>
              </a:rPr>
              <a:t>    price;</a:t>
            </a:r>
            <a:endParaRPr lang="en-US" sz="1300" dirty="0"/>
          </a:p>
          <a:p>
            <a:pPr marL="0" indent="0">
              <a:lnSpc>
                <a:spcPts val="1846"/>
              </a:lnSpc>
              <a:buNone/>
            </a:pPr>
            <a:r>
              <a:rPr lang="en-US" sz="1300" dirty="0">
                <a:solidFill>
                  <a:srgbClr val="FF8A66"/>
                </a:solidFill>
                <a:latin typeface="Consolas" pitchFamily="34" charset="0"/>
                <a:ea typeface="Consolas" pitchFamily="34" charset="-122"/>
                <a:cs typeface="Consolas" pitchFamily="34" charset="-120"/>
              </a:rPr>
              <a:t>int</a:t>
            </a:r>
            <a:r>
              <a:rPr lang="en-US" sz="1300" dirty="0">
                <a:solidFill>
                  <a:srgbClr val="E9E8E4"/>
                </a:solidFill>
                <a:latin typeface="Consolas" pitchFamily="34" charset="0"/>
                <a:ea typeface="Consolas" pitchFamily="34" charset="-122"/>
                <a:cs typeface="Consolas" pitchFamily="34" charset="-120"/>
              </a:rPr>
              <a:t>    stock;</a:t>
            </a:r>
            <a:endParaRPr lang="en-US" sz="1300" dirty="0"/>
          </a:p>
        </p:txBody>
      </p:sp>
      <p:sp>
        <p:nvSpPr>
          <p:cNvPr id="12" name="Shape 10"/>
          <p:cNvSpPr/>
          <p:nvPr/>
        </p:nvSpPr>
        <p:spPr>
          <a:xfrm>
            <a:off x="685800" y="4041648"/>
            <a:ext cx="5349240" cy="2267712"/>
          </a:xfrm>
          <a:prstGeom prst="roundRect">
            <a:avLst>
              <a:gd name="adj" fmla="val 2419"/>
            </a:avLst>
          </a:prstGeom>
          <a:solidFill>
            <a:srgbClr val="F3F2F0"/>
          </a:solidFill>
          <a:ln w="12700">
            <a:solidFill>
              <a:srgbClr val="F3F2F0"/>
            </a:solidFill>
            <a:prstDash val="solid"/>
          </a:ln>
        </p:spPr>
      </p:sp>
      <p:sp>
        <p:nvSpPr>
          <p:cNvPr id="13" name="Shape 11"/>
          <p:cNvSpPr/>
          <p:nvPr/>
        </p:nvSpPr>
        <p:spPr>
          <a:xfrm>
            <a:off x="941832" y="4242816"/>
            <a:ext cx="914400" cy="292608"/>
          </a:xfrm>
          <a:prstGeom prst="roundRect">
            <a:avLst>
              <a:gd name="adj" fmla="val 50000"/>
            </a:avLst>
          </a:prstGeom>
          <a:solidFill>
            <a:srgbClr val="E8482B"/>
          </a:solidFill>
          <a:ln w="12700">
            <a:solidFill>
              <a:srgbClr val="E8482B"/>
            </a:solidFill>
            <a:prstDash val="solid"/>
          </a:ln>
        </p:spPr>
      </p:sp>
      <p:sp>
        <p:nvSpPr>
          <p:cNvPr id="14" name="Text 12"/>
          <p:cNvSpPr txBox="1"/>
          <p:nvPr/>
        </p:nvSpPr>
        <p:spPr>
          <a:xfrm>
            <a:off x="941832" y="4242816"/>
            <a:ext cx="914400"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생성자</a:t>
            </a:r>
            <a:endParaRPr lang="en-US" sz="1200" dirty="0"/>
          </a:p>
        </p:txBody>
      </p:sp>
      <p:sp>
        <p:nvSpPr>
          <p:cNvPr id="15" name="Text 13"/>
          <p:cNvSpPr txBox="1"/>
          <p:nvPr/>
        </p:nvSpPr>
        <p:spPr>
          <a:xfrm>
            <a:off x="1984248" y="4242816"/>
            <a:ext cx="3794760" cy="292608"/>
          </a:xfrm>
          <a:prstGeom prst="rect">
            <a:avLst/>
          </a:prstGeom>
          <a:noFill/>
          <a:ln/>
        </p:spPr>
        <p:txBody>
          <a:bodyPr wrap="square" lIns="0" tIns="0" rIns="0" bIns="0" rtlCol="0" anchor="ctr"/>
          <a:lstStyle/>
          <a:p>
            <a:pPr marL="0" indent="0">
              <a:buNone/>
            </a:pPr>
            <a:r>
              <a:rPr lang="en-US" sz="1250" dirty="0">
                <a:solidFill>
                  <a:srgbClr val="6E6E73"/>
                </a:solidFill>
                <a:latin typeface="맑은 고딕" pitchFamily="34" charset="0"/>
                <a:ea typeface="맑은 고딕" pitchFamily="34" charset="-122"/>
                <a:cs typeface="맑은 고딕" pitchFamily="34" charset="-120"/>
              </a:rPr>
              <a:t>객체의 첫 상태 설정</a:t>
            </a:r>
            <a:endParaRPr lang="en-US" sz="1250" dirty="0"/>
          </a:p>
        </p:txBody>
      </p:sp>
      <p:sp>
        <p:nvSpPr>
          <p:cNvPr id="16" name="Shape 14"/>
          <p:cNvSpPr/>
          <p:nvPr/>
        </p:nvSpPr>
        <p:spPr>
          <a:xfrm>
            <a:off x="941832" y="4663440"/>
            <a:ext cx="4837176" cy="1444752"/>
          </a:xfrm>
          <a:prstGeom prst="roundRect">
            <a:avLst>
              <a:gd name="adj" fmla="val 5063"/>
            </a:avLst>
          </a:prstGeom>
          <a:solidFill>
            <a:srgbClr val="17181C"/>
          </a:solidFill>
          <a:ln w="12700">
            <a:solidFill>
              <a:srgbClr val="17181C"/>
            </a:solidFill>
            <a:prstDash val="solid"/>
          </a:ln>
        </p:spPr>
      </p:sp>
      <p:sp>
        <p:nvSpPr>
          <p:cNvPr id="17" name="Text 15"/>
          <p:cNvSpPr txBox="1"/>
          <p:nvPr/>
        </p:nvSpPr>
        <p:spPr>
          <a:xfrm>
            <a:off x="1124712" y="4800600"/>
            <a:ext cx="4471416" cy="1170432"/>
          </a:xfrm>
          <a:prstGeom prst="rect">
            <a:avLst/>
          </a:prstGeom>
          <a:noFill/>
          <a:ln/>
        </p:spPr>
        <p:txBody>
          <a:bodyPr wrap="square" lIns="0" tIns="0" rIns="0" bIns="0" rtlCol="0" anchor="t"/>
          <a:lstStyle/>
          <a:p>
            <a:pPr marL="0" indent="0">
              <a:lnSpc>
                <a:spcPts val="1704"/>
              </a:lnSpc>
              <a:buNone/>
            </a:pPr>
            <a:r>
              <a:rPr lang="en-US" sz="1200" b="1" dirty="0">
                <a:solidFill>
                  <a:srgbClr val="FF8A66"/>
                </a:solidFill>
                <a:latin typeface="Consolas" pitchFamily="34" charset="0"/>
                <a:ea typeface="Consolas" pitchFamily="34" charset="-122"/>
                <a:cs typeface="Consolas" pitchFamily="34" charset="-120"/>
              </a:rPr>
              <a:t>Product</a:t>
            </a:r>
            <a:r>
              <a:rPr lang="en-US" sz="1200" dirty="0">
                <a:solidFill>
                  <a:srgbClr val="E9E8E4"/>
                </a:solidFill>
                <a:latin typeface="Consolas" pitchFamily="34" charset="0"/>
                <a:ea typeface="Consolas" pitchFamily="34" charset="-122"/>
                <a:cs typeface="Consolas" pitchFamily="34" charset="-120"/>
              </a:rPr>
              <a:t>(String name, int price, int stock) {</a:t>
            </a:r>
            <a:endParaRPr lang="en-US" sz="1200" dirty="0"/>
          </a:p>
          <a:p>
            <a:pPr marL="0" indent="0">
              <a:lnSpc>
                <a:spcPts val="1704"/>
              </a:lnSpc>
              <a:buNone/>
            </a:pPr>
            <a:r>
              <a:rPr lang="en-US" sz="1200" dirty="0">
                <a:solidFill>
                  <a:srgbClr val="FF8A66"/>
                </a:solidFill>
                <a:latin typeface="Consolas" pitchFamily="34" charset="0"/>
                <a:ea typeface="Consolas" pitchFamily="34" charset="-122"/>
                <a:cs typeface="Consolas" pitchFamily="34" charset="-120"/>
              </a:rPr>
              <a:t>    this</a:t>
            </a:r>
            <a:r>
              <a:rPr lang="en-US" sz="1200" dirty="0">
                <a:solidFill>
                  <a:srgbClr val="E9E8E4"/>
                </a:solidFill>
                <a:latin typeface="Consolas" pitchFamily="34" charset="0"/>
                <a:ea typeface="Consolas" pitchFamily="34" charset="-122"/>
                <a:cs typeface="Consolas" pitchFamily="34" charset="-120"/>
              </a:rPr>
              <a:t>.name  = name;</a:t>
            </a:r>
            <a:endParaRPr lang="en-US" sz="1200" dirty="0"/>
          </a:p>
          <a:p>
            <a:pPr marL="0" indent="0">
              <a:lnSpc>
                <a:spcPts val="1704"/>
              </a:lnSpc>
              <a:buNone/>
            </a:pPr>
            <a:r>
              <a:rPr lang="en-US" sz="1200" dirty="0">
                <a:solidFill>
                  <a:srgbClr val="FF8A66"/>
                </a:solidFill>
                <a:latin typeface="Consolas" pitchFamily="34" charset="0"/>
                <a:ea typeface="Consolas" pitchFamily="34" charset="-122"/>
                <a:cs typeface="Consolas" pitchFamily="34" charset="-120"/>
              </a:rPr>
              <a:t>    this</a:t>
            </a:r>
            <a:r>
              <a:rPr lang="en-US" sz="1200" dirty="0">
                <a:solidFill>
                  <a:srgbClr val="E9E8E4"/>
                </a:solidFill>
                <a:latin typeface="Consolas" pitchFamily="34" charset="0"/>
                <a:ea typeface="Consolas" pitchFamily="34" charset="-122"/>
                <a:cs typeface="Consolas" pitchFamily="34" charset="-120"/>
              </a:rPr>
              <a:t>.price = price;</a:t>
            </a:r>
            <a:endParaRPr lang="en-US" sz="1200" dirty="0"/>
          </a:p>
          <a:p>
            <a:pPr marL="0" indent="0">
              <a:lnSpc>
                <a:spcPts val="1704"/>
              </a:lnSpc>
              <a:buNone/>
            </a:pPr>
            <a:r>
              <a:rPr lang="en-US" sz="1200" dirty="0">
                <a:solidFill>
                  <a:srgbClr val="FF8A66"/>
                </a:solidFill>
                <a:latin typeface="Consolas" pitchFamily="34" charset="0"/>
                <a:ea typeface="Consolas" pitchFamily="34" charset="-122"/>
                <a:cs typeface="Consolas" pitchFamily="34" charset="-120"/>
              </a:rPr>
              <a:t>    this</a:t>
            </a:r>
            <a:r>
              <a:rPr lang="en-US" sz="1200" dirty="0">
                <a:solidFill>
                  <a:srgbClr val="E9E8E4"/>
                </a:solidFill>
                <a:latin typeface="Consolas" pitchFamily="34" charset="0"/>
                <a:ea typeface="Consolas" pitchFamily="34" charset="-122"/>
                <a:cs typeface="Consolas" pitchFamily="34" charset="-120"/>
              </a:rPr>
              <a:t>.stock = stock;</a:t>
            </a:r>
            <a:endParaRPr lang="en-US" sz="1200" dirty="0"/>
          </a:p>
          <a:p>
            <a:pPr marL="0" indent="0">
              <a:lnSpc>
                <a:spcPts val="1704"/>
              </a:lnSpc>
              <a:buNone/>
            </a:pPr>
            <a:r>
              <a:rPr lang="en-US" sz="1200" dirty="0">
                <a:solidFill>
                  <a:srgbClr val="E9E8E4"/>
                </a:solidFill>
                <a:latin typeface="Consolas" pitchFamily="34" charset="0"/>
                <a:ea typeface="Consolas" pitchFamily="34" charset="-122"/>
                <a:cs typeface="Consolas" pitchFamily="34" charset="-120"/>
              </a:rPr>
              <a:t>}</a:t>
            </a:r>
            <a:endParaRPr lang="en-US" sz="1200" dirty="0"/>
          </a:p>
        </p:txBody>
      </p:sp>
      <p:sp>
        <p:nvSpPr>
          <p:cNvPr id="18" name="Shape 16"/>
          <p:cNvSpPr/>
          <p:nvPr/>
        </p:nvSpPr>
        <p:spPr>
          <a:xfrm>
            <a:off x="6355080" y="1920240"/>
            <a:ext cx="5486400" cy="4389120"/>
          </a:xfrm>
          <a:prstGeom prst="roundRect">
            <a:avLst>
              <a:gd name="adj" fmla="val 1250"/>
            </a:avLst>
          </a:prstGeom>
          <a:solidFill>
            <a:srgbClr val="F3F2F0"/>
          </a:solidFill>
          <a:ln w="12700">
            <a:solidFill>
              <a:srgbClr val="F3F2F0"/>
            </a:solidFill>
            <a:prstDash val="solid"/>
          </a:ln>
        </p:spPr>
      </p:sp>
      <p:sp>
        <p:nvSpPr>
          <p:cNvPr id="19" name="Shape 17"/>
          <p:cNvSpPr/>
          <p:nvPr/>
        </p:nvSpPr>
        <p:spPr>
          <a:xfrm>
            <a:off x="6611112" y="2121408"/>
            <a:ext cx="914400" cy="292608"/>
          </a:xfrm>
          <a:prstGeom prst="roundRect">
            <a:avLst>
              <a:gd name="adj" fmla="val 50000"/>
            </a:avLst>
          </a:prstGeom>
          <a:solidFill>
            <a:srgbClr val="E8482B"/>
          </a:solidFill>
          <a:ln w="12700">
            <a:solidFill>
              <a:srgbClr val="E8482B"/>
            </a:solidFill>
            <a:prstDash val="solid"/>
          </a:ln>
        </p:spPr>
      </p:sp>
      <p:sp>
        <p:nvSpPr>
          <p:cNvPr id="20" name="Text 18"/>
          <p:cNvSpPr txBox="1"/>
          <p:nvPr/>
        </p:nvSpPr>
        <p:spPr>
          <a:xfrm>
            <a:off x="6611112" y="2121408"/>
            <a:ext cx="914400"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메서드</a:t>
            </a:r>
            <a:endParaRPr lang="en-US" sz="1200" dirty="0"/>
          </a:p>
        </p:txBody>
      </p:sp>
      <p:sp>
        <p:nvSpPr>
          <p:cNvPr id="21" name="Text 19"/>
          <p:cNvSpPr txBox="1"/>
          <p:nvPr/>
        </p:nvSpPr>
        <p:spPr>
          <a:xfrm>
            <a:off x="7653528" y="2121408"/>
            <a:ext cx="3931920" cy="292608"/>
          </a:xfrm>
          <a:prstGeom prst="rect">
            <a:avLst/>
          </a:prstGeom>
          <a:noFill/>
          <a:ln/>
        </p:spPr>
        <p:txBody>
          <a:bodyPr wrap="square" lIns="0" tIns="0" rIns="0" bIns="0" rtlCol="0" anchor="ctr"/>
          <a:lstStyle/>
          <a:p>
            <a:pPr marL="0" indent="0">
              <a:buNone/>
            </a:pPr>
            <a:r>
              <a:rPr lang="en-US" sz="1250" dirty="0">
                <a:solidFill>
                  <a:srgbClr val="6E6E73"/>
                </a:solidFill>
                <a:latin typeface="맑은 고딕" pitchFamily="34" charset="0"/>
                <a:ea typeface="맑은 고딕" pitchFamily="34" charset="-122"/>
                <a:cs typeface="맑은 고딕" pitchFamily="34" charset="-120"/>
              </a:rPr>
              <a:t>객체가 할 수 있는 일</a:t>
            </a:r>
            <a:endParaRPr lang="en-US" sz="1250" dirty="0"/>
          </a:p>
        </p:txBody>
      </p:sp>
      <p:sp>
        <p:nvSpPr>
          <p:cNvPr id="22" name="Shape 20"/>
          <p:cNvSpPr/>
          <p:nvPr/>
        </p:nvSpPr>
        <p:spPr>
          <a:xfrm>
            <a:off x="6611112" y="2542032"/>
            <a:ext cx="4974336" cy="3566160"/>
          </a:xfrm>
          <a:prstGeom prst="roundRect">
            <a:avLst>
              <a:gd name="adj" fmla="val 2051"/>
            </a:avLst>
          </a:prstGeom>
          <a:solidFill>
            <a:srgbClr val="17181C"/>
          </a:solidFill>
          <a:ln w="12700">
            <a:solidFill>
              <a:srgbClr val="17181C"/>
            </a:solidFill>
            <a:prstDash val="solid"/>
          </a:ln>
        </p:spPr>
      </p:sp>
      <p:sp>
        <p:nvSpPr>
          <p:cNvPr id="23" name="Text 21"/>
          <p:cNvSpPr txBox="1"/>
          <p:nvPr/>
        </p:nvSpPr>
        <p:spPr>
          <a:xfrm>
            <a:off x="6793992" y="2679192"/>
            <a:ext cx="4608576" cy="3291840"/>
          </a:xfrm>
          <a:prstGeom prst="rect">
            <a:avLst/>
          </a:prstGeom>
          <a:noFill/>
          <a:ln/>
        </p:spPr>
        <p:txBody>
          <a:bodyPr wrap="square" lIns="0" tIns="0" rIns="0" bIns="0" rtlCol="0" anchor="t"/>
          <a:lstStyle/>
          <a:p>
            <a:pPr marL="0" indent="0">
              <a:lnSpc>
                <a:spcPts val="1633"/>
              </a:lnSpc>
              <a:buNone/>
            </a:pPr>
            <a:r>
              <a:rPr lang="en-US" sz="1150" dirty="0">
                <a:solidFill>
                  <a:srgbClr val="FF8A66"/>
                </a:solidFill>
                <a:latin typeface="Consolas" pitchFamily="34" charset="0"/>
                <a:ea typeface="Consolas" pitchFamily="34" charset="-122"/>
                <a:cs typeface="Consolas" pitchFamily="34" charset="-120"/>
              </a:rPr>
              <a:t>public void</a:t>
            </a:r>
            <a:r>
              <a:rPr lang="en-US" sz="1150" dirty="0">
                <a:solidFill>
                  <a:srgbClr val="E9E8E4"/>
                </a:solidFill>
                <a:latin typeface="Consolas" pitchFamily="34" charset="0"/>
                <a:ea typeface="Consolas" pitchFamily="34" charset="-122"/>
                <a:cs typeface="Consolas" pitchFamily="34" charset="-120"/>
              </a:rPr>
              <a:t> showInfo() {</a:t>
            </a:r>
            <a:endParaRPr lang="en-US" sz="1150" dirty="0"/>
          </a:p>
          <a:p>
            <a:pPr marL="0" indent="0">
              <a:lnSpc>
                <a:spcPts val="1633"/>
              </a:lnSpc>
              <a:buNone/>
            </a:pPr>
            <a:r>
              <a:rPr lang="en-US" sz="1150" dirty="0">
                <a:solidFill>
                  <a:srgbClr val="E9E8E4"/>
                </a:solidFill>
                <a:latin typeface="Consolas" pitchFamily="34" charset="0"/>
                <a:ea typeface="Consolas" pitchFamily="34" charset="-122"/>
                <a:cs typeface="Consolas" pitchFamily="34" charset="-120"/>
              </a:rPr>
              <a:t>    System.out.println(</a:t>
            </a:r>
            <a:r>
              <a:rPr lang="en-US" sz="1150" dirty="0">
                <a:solidFill>
                  <a:srgbClr val="9CCFA4"/>
                </a:solidFill>
                <a:latin typeface="Consolas" pitchFamily="34" charset="0"/>
                <a:ea typeface="Consolas" pitchFamily="34" charset="-122"/>
                <a:cs typeface="Consolas" pitchFamily="34" charset="-120"/>
              </a:rPr>
              <a:t>"Product Name: "</a:t>
            </a:r>
            <a:r>
              <a:rPr lang="en-US" sz="1150" dirty="0">
                <a:solidFill>
                  <a:srgbClr val="E9E8E4"/>
                </a:solidFill>
                <a:latin typeface="Consolas" pitchFamily="34" charset="0"/>
                <a:ea typeface="Consolas" pitchFamily="34" charset="-122"/>
                <a:cs typeface="Consolas" pitchFamily="34" charset="-120"/>
              </a:rPr>
              <a:t> + name);</a:t>
            </a:r>
            <a:endParaRPr lang="en-US" sz="1150" dirty="0"/>
          </a:p>
          <a:p>
            <a:pPr marL="0" indent="0">
              <a:lnSpc>
                <a:spcPts val="1633"/>
              </a:lnSpc>
              <a:buNone/>
            </a:pPr>
            <a:r>
              <a:rPr lang="en-US" sz="1150" dirty="0">
                <a:solidFill>
                  <a:srgbClr val="E9E8E4"/>
                </a:solidFill>
                <a:latin typeface="Consolas" pitchFamily="34" charset="0"/>
                <a:ea typeface="Consolas" pitchFamily="34" charset="-122"/>
                <a:cs typeface="Consolas" pitchFamily="34" charset="-120"/>
              </a:rPr>
              <a:t>    System.out.println(</a:t>
            </a:r>
            <a:r>
              <a:rPr lang="en-US" sz="1150" dirty="0">
                <a:solidFill>
                  <a:srgbClr val="9CCFA4"/>
                </a:solidFill>
                <a:latin typeface="Consolas" pitchFamily="34" charset="0"/>
                <a:ea typeface="Consolas" pitchFamily="34" charset="-122"/>
                <a:cs typeface="Consolas" pitchFamily="34" charset="-120"/>
              </a:rPr>
              <a:t>"Price: "</a:t>
            </a:r>
            <a:r>
              <a:rPr lang="en-US" sz="1150" dirty="0">
                <a:solidFill>
                  <a:srgbClr val="E9E8E4"/>
                </a:solidFill>
                <a:latin typeface="Consolas" pitchFamily="34" charset="0"/>
                <a:ea typeface="Consolas" pitchFamily="34" charset="-122"/>
                <a:cs typeface="Consolas" pitchFamily="34" charset="-120"/>
              </a:rPr>
              <a:t> + price);</a:t>
            </a:r>
            <a:endParaRPr lang="en-US" sz="1150" dirty="0"/>
          </a:p>
          <a:p>
            <a:pPr marL="0" indent="0">
              <a:lnSpc>
                <a:spcPts val="1633"/>
              </a:lnSpc>
              <a:buNone/>
            </a:pPr>
            <a:r>
              <a:rPr lang="en-US" sz="1150" dirty="0">
                <a:solidFill>
                  <a:srgbClr val="E9E8E4"/>
                </a:solidFill>
                <a:latin typeface="Consolas" pitchFamily="34" charset="0"/>
                <a:ea typeface="Consolas" pitchFamily="34" charset="-122"/>
                <a:cs typeface="Consolas" pitchFamily="34" charset="-120"/>
              </a:rPr>
              <a:t>    System.out.println(</a:t>
            </a:r>
            <a:r>
              <a:rPr lang="en-US" sz="1150" dirty="0">
                <a:solidFill>
                  <a:srgbClr val="9CCFA4"/>
                </a:solidFill>
                <a:latin typeface="Consolas" pitchFamily="34" charset="0"/>
                <a:ea typeface="Consolas" pitchFamily="34" charset="-122"/>
                <a:cs typeface="Consolas" pitchFamily="34" charset="-120"/>
              </a:rPr>
              <a:t>"Stock: "</a:t>
            </a:r>
            <a:r>
              <a:rPr lang="en-US" sz="1150" dirty="0">
                <a:solidFill>
                  <a:srgbClr val="E9E8E4"/>
                </a:solidFill>
                <a:latin typeface="Consolas" pitchFamily="34" charset="0"/>
                <a:ea typeface="Consolas" pitchFamily="34" charset="-122"/>
                <a:cs typeface="Consolas" pitchFamily="34" charset="-120"/>
              </a:rPr>
              <a:t> + stock);</a:t>
            </a:r>
            <a:endParaRPr lang="en-US" sz="1150" dirty="0"/>
          </a:p>
          <a:p>
            <a:pPr marL="0" indent="0">
              <a:lnSpc>
                <a:spcPts val="1633"/>
              </a:lnSpc>
              <a:buNone/>
            </a:pPr>
            <a:r>
              <a:rPr lang="en-US" sz="1150" dirty="0">
                <a:solidFill>
                  <a:srgbClr val="E9E8E4"/>
                </a:solidFill>
                <a:latin typeface="Consolas" pitchFamily="34" charset="0"/>
                <a:ea typeface="Consolas" pitchFamily="34" charset="-122"/>
                <a:cs typeface="Consolas" pitchFamily="34" charset="-120"/>
              </a:rPr>
              <a:t>}</a:t>
            </a:r>
            <a:endParaRPr lang="en-US" sz="1150" dirty="0"/>
          </a:p>
          <a:p>
            <a:pPr marL="0" indent="0">
              <a:lnSpc>
                <a:spcPts val="1633"/>
              </a:lnSpc>
              <a:buNone/>
            </a:pPr>
            <a:r>
              <a:rPr lang="en-US" sz="1150" dirty="0">
                <a:solidFill>
                  <a:srgbClr val="E9E8E4"/>
                </a:solidFill>
                <a:latin typeface="Consolas" pitchFamily="34" charset="0"/>
                <a:ea typeface="Consolas" pitchFamily="34" charset="-122"/>
                <a:cs typeface="Consolas" pitchFamily="34" charset="-120"/>
              </a:rPr>
              <a:t> </a:t>
            </a:r>
            <a:endParaRPr lang="en-US" sz="1150" dirty="0"/>
          </a:p>
          <a:p>
            <a:pPr marL="0" indent="0">
              <a:lnSpc>
                <a:spcPts val="1633"/>
              </a:lnSpc>
              <a:buNone/>
            </a:pPr>
            <a:r>
              <a:rPr lang="en-US" sz="1150" dirty="0">
                <a:solidFill>
                  <a:srgbClr val="FF8A66"/>
                </a:solidFill>
                <a:latin typeface="Consolas" pitchFamily="34" charset="0"/>
                <a:ea typeface="Consolas" pitchFamily="34" charset="-122"/>
                <a:cs typeface="Consolas" pitchFamily="34" charset="-120"/>
              </a:rPr>
              <a:t>public void</a:t>
            </a:r>
            <a:r>
              <a:rPr lang="en-US" sz="1150" dirty="0">
                <a:solidFill>
                  <a:srgbClr val="E9E8E4"/>
                </a:solidFill>
                <a:latin typeface="Consolas" pitchFamily="34" charset="0"/>
                <a:ea typeface="Consolas" pitchFamily="34" charset="-122"/>
                <a:cs typeface="Consolas" pitchFamily="34" charset="-120"/>
              </a:rPr>
              <a:t> sell() {</a:t>
            </a:r>
            <a:endParaRPr lang="en-US" sz="1150" dirty="0"/>
          </a:p>
          <a:p>
            <a:pPr marL="0" indent="0">
              <a:lnSpc>
                <a:spcPts val="1633"/>
              </a:lnSpc>
              <a:buNone/>
            </a:pPr>
            <a:r>
              <a:rPr lang="en-US" sz="1150" dirty="0">
                <a:solidFill>
                  <a:srgbClr val="FF8A66"/>
                </a:solidFill>
                <a:latin typeface="Consolas" pitchFamily="34" charset="0"/>
                <a:ea typeface="Consolas" pitchFamily="34" charset="-122"/>
                <a:cs typeface="Consolas" pitchFamily="34" charset="-120"/>
              </a:rPr>
              <a:t>    if</a:t>
            </a:r>
            <a:r>
              <a:rPr lang="en-US" sz="1150" dirty="0">
                <a:solidFill>
                  <a:srgbClr val="E9E8E4"/>
                </a:solidFill>
                <a:latin typeface="Consolas" pitchFamily="34" charset="0"/>
                <a:ea typeface="Consolas" pitchFamily="34" charset="-122"/>
                <a:cs typeface="Consolas" pitchFamily="34" charset="-120"/>
              </a:rPr>
              <a:t> (stock &gt; 0) {</a:t>
            </a:r>
            <a:endParaRPr lang="en-US" sz="1150" dirty="0"/>
          </a:p>
          <a:p>
            <a:pPr marL="0" indent="0">
              <a:lnSpc>
                <a:spcPts val="1633"/>
              </a:lnSpc>
              <a:buNone/>
            </a:pPr>
            <a:r>
              <a:rPr lang="en-US" sz="1150" dirty="0">
                <a:solidFill>
                  <a:srgbClr val="E9E8E4"/>
                </a:solidFill>
                <a:latin typeface="Consolas" pitchFamily="34" charset="0"/>
                <a:ea typeface="Consolas" pitchFamily="34" charset="-122"/>
                <a:cs typeface="Consolas" pitchFamily="34" charset="-120"/>
              </a:rPr>
              <a:t>        stock--;</a:t>
            </a:r>
            <a:endParaRPr lang="en-US" sz="1150" dirty="0"/>
          </a:p>
          <a:p>
            <a:pPr marL="0" indent="0">
              <a:lnSpc>
                <a:spcPts val="1633"/>
              </a:lnSpc>
              <a:buNone/>
            </a:pPr>
            <a:r>
              <a:rPr lang="en-US" sz="1150" dirty="0">
                <a:solidFill>
                  <a:srgbClr val="E9E8E4"/>
                </a:solidFill>
                <a:latin typeface="Consolas" pitchFamily="34" charset="0"/>
                <a:ea typeface="Consolas" pitchFamily="34" charset="-122"/>
                <a:cs typeface="Consolas" pitchFamily="34" charset="-120"/>
              </a:rPr>
              <a:t>        System.out.println(name + </a:t>
            </a:r>
            <a:r>
              <a:rPr lang="en-US" sz="1150" dirty="0">
                <a:solidFill>
                  <a:srgbClr val="9CCFA4"/>
                </a:solidFill>
                <a:latin typeface="Consolas" pitchFamily="34" charset="0"/>
                <a:ea typeface="Consolas" pitchFamily="34" charset="-122"/>
                <a:cs typeface="Consolas" pitchFamily="34" charset="-120"/>
              </a:rPr>
              <a:t>" 판매완료!"</a:t>
            </a:r>
            <a:r>
              <a:rPr lang="en-US" sz="1150" dirty="0">
                <a:solidFill>
                  <a:srgbClr val="E9E8E4"/>
                </a:solidFill>
                <a:latin typeface="Consolas" pitchFamily="34" charset="0"/>
                <a:ea typeface="Consolas" pitchFamily="34" charset="-122"/>
                <a:cs typeface="Consolas" pitchFamily="34" charset="-120"/>
              </a:rPr>
              <a:t>);</a:t>
            </a:r>
            <a:endParaRPr lang="en-US" sz="1150" dirty="0"/>
          </a:p>
          <a:p>
            <a:pPr marL="0" indent="0">
              <a:lnSpc>
                <a:spcPts val="1633"/>
              </a:lnSpc>
              <a:buNone/>
            </a:pPr>
            <a:r>
              <a:rPr lang="en-US" sz="1150" dirty="0">
                <a:solidFill>
                  <a:srgbClr val="E9E8E4"/>
                </a:solidFill>
                <a:latin typeface="Consolas" pitchFamily="34" charset="0"/>
                <a:ea typeface="Consolas" pitchFamily="34" charset="-122"/>
                <a:cs typeface="Consolas" pitchFamily="34" charset="-120"/>
              </a:rPr>
              <a:t>        System.out.println(</a:t>
            </a:r>
            <a:r>
              <a:rPr lang="en-US" sz="1150" dirty="0">
                <a:solidFill>
                  <a:srgbClr val="9CCFA4"/>
                </a:solidFill>
                <a:latin typeface="Consolas" pitchFamily="34" charset="0"/>
                <a:ea typeface="Consolas" pitchFamily="34" charset="-122"/>
                <a:cs typeface="Consolas" pitchFamily="34" charset="-120"/>
              </a:rPr>
              <a:t>"남은 재고: "</a:t>
            </a:r>
            <a:r>
              <a:rPr lang="en-US" sz="1150" dirty="0">
                <a:solidFill>
                  <a:srgbClr val="E9E8E4"/>
                </a:solidFill>
                <a:latin typeface="Consolas" pitchFamily="34" charset="0"/>
                <a:ea typeface="Consolas" pitchFamily="34" charset="-122"/>
                <a:cs typeface="Consolas" pitchFamily="34" charset="-120"/>
              </a:rPr>
              <a:t> + stock);</a:t>
            </a:r>
            <a:endParaRPr lang="en-US" sz="1150" dirty="0"/>
          </a:p>
          <a:p>
            <a:pPr marL="0" indent="0">
              <a:lnSpc>
                <a:spcPts val="1633"/>
              </a:lnSpc>
              <a:buNone/>
            </a:pPr>
            <a:r>
              <a:rPr lang="en-US" sz="1150" dirty="0">
                <a:solidFill>
                  <a:srgbClr val="E9E8E4"/>
                </a:solidFill>
                <a:latin typeface="Consolas" pitchFamily="34" charset="0"/>
                <a:ea typeface="Consolas" pitchFamily="34" charset="-122"/>
                <a:cs typeface="Consolas" pitchFamily="34" charset="-120"/>
              </a:rPr>
              <a:t>    } </a:t>
            </a:r>
            <a:r>
              <a:rPr lang="en-US" sz="1150" dirty="0">
                <a:solidFill>
                  <a:srgbClr val="FF8A66"/>
                </a:solidFill>
                <a:latin typeface="Consolas" pitchFamily="34" charset="0"/>
                <a:ea typeface="Consolas" pitchFamily="34" charset="-122"/>
                <a:cs typeface="Consolas" pitchFamily="34" charset="-120"/>
              </a:rPr>
              <a:t>else</a:t>
            </a:r>
            <a:r>
              <a:rPr lang="en-US" sz="1150" dirty="0">
                <a:solidFill>
                  <a:srgbClr val="E9E8E4"/>
                </a:solidFill>
                <a:latin typeface="Consolas" pitchFamily="34" charset="0"/>
                <a:ea typeface="Consolas" pitchFamily="34" charset="-122"/>
                <a:cs typeface="Consolas" pitchFamily="34" charset="-120"/>
              </a:rPr>
              <a:t> {</a:t>
            </a:r>
            <a:endParaRPr lang="en-US" sz="1150" dirty="0"/>
          </a:p>
          <a:p>
            <a:pPr marL="0" indent="0">
              <a:lnSpc>
                <a:spcPts val="1633"/>
              </a:lnSpc>
              <a:buNone/>
            </a:pPr>
            <a:r>
              <a:rPr lang="en-US" sz="1150" dirty="0">
                <a:solidFill>
                  <a:srgbClr val="E9E8E4"/>
                </a:solidFill>
                <a:latin typeface="Consolas" pitchFamily="34" charset="0"/>
                <a:ea typeface="Consolas" pitchFamily="34" charset="-122"/>
                <a:cs typeface="Consolas" pitchFamily="34" charset="-120"/>
              </a:rPr>
              <a:t>        System.out.println(</a:t>
            </a:r>
            <a:r>
              <a:rPr lang="en-US" sz="1150" dirty="0">
                <a:solidFill>
                  <a:srgbClr val="9CCFA4"/>
                </a:solidFill>
                <a:latin typeface="Consolas" pitchFamily="34" charset="0"/>
                <a:ea typeface="Consolas" pitchFamily="34" charset="-122"/>
                <a:cs typeface="Consolas" pitchFamily="34" charset="-120"/>
              </a:rPr>
              <a:t>"재고가 없습니다."</a:t>
            </a:r>
            <a:r>
              <a:rPr lang="en-US" sz="1150" dirty="0">
                <a:solidFill>
                  <a:srgbClr val="E9E8E4"/>
                </a:solidFill>
                <a:latin typeface="Consolas" pitchFamily="34" charset="0"/>
                <a:ea typeface="Consolas" pitchFamily="34" charset="-122"/>
                <a:cs typeface="Consolas" pitchFamily="34" charset="-120"/>
              </a:rPr>
              <a:t>);</a:t>
            </a:r>
            <a:endParaRPr lang="en-US" sz="1150" dirty="0"/>
          </a:p>
          <a:p>
            <a:pPr marL="0" indent="0">
              <a:lnSpc>
                <a:spcPts val="1633"/>
              </a:lnSpc>
              <a:buNone/>
            </a:pPr>
            <a:r>
              <a:rPr lang="en-US" sz="1150" dirty="0">
                <a:solidFill>
                  <a:srgbClr val="E9E8E4"/>
                </a:solidFill>
                <a:latin typeface="Consolas" pitchFamily="34" charset="0"/>
                <a:ea typeface="Consolas" pitchFamily="34" charset="-122"/>
                <a:cs typeface="Consolas" pitchFamily="34" charset="-120"/>
              </a:rPr>
              <a:t>    }</a:t>
            </a:r>
            <a:endParaRPr lang="en-US" sz="1150" dirty="0"/>
          </a:p>
          <a:p>
            <a:pPr marL="0" indent="0">
              <a:lnSpc>
                <a:spcPts val="1633"/>
              </a:lnSpc>
              <a:buNone/>
            </a:pPr>
            <a:r>
              <a:rPr lang="en-US" sz="1150" dirty="0">
                <a:solidFill>
                  <a:srgbClr val="E9E8E4"/>
                </a:solidFill>
                <a:latin typeface="Consolas" pitchFamily="34" charset="0"/>
                <a:ea typeface="Consolas" pitchFamily="34" charset="-122"/>
                <a:cs typeface="Consolas" pitchFamily="34" charset="-120"/>
              </a:rPr>
              <a:t>}</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85800" y="384048"/>
            <a:ext cx="1508760" cy="292608"/>
          </a:xfrm>
          <a:prstGeom prst="roundRect">
            <a:avLst>
              <a:gd name="adj" fmla="val 50000"/>
            </a:avLst>
          </a:prstGeom>
          <a:solidFill>
            <a:srgbClr val="FBE7E2"/>
          </a:solidFill>
          <a:ln w="12700">
            <a:solidFill>
              <a:srgbClr val="FBE7E2"/>
            </a:solidFill>
            <a:prstDash val="solid"/>
          </a:ln>
        </p:spPr>
      </p:sp>
      <p:sp>
        <p:nvSpPr>
          <p:cNvPr id="3" name="Text 1"/>
          <p:cNvSpPr txBox="1"/>
          <p:nvPr/>
        </p:nvSpPr>
        <p:spPr>
          <a:xfrm>
            <a:off x="685800" y="384048"/>
            <a:ext cx="1508760" cy="292608"/>
          </a:xfrm>
          <a:prstGeom prst="rect">
            <a:avLst/>
          </a:prstGeom>
          <a:noFill/>
          <a:ln/>
        </p:spPr>
        <p:txBody>
          <a:bodyPr wrap="square" lIns="0" tIns="0" rIns="0" bIns="0" rtlCol="0" anchor="ctr"/>
          <a:lstStyle/>
          <a:p>
            <a:pPr marL="0" indent="0" algn="ctr">
              <a:buNone/>
            </a:pPr>
            <a:r>
              <a:rPr lang="en-US" sz="1100" b="1" dirty="0">
                <a:solidFill>
                  <a:srgbClr val="E8482B"/>
                </a:solidFill>
                <a:latin typeface="맑은 고딕" pitchFamily="34" charset="0"/>
                <a:ea typeface="맑은 고딕" pitchFamily="34" charset="-122"/>
                <a:cs typeface="맑은 고딕" pitchFamily="34" charset="-120"/>
              </a:rPr>
              <a:t>실제 프로그램</a:t>
            </a:r>
            <a:endParaRPr lang="en-US" sz="1100" dirty="0"/>
          </a:p>
        </p:txBody>
      </p:sp>
      <p:sp>
        <p:nvSpPr>
          <p:cNvPr id="4" name="Text 2"/>
          <p:cNvSpPr txBox="1"/>
          <p:nvPr/>
        </p:nvSpPr>
        <p:spPr>
          <a:xfrm>
            <a:off x="685800" y="713232"/>
            <a:ext cx="10820095" cy="603504"/>
          </a:xfrm>
          <a:prstGeom prst="rect">
            <a:avLst/>
          </a:prstGeom>
          <a:noFill/>
          <a:ln/>
        </p:spPr>
        <p:txBody>
          <a:bodyPr wrap="square" lIns="0" tIns="0" rIns="0" bIns="0" rtlCol="0" anchor="ctr"/>
          <a:lstStyle/>
          <a:p>
            <a:pPr marL="0" indent="0">
              <a:buNone/>
            </a:pPr>
            <a:r>
              <a:rPr lang="en-US" sz="3400" b="1" dirty="0">
                <a:solidFill>
                  <a:srgbClr val="111214"/>
                </a:solidFill>
                <a:latin typeface="맑은 고딕" pitchFamily="34" charset="0"/>
                <a:ea typeface="맑은 고딕" pitchFamily="34" charset="-122"/>
                <a:cs typeface="맑은 고딕" pitchFamily="34" charset="-120"/>
              </a:rPr>
              <a:t>우리가 만든 상품관리 프로그램</a:t>
            </a:r>
            <a:endParaRPr lang="en-US" sz="3400" dirty="0"/>
          </a:p>
        </p:txBody>
      </p:sp>
      <p:sp>
        <p:nvSpPr>
          <p:cNvPr id="5" name="Text 3"/>
          <p:cNvSpPr txBox="1"/>
          <p:nvPr/>
        </p:nvSpPr>
        <p:spPr>
          <a:xfrm>
            <a:off x="685800" y="1316736"/>
            <a:ext cx="10820095" cy="310896"/>
          </a:xfrm>
          <a:prstGeom prst="rect">
            <a:avLst/>
          </a:prstGeom>
          <a:noFill/>
          <a:ln/>
        </p:spPr>
        <p:txBody>
          <a:bodyPr wrap="square" lIns="0" tIns="0" rIns="0" bIns="0" rtlCol="0" anchor="ctr"/>
          <a:lstStyle/>
          <a:p>
            <a:pPr marL="0" indent="0">
              <a:buNone/>
            </a:pPr>
            <a:r>
              <a:rPr lang="en-US" sz="1400" dirty="0">
                <a:solidFill>
                  <a:srgbClr val="6E6E73"/>
                </a:solidFill>
                <a:latin typeface="맑은 고딕" pitchFamily="34" charset="0"/>
                <a:ea typeface="맑은 고딕" pitchFamily="34" charset="-122"/>
                <a:cs typeface="맑은 고딕" pitchFamily="34" charset="-120"/>
              </a:rPr>
              <a:t>Main.java에서 객체를 만들고, 메서드를 부른다</a:t>
            </a:r>
            <a:endParaRPr lang="en-US" sz="1400" dirty="0"/>
          </a:p>
        </p:txBody>
      </p:sp>
      <p:sp>
        <p:nvSpPr>
          <p:cNvPr id="6" name="Shape 4"/>
          <p:cNvSpPr/>
          <p:nvPr/>
        </p:nvSpPr>
        <p:spPr>
          <a:xfrm>
            <a:off x="685800" y="2011680"/>
            <a:ext cx="6537960" cy="3523234"/>
          </a:xfrm>
          <a:prstGeom prst="roundRect">
            <a:avLst>
              <a:gd name="adj" fmla="val 2076"/>
            </a:avLst>
          </a:prstGeom>
          <a:solidFill>
            <a:srgbClr val="17181C"/>
          </a:solidFill>
          <a:ln w="12700">
            <a:solidFill>
              <a:srgbClr val="17181C"/>
            </a:solidFill>
            <a:prstDash val="solid"/>
          </a:ln>
        </p:spPr>
      </p:sp>
      <p:sp>
        <p:nvSpPr>
          <p:cNvPr id="7" name="Text 5"/>
          <p:cNvSpPr txBox="1"/>
          <p:nvPr/>
        </p:nvSpPr>
        <p:spPr>
          <a:xfrm>
            <a:off x="923544" y="2203704"/>
            <a:ext cx="6062472" cy="3139186"/>
          </a:xfrm>
          <a:prstGeom prst="rect">
            <a:avLst/>
          </a:prstGeom>
          <a:noFill/>
          <a:ln/>
        </p:spPr>
        <p:txBody>
          <a:bodyPr wrap="square" lIns="0" tIns="0" rIns="0" bIns="0" rtlCol="0" anchor="t"/>
          <a:lstStyle/>
          <a:p>
            <a:pPr marL="0" indent="0">
              <a:lnSpc>
                <a:spcPts val="1846"/>
              </a:lnSpc>
              <a:buNone/>
            </a:pPr>
            <a:r>
              <a:rPr lang="en-US" sz="1300" b="1" dirty="0">
                <a:solidFill>
                  <a:srgbClr val="FF8A66"/>
                </a:solidFill>
                <a:latin typeface="Consolas" pitchFamily="34" charset="0"/>
                <a:ea typeface="Consolas" pitchFamily="34" charset="-122"/>
                <a:cs typeface="Consolas" pitchFamily="34" charset="-120"/>
              </a:rPr>
              <a:t>Product</a:t>
            </a:r>
            <a:r>
              <a:rPr lang="en-US" sz="1300" dirty="0">
                <a:solidFill>
                  <a:srgbClr val="E9E8E4"/>
                </a:solidFill>
                <a:latin typeface="Consolas" pitchFamily="34" charset="0"/>
                <a:ea typeface="Consolas" pitchFamily="34" charset="-122"/>
                <a:cs typeface="Consolas" pitchFamily="34" charset="-120"/>
              </a:rPr>
              <a:t> product1 = </a:t>
            </a:r>
            <a:r>
              <a:rPr lang="en-US" sz="1300" dirty="0">
                <a:solidFill>
                  <a:srgbClr val="FF8A66"/>
                </a:solidFill>
                <a:latin typeface="Consolas" pitchFamily="34" charset="0"/>
                <a:ea typeface="Consolas" pitchFamily="34" charset="-122"/>
                <a:cs typeface="Consolas" pitchFamily="34" charset="-120"/>
              </a:rPr>
              <a:t>new</a:t>
            </a:r>
            <a:r>
              <a:rPr lang="en-US" sz="1300" dirty="0">
                <a:solidFill>
                  <a:srgbClr val="E9E8E4"/>
                </a:solidFill>
                <a:latin typeface="Consolas" pitchFamily="34" charset="0"/>
                <a:ea typeface="Consolas" pitchFamily="34" charset="-122"/>
                <a:cs typeface="Consolas" pitchFamily="34" charset="-120"/>
              </a:rPr>
              <a:t> Product(</a:t>
            </a:r>
            <a:r>
              <a:rPr lang="en-US" sz="1300" dirty="0">
                <a:solidFill>
                  <a:srgbClr val="9CCFA4"/>
                </a:solidFill>
                <a:latin typeface="Consolas" pitchFamily="34" charset="0"/>
                <a:ea typeface="Consolas" pitchFamily="34" charset="-122"/>
                <a:cs typeface="Consolas" pitchFamily="34" charset="-120"/>
              </a:rPr>
              <a:t>"Erl hoodie"</a:t>
            </a:r>
            <a:r>
              <a:rPr lang="en-US" sz="1300" dirty="0">
                <a:solidFill>
                  <a:srgbClr val="E9E8E4"/>
                </a:solidFill>
                <a:latin typeface="Consolas" pitchFamily="34" charset="0"/>
                <a:ea typeface="Consolas" pitchFamily="34" charset="-122"/>
                <a:cs typeface="Consolas" pitchFamily="34" charset="-120"/>
              </a:rPr>
              <a:t>, 450000, 3);</a:t>
            </a:r>
            <a:endParaRPr lang="en-US" sz="1300" dirty="0"/>
          </a:p>
          <a:p>
            <a:pPr marL="0" indent="0">
              <a:lnSpc>
                <a:spcPts val="1846"/>
              </a:lnSpc>
              <a:buNone/>
            </a:pPr>
            <a:r>
              <a:rPr lang="en-US" sz="1300" b="1" dirty="0">
                <a:solidFill>
                  <a:srgbClr val="FF8A66"/>
                </a:solidFill>
                <a:latin typeface="Consolas" pitchFamily="34" charset="0"/>
                <a:ea typeface="Consolas" pitchFamily="34" charset="-122"/>
                <a:cs typeface="Consolas" pitchFamily="34" charset="-120"/>
              </a:rPr>
              <a:t>Product</a:t>
            </a:r>
            <a:r>
              <a:rPr lang="en-US" sz="1300" dirty="0">
                <a:solidFill>
                  <a:srgbClr val="E9E8E4"/>
                </a:solidFill>
                <a:latin typeface="Consolas" pitchFamily="34" charset="0"/>
                <a:ea typeface="Consolas" pitchFamily="34" charset="-122"/>
                <a:cs typeface="Consolas" pitchFamily="34" charset="-120"/>
              </a:rPr>
              <a:t> product2 = </a:t>
            </a:r>
            <a:r>
              <a:rPr lang="en-US" sz="1300" dirty="0">
                <a:solidFill>
                  <a:srgbClr val="FF8A66"/>
                </a:solidFill>
                <a:latin typeface="Consolas" pitchFamily="34" charset="0"/>
                <a:ea typeface="Consolas" pitchFamily="34" charset="-122"/>
                <a:cs typeface="Consolas" pitchFamily="34" charset="-120"/>
              </a:rPr>
              <a:t>new</a:t>
            </a:r>
            <a:r>
              <a:rPr lang="en-US" sz="1300" dirty="0">
                <a:solidFill>
                  <a:srgbClr val="E9E8E4"/>
                </a:solidFill>
                <a:latin typeface="Consolas" pitchFamily="34" charset="0"/>
                <a:ea typeface="Consolas" pitchFamily="34" charset="-122"/>
                <a:cs typeface="Consolas" pitchFamily="34" charset="-120"/>
              </a:rPr>
              <a:t> Product(</a:t>
            </a:r>
            <a:r>
              <a:rPr lang="en-US" sz="1300" dirty="0">
                <a:solidFill>
                  <a:srgbClr val="9CCFA4"/>
                </a:solidFill>
                <a:latin typeface="Consolas" pitchFamily="34" charset="0"/>
                <a:ea typeface="Consolas" pitchFamily="34" charset="-122"/>
                <a:cs typeface="Consolas" pitchFamily="34" charset="-120"/>
              </a:rPr>
              <a:t>"Diesel Jeans"</a:t>
            </a:r>
            <a:r>
              <a:rPr lang="en-US" sz="1300" dirty="0">
                <a:solidFill>
                  <a:srgbClr val="E9E8E4"/>
                </a:solidFill>
                <a:latin typeface="Consolas" pitchFamily="34" charset="0"/>
                <a:ea typeface="Consolas" pitchFamily="34" charset="-122"/>
                <a:cs typeface="Consolas" pitchFamily="34" charset="-120"/>
              </a:rPr>
              <a:t>, 390000, 5);</a:t>
            </a:r>
            <a:endParaRPr lang="en-US" sz="1300" dirty="0"/>
          </a:p>
          <a:p>
            <a:pPr marL="0" indent="0">
              <a:lnSpc>
                <a:spcPts val="1846"/>
              </a:lnSpc>
              <a:buNone/>
            </a:pPr>
            <a:r>
              <a:rPr lang="en-US" sz="1300" dirty="0">
                <a:solidFill>
                  <a:srgbClr val="E9E8E4"/>
                </a:solidFill>
                <a:latin typeface="Consolas" pitchFamily="34" charset="0"/>
                <a:ea typeface="Consolas" pitchFamily="34" charset="-122"/>
                <a:cs typeface="Consolas" pitchFamily="34" charset="-120"/>
              </a:rPr>
              <a:t> </a:t>
            </a:r>
            <a:endParaRPr lang="en-US" sz="1300" dirty="0"/>
          </a:p>
          <a:p>
            <a:pPr marL="0" indent="0">
              <a:lnSpc>
                <a:spcPts val="1846"/>
              </a:lnSpc>
              <a:buNone/>
            </a:pPr>
            <a:r>
              <a:rPr lang="en-US" sz="1300" dirty="0">
                <a:solidFill>
                  <a:srgbClr val="FF8A66"/>
                </a:solidFill>
                <a:latin typeface="Consolas" pitchFamily="34" charset="0"/>
                <a:ea typeface="Consolas" pitchFamily="34" charset="-122"/>
                <a:cs typeface="Consolas" pitchFamily="34" charset="-120"/>
              </a:rPr>
              <a:t>int</a:t>
            </a:r>
            <a:r>
              <a:rPr lang="en-US" sz="1300" dirty="0">
                <a:solidFill>
                  <a:srgbClr val="E9E8E4"/>
                </a:solidFill>
                <a:latin typeface="Consolas" pitchFamily="34" charset="0"/>
                <a:ea typeface="Consolas" pitchFamily="34" charset="-122"/>
                <a:cs typeface="Consolas" pitchFamily="34" charset="-120"/>
              </a:rPr>
              <a:t> choice = scanner.nextInt();</a:t>
            </a:r>
            <a:endParaRPr lang="en-US" sz="1300" dirty="0"/>
          </a:p>
          <a:p>
            <a:pPr marL="0" indent="0">
              <a:lnSpc>
                <a:spcPts val="1846"/>
              </a:lnSpc>
              <a:buNone/>
            </a:pPr>
            <a:r>
              <a:rPr lang="en-US" sz="1300" dirty="0">
                <a:solidFill>
                  <a:srgbClr val="E9E8E4"/>
                </a:solidFill>
                <a:latin typeface="Consolas" pitchFamily="34" charset="0"/>
                <a:ea typeface="Consolas" pitchFamily="34" charset="-122"/>
                <a:cs typeface="Consolas" pitchFamily="34" charset="-120"/>
              </a:rPr>
              <a:t> </a:t>
            </a:r>
            <a:endParaRPr lang="en-US" sz="1300" dirty="0"/>
          </a:p>
          <a:p>
            <a:pPr marL="0" indent="0">
              <a:lnSpc>
                <a:spcPts val="1846"/>
              </a:lnSpc>
              <a:buNone/>
            </a:pPr>
            <a:r>
              <a:rPr lang="en-US" sz="1300" dirty="0">
                <a:solidFill>
                  <a:srgbClr val="FF8A66"/>
                </a:solidFill>
                <a:latin typeface="Consolas" pitchFamily="34" charset="0"/>
                <a:ea typeface="Consolas" pitchFamily="34" charset="-122"/>
                <a:cs typeface="Consolas" pitchFamily="34" charset="-120"/>
              </a:rPr>
              <a:t>if</a:t>
            </a:r>
            <a:r>
              <a:rPr lang="en-US" sz="1300" dirty="0">
                <a:solidFill>
                  <a:srgbClr val="E9E8E4"/>
                </a:solidFill>
                <a:latin typeface="Consolas" pitchFamily="34" charset="0"/>
                <a:ea typeface="Consolas" pitchFamily="34" charset="-122"/>
                <a:cs typeface="Consolas" pitchFamily="34" charset="-120"/>
              </a:rPr>
              <a:t> (choice == 1) {</a:t>
            </a:r>
            <a:endParaRPr lang="en-US" sz="1300" dirty="0"/>
          </a:p>
          <a:p>
            <a:pPr marL="0" indent="0">
              <a:lnSpc>
                <a:spcPts val="1846"/>
              </a:lnSpc>
              <a:buNone/>
            </a:pPr>
            <a:r>
              <a:rPr lang="en-US" sz="1300" dirty="0">
                <a:solidFill>
                  <a:srgbClr val="FF8A66"/>
                </a:solidFill>
                <a:latin typeface="Consolas" pitchFamily="34" charset="0"/>
                <a:ea typeface="Consolas" pitchFamily="34" charset="-122"/>
                <a:cs typeface="Consolas" pitchFamily="34" charset="-120"/>
              </a:rPr>
              <a:t>    product1.sell();</a:t>
            </a:r>
            <a:endParaRPr lang="en-US" sz="1300" dirty="0"/>
          </a:p>
          <a:p>
            <a:pPr marL="0" indent="0">
              <a:lnSpc>
                <a:spcPts val="1846"/>
              </a:lnSpc>
              <a:buNone/>
            </a:pPr>
            <a:r>
              <a:rPr lang="en-US" sz="1300" dirty="0">
                <a:solidFill>
                  <a:srgbClr val="E9E8E4"/>
                </a:solidFill>
                <a:latin typeface="Consolas" pitchFamily="34" charset="0"/>
                <a:ea typeface="Consolas" pitchFamily="34" charset="-122"/>
                <a:cs typeface="Consolas" pitchFamily="34" charset="-120"/>
              </a:rPr>
              <a:t>} </a:t>
            </a:r>
            <a:r>
              <a:rPr lang="en-US" sz="1300" dirty="0">
                <a:solidFill>
                  <a:srgbClr val="FF8A66"/>
                </a:solidFill>
                <a:latin typeface="Consolas" pitchFamily="34" charset="0"/>
                <a:ea typeface="Consolas" pitchFamily="34" charset="-122"/>
                <a:cs typeface="Consolas" pitchFamily="34" charset="-120"/>
              </a:rPr>
              <a:t>else if</a:t>
            </a:r>
            <a:r>
              <a:rPr lang="en-US" sz="1300" dirty="0">
                <a:solidFill>
                  <a:srgbClr val="E9E8E4"/>
                </a:solidFill>
                <a:latin typeface="Consolas" pitchFamily="34" charset="0"/>
                <a:ea typeface="Consolas" pitchFamily="34" charset="-122"/>
                <a:cs typeface="Consolas" pitchFamily="34" charset="-120"/>
              </a:rPr>
              <a:t> (choice == 2) {</a:t>
            </a:r>
            <a:endParaRPr lang="en-US" sz="1300" dirty="0"/>
          </a:p>
          <a:p>
            <a:pPr marL="0" indent="0">
              <a:lnSpc>
                <a:spcPts val="1846"/>
              </a:lnSpc>
              <a:buNone/>
            </a:pPr>
            <a:r>
              <a:rPr lang="en-US" sz="1300" dirty="0">
                <a:solidFill>
                  <a:srgbClr val="FF8A66"/>
                </a:solidFill>
                <a:latin typeface="Consolas" pitchFamily="34" charset="0"/>
                <a:ea typeface="Consolas" pitchFamily="34" charset="-122"/>
                <a:cs typeface="Consolas" pitchFamily="34" charset="-120"/>
              </a:rPr>
              <a:t>    product2.sell();</a:t>
            </a:r>
            <a:endParaRPr lang="en-US" sz="1300" dirty="0"/>
          </a:p>
          <a:p>
            <a:pPr marL="0" indent="0">
              <a:lnSpc>
                <a:spcPts val="1846"/>
              </a:lnSpc>
              <a:buNone/>
            </a:pPr>
            <a:r>
              <a:rPr lang="en-US" sz="1300" dirty="0">
                <a:solidFill>
                  <a:srgbClr val="E9E8E4"/>
                </a:solidFill>
                <a:latin typeface="Consolas" pitchFamily="34" charset="0"/>
                <a:ea typeface="Consolas" pitchFamily="34" charset="-122"/>
                <a:cs typeface="Consolas" pitchFamily="34" charset="-120"/>
              </a:rPr>
              <a:t>}</a:t>
            </a:r>
            <a:endParaRPr lang="en-US" sz="1300" dirty="0"/>
          </a:p>
          <a:p>
            <a:pPr marL="0" indent="0">
              <a:lnSpc>
                <a:spcPts val="1846"/>
              </a:lnSpc>
              <a:buNone/>
            </a:pPr>
            <a:r>
              <a:rPr lang="en-US" sz="1300" dirty="0">
                <a:solidFill>
                  <a:srgbClr val="E9E8E4"/>
                </a:solidFill>
                <a:latin typeface="Consolas" pitchFamily="34" charset="0"/>
                <a:ea typeface="Consolas" pitchFamily="34" charset="-122"/>
                <a:cs typeface="Consolas" pitchFamily="34" charset="-120"/>
              </a:rPr>
              <a:t> </a:t>
            </a:r>
            <a:endParaRPr lang="en-US" sz="1300" dirty="0"/>
          </a:p>
          <a:p>
            <a:pPr marL="0" indent="0">
              <a:lnSpc>
                <a:spcPts val="1846"/>
              </a:lnSpc>
              <a:buNone/>
            </a:pPr>
            <a:r>
              <a:rPr lang="en-US" sz="1300" dirty="0">
                <a:solidFill>
                  <a:srgbClr val="E9E8E4"/>
                </a:solidFill>
                <a:latin typeface="Consolas" pitchFamily="34" charset="0"/>
                <a:ea typeface="Consolas" pitchFamily="34" charset="-122"/>
                <a:cs typeface="Consolas" pitchFamily="34" charset="-120"/>
              </a:rPr>
              <a:t>product1.showInfo();</a:t>
            </a:r>
            <a:endParaRPr lang="en-US" sz="1300" dirty="0"/>
          </a:p>
          <a:p>
            <a:pPr marL="0" indent="0">
              <a:lnSpc>
                <a:spcPts val="1846"/>
              </a:lnSpc>
              <a:buNone/>
            </a:pPr>
            <a:r>
              <a:rPr lang="en-US" sz="1300" dirty="0">
                <a:solidFill>
                  <a:srgbClr val="E9E8E4"/>
                </a:solidFill>
                <a:latin typeface="Consolas" pitchFamily="34" charset="0"/>
                <a:ea typeface="Consolas" pitchFamily="34" charset="-122"/>
                <a:cs typeface="Consolas" pitchFamily="34" charset="-120"/>
              </a:rPr>
              <a:t>product2.showInfo();</a:t>
            </a:r>
            <a:endParaRPr lang="en-US" sz="1300" dirty="0"/>
          </a:p>
        </p:txBody>
      </p:sp>
      <p:sp>
        <p:nvSpPr>
          <p:cNvPr id="8" name="Text 6"/>
          <p:cNvSpPr txBox="1"/>
          <p:nvPr/>
        </p:nvSpPr>
        <p:spPr>
          <a:xfrm>
            <a:off x="7543800" y="2011680"/>
            <a:ext cx="3962095" cy="274320"/>
          </a:xfrm>
          <a:prstGeom prst="rect">
            <a:avLst/>
          </a:prstGeom>
          <a:noFill/>
          <a:ln/>
        </p:spPr>
        <p:txBody>
          <a:bodyPr wrap="square" lIns="0" tIns="0" rIns="0" bIns="0" rtlCol="0" anchor="ctr"/>
          <a:lstStyle/>
          <a:p>
            <a:pPr marL="0" indent="0">
              <a:buNone/>
            </a:pPr>
            <a:r>
              <a:rPr lang="en-US" sz="1200" b="1" dirty="0">
                <a:solidFill>
                  <a:srgbClr val="6E6E73"/>
                </a:solidFill>
                <a:latin typeface="맑은 고딕" pitchFamily="34" charset="0"/>
                <a:ea typeface="맑은 고딕" pitchFamily="34" charset="-122"/>
                <a:cs typeface="맑은 고딕" pitchFamily="34" charset="-120"/>
              </a:rPr>
              <a:t>프로그램의 흐름</a:t>
            </a:r>
            <a:endParaRPr lang="en-US" sz="1200" dirty="0"/>
          </a:p>
        </p:txBody>
      </p:sp>
      <p:sp>
        <p:nvSpPr>
          <p:cNvPr id="9" name="Shape 7"/>
          <p:cNvSpPr/>
          <p:nvPr/>
        </p:nvSpPr>
        <p:spPr>
          <a:xfrm>
            <a:off x="7543800" y="2468880"/>
            <a:ext cx="329184" cy="329184"/>
          </a:xfrm>
          <a:prstGeom prst="ellipse">
            <a:avLst/>
          </a:prstGeom>
          <a:solidFill>
            <a:srgbClr val="F3F2F0"/>
          </a:solidFill>
          <a:ln w="12700">
            <a:solidFill>
              <a:srgbClr val="F3F2F0"/>
            </a:solidFill>
            <a:prstDash val="solid"/>
          </a:ln>
        </p:spPr>
      </p:sp>
      <p:sp>
        <p:nvSpPr>
          <p:cNvPr id="10" name="Text 8"/>
          <p:cNvSpPr txBox="1"/>
          <p:nvPr/>
        </p:nvSpPr>
        <p:spPr>
          <a:xfrm>
            <a:off x="7543800" y="2468880"/>
            <a:ext cx="329184" cy="329184"/>
          </a:xfrm>
          <a:prstGeom prst="rect">
            <a:avLst/>
          </a:prstGeom>
          <a:noFill/>
          <a:ln/>
        </p:spPr>
        <p:txBody>
          <a:bodyPr wrap="square" lIns="0" tIns="0" rIns="0" bIns="0" rtlCol="0" anchor="ctr"/>
          <a:lstStyle/>
          <a:p>
            <a:pPr marL="0" indent="0" algn="ctr">
              <a:buNone/>
            </a:pPr>
            <a:r>
              <a:rPr lang="en-US" sz="1200" b="1" dirty="0">
                <a:solidFill>
                  <a:srgbClr val="6E6E73"/>
                </a:solidFill>
                <a:latin typeface="맑은 고딕" pitchFamily="34" charset="0"/>
                <a:ea typeface="맑은 고딕" pitchFamily="34" charset="-122"/>
                <a:cs typeface="맑은 고딕" pitchFamily="34" charset="-120"/>
              </a:rPr>
              <a:t>1</a:t>
            </a:r>
            <a:endParaRPr lang="en-US" sz="1200" dirty="0"/>
          </a:p>
        </p:txBody>
      </p:sp>
      <p:sp>
        <p:nvSpPr>
          <p:cNvPr id="11" name="Text 9"/>
          <p:cNvSpPr txBox="1"/>
          <p:nvPr/>
        </p:nvSpPr>
        <p:spPr>
          <a:xfrm>
            <a:off x="8046720" y="2395728"/>
            <a:ext cx="3459175" cy="475488"/>
          </a:xfrm>
          <a:prstGeom prst="rect">
            <a:avLst/>
          </a:prstGeom>
          <a:noFill/>
          <a:ln/>
        </p:spPr>
        <p:txBody>
          <a:bodyPr wrap="square" lIns="0" tIns="0" rIns="0" bIns="0" rtlCol="0" anchor="ctr"/>
          <a:lstStyle/>
          <a:p>
            <a:pPr marL="0" indent="0">
              <a:buNone/>
            </a:pPr>
            <a:r>
              <a:rPr lang="en-US" sz="1400" dirty="0">
                <a:solidFill>
                  <a:srgbClr val="3A3A3E"/>
                </a:solidFill>
                <a:latin typeface="맑은 고딕" pitchFamily="34" charset="0"/>
                <a:ea typeface="맑은 고딕" pitchFamily="34" charset="-122"/>
                <a:cs typeface="맑은 고딕" pitchFamily="34" charset="-120"/>
              </a:rPr>
              <a:t>Product 객체 2개 생성</a:t>
            </a:r>
            <a:endParaRPr lang="en-US" sz="1400" dirty="0"/>
          </a:p>
        </p:txBody>
      </p:sp>
      <p:sp>
        <p:nvSpPr>
          <p:cNvPr id="12" name="Shape 10"/>
          <p:cNvSpPr/>
          <p:nvPr/>
        </p:nvSpPr>
        <p:spPr>
          <a:xfrm>
            <a:off x="7543800" y="3072384"/>
            <a:ext cx="329184" cy="329184"/>
          </a:xfrm>
          <a:prstGeom prst="ellipse">
            <a:avLst/>
          </a:prstGeom>
          <a:solidFill>
            <a:srgbClr val="F3F2F0"/>
          </a:solidFill>
          <a:ln w="12700">
            <a:solidFill>
              <a:srgbClr val="F3F2F0"/>
            </a:solidFill>
            <a:prstDash val="solid"/>
          </a:ln>
        </p:spPr>
      </p:sp>
      <p:sp>
        <p:nvSpPr>
          <p:cNvPr id="13" name="Text 11"/>
          <p:cNvSpPr txBox="1"/>
          <p:nvPr/>
        </p:nvSpPr>
        <p:spPr>
          <a:xfrm>
            <a:off x="7543800" y="3072384"/>
            <a:ext cx="329184" cy="329184"/>
          </a:xfrm>
          <a:prstGeom prst="rect">
            <a:avLst/>
          </a:prstGeom>
          <a:noFill/>
          <a:ln/>
        </p:spPr>
        <p:txBody>
          <a:bodyPr wrap="square" lIns="0" tIns="0" rIns="0" bIns="0" rtlCol="0" anchor="ctr"/>
          <a:lstStyle/>
          <a:p>
            <a:pPr marL="0" indent="0" algn="ctr">
              <a:buNone/>
            </a:pPr>
            <a:r>
              <a:rPr lang="en-US" sz="1200" b="1" dirty="0">
                <a:solidFill>
                  <a:srgbClr val="6E6E73"/>
                </a:solidFill>
                <a:latin typeface="맑은 고딕" pitchFamily="34" charset="0"/>
                <a:ea typeface="맑은 고딕" pitchFamily="34" charset="-122"/>
                <a:cs typeface="맑은 고딕" pitchFamily="34" charset="-120"/>
              </a:rPr>
              <a:t>2</a:t>
            </a:r>
            <a:endParaRPr lang="en-US" sz="1200" dirty="0"/>
          </a:p>
        </p:txBody>
      </p:sp>
      <p:sp>
        <p:nvSpPr>
          <p:cNvPr id="14" name="Text 12"/>
          <p:cNvSpPr txBox="1"/>
          <p:nvPr/>
        </p:nvSpPr>
        <p:spPr>
          <a:xfrm>
            <a:off x="8046720" y="2999232"/>
            <a:ext cx="3459175" cy="475488"/>
          </a:xfrm>
          <a:prstGeom prst="rect">
            <a:avLst/>
          </a:prstGeom>
          <a:noFill/>
          <a:ln/>
        </p:spPr>
        <p:txBody>
          <a:bodyPr wrap="square" lIns="0" tIns="0" rIns="0" bIns="0" rtlCol="0" anchor="ctr"/>
          <a:lstStyle/>
          <a:p>
            <a:pPr marL="0" indent="0">
              <a:buNone/>
            </a:pPr>
            <a:r>
              <a:rPr lang="en-US" sz="1400" dirty="0">
                <a:solidFill>
                  <a:srgbClr val="3A3A3E"/>
                </a:solidFill>
                <a:latin typeface="맑은 고딕" pitchFamily="34" charset="0"/>
                <a:ea typeface="맑은 고딕" pitchFamily="34" charset="-122"/>
                <a:cs typeface="맑은 고딕" pitchFamily="34" charset="-120"/>
              </a:rPr>
              <a:t>상품 목록 출력</a:t>
            </a:r>
            <a:endParaRPr lang="en-US" sz="1400" dirty="0"/>
          </a:p>
        </p:txBody>
      </p:sp>
      <p:sp>
        <p:nvSpPr>
          <p:cNvPr id="15" name="Shape 13"/>
          <p:cNvSpPr/>
          <p:nvPr/>
        </p:nvSpPr>
        <p:spPr>
          <a:xfrm>
            <a:off x="7543800" y="3675888"/>
            <a:ext cx="329184" cy="329184"/>
          </a:xfrm>
          <a:prstGeom prst="ellipse">
            <a:avLst/>
          </a:prstGeom>
          <a:solidFill>
            <a:srgbClr val="F3F2F0"/>
          </a:solidFill>
          <a:ln w="12700">
            <a:solidFill>
              <a:srgbClr val="F3F2F0"/>
            </a:solidFill>
            <a:prstDash val="solid"/>
          </a:ln>
        </p:spPr>
      </p:sp>
      <p:sp>
        <p:nvSpPr>
          <p:cNvPr id="16" name="Text 14"/>
          <p:cNvSpPr txBox="1"/>
          <p:nvPr/>
        </p:nvSpPr>
        <p:spPr>
          <a:xfrm>
            <a:off x="7543800" y="3675888"/>
            <a:ext cx="329184" cy="329184"/>
          </a:xfrm>
          <a:prstGeom prst="rect">
            <a:avLst/>
          </a:prstGeom>
          <a:noFill/>
          <a:ln/>
        </p:spPr>
        <p:txBody>
          <a:bodyPr wrap="square" lIns="0" tIns="0" rIns="0" bIns="0" rtlCol="0" anchor="ctr"/>
          <a:lstStyle/>
          <a:p>
            <a:pPr marL="0" indent="0" algn="ctr">
              <a:buNone/>
            </a:pPr>
            <a:r>
              <a:rPr lang="en-US" sz="1200" b="1" dirty="0">
                <a:solidFill>
                  <a:srgbClr val="6E6E73"/>
                </a:solidFill>
                <a:latin typeface="맑은 고딕" pitchFamily="34" charset="0"/>
                <a:ea typeface="맑은 고딕" pitchFamily="34" charset="-122"/>
                <a:cs typeface="맑은 고딕" pitchFamily="34" charset="-120"/>
              </a:rPr>
              <a:t>3</a:t>
            </a:r>
            <a:endParaRPr lang="en-US" sz="1200" dirty="0"/>
          </a:p>
        </p:txBody>
      </p:sp>
      <p:sp>
        <p:nvSpPr>
          <p:cNvPr id="17" name="Text 15"/>
          <p:cNvSpPr txBox="1"/>
          <p:nvPr/>
        </p:nvSpPr>
        <p:spPr>
          <a:xfrm>
            <a:off x="8046720" y="3602736"/>
            <a:ext cx="3459175" cy="475488"/>
          </a:xfrm>
          <a:prstGeom prst="rect">
            <a:avLst/>
          </a:prstGeom>
          <a:noFill/>
          <a:ln/>
        </p:spPr>
        <p:txBody>
          <a:bodyPr wrap="square" lIns="0" tIns="0" rIns="0" bIns="0" rtlCol="0" anchor="ctr"/>
          <a:lstStyle/>
          <a:p>
            <a:pPr marL="0" indent="0">
              <a:buNone/>
            </a:pPr>
            <a:r>
              <a:rPr lang="en-US" sz="1400" dirty="0">
                <a:solidFill>
                  <a:srgbClr val="3A3A3E"/>
                </a:solidFill>
                <a:latin typeface="맑은 고딕" pitchFamily="34" charset="0"/>
                <a:ea typeface="맑은 고딕" pitchFamily="34" charset="-122"/>
                <a:cs typeface="맑은 고딕" pitchFamily="34" charset="-120"/>
              </a:rPr>
              <a:t>판매할 번호 입력받기</a:t>
            </a:r>
            <a:endParaRPr lang="en-US" sz="1400" dirty="0"/>
          </a:p>
        </p:txBody>
      </p:sp>
      <p:sp>
        <p:nvSpPr>
          <p:cNvPr id="18" name="Shape 16"/>
          <p:cNvSpPr/>
          <p:nvPr/>
        </p:nvSpPr>
        <p:spPr>
          <a:xfrm>
            <a:off x="7543800" y="4279392"/>
            <a:ext cx="329184" cy="329184"/>
          </a:xfrm>
          <a:prstGeom prst="ellipse">
            <a:avLst/>
          </a:prstGeom>
          <a:solidFill>
            <a:srgbClr val="E8482B"/>
          </a:solidFill>
          <a:ln w="12700">
            <a:solidFill>
              <a:srgbClr val="E8482B"/>
            </a:solidFill>
            <a:prstDash val="solid"/>
          </a:ln>
        </p:spPr>
      </p:sp>
      <p:sp>
        <p:nvSpPr>
          <p:cNvPr id="19" name="Text 17"/>
          <p:cNvSpPr txBox="1"/>
          <p:nvPr/>
        </p:nvSpPr>
        <p:spPr>
          <a:xfrm>
            <a:off x="7543800" y="4279392"/>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4</a:t>
            </a:r>
            <a:endParaRPr lang="en-US" sz="1200" dirty="0"/>
          </a:p>
        </p:txBody>
      </p:sp>
      <p:sp>
        <p:nvSpPr>
          <p:cNvPr id="20" name="Text 18"/>
          <p:cNvSpPr txBox="1"/>
          <p:nvPr/>
        </p:nvSpPr>
        <p:spPr>
          <a:xfrm>
            <a:off x="8046720" y="4206240"/>
            <a:ext cx="3459175" cy="475488"/>
          </a:xfrm>
          <a:prstGeom prst="rect">
            <a:avLst/>
          </a:prstGeom>
          <a:noFill/>
          <a:ln/>
        </p:spPr>
        <p:txBody>
          <a:bodyPr wrap="square" lIns="0" tIns="0" rIns="0" bIns="0" rtlCol="0" anchor="ctr"/>
          <a:lstStyle/>
          <a:p>
            <a:pPr marL="0" indent="0">
              <a:buNone/>
            </a:pPr>
            <a:r>
              <a:rPr lang="en-US" sz="1400" b="1" dirty="0">
                <a:solidFill>
                  <a:srgbClr val="111214"/>
                </a:solidFill>
                <a:latin typeface="맑은 고딕" pitchFamily="34" charset="0"/>
                <a:ea typeface="맑은 고딕" pitchFamily="34" charset="-122"/>
                <a:cs typeface="맑은 고딕" pitchFamily="34" charset="-120"/>
              </a:rPr>
              <a:t>선택된 객체의 sell() 호출</a:t>
            </a:r>
            <a:endParaRPr lang="en-US" sz="1400" dirty="0"/>
          </a:p>
        </p:txBody>
      </p:sp>
      <p:sp>
        <p:nvSpPr>
          <p:cNvPr id="21" name="Shape 19"/>
          <p:cNvSpPr/>
          <p:nvPr/>
        </p:nvSpPr>
        <p:spPr>
          <a:xfrm>
            <a:off x="7543800" y="4882896"/>
            <a:ext cx="329184" cy="329184"/>
          </a:xfrm>
          <a:prstGeom prst="ellipse">
            <a:avLst/>
          </a:prstGeom>
          <a:solidFill>
            <a:srgbClr val="F3F2F0"/>
          </a:solidFill>
          <a:ln w="12700">
            <a:solidFill>
              <a:srgbClr val="F3F2F0"/>
            </a:solidFill>
            <a:prstDash val="solid"/>
          </a:ln>
        </p:spPr>
      </p:sp>
      <p:sp>
        <p:nvSpPr>
          <p:cNvPr id="22" name="Text 20"/>
          <p:cNvSpPr txBox="1"/>
          <p:nvPr/>
        </p:nvSpPr>
        <p:spPr>
          <a:xfrm>
            <a:off x="7543800" y="4882896"/>
            <a:ext cx="329184" cy="329184"/>
          </a:xfrm>
          <a:prstGeom prst="rect">
            <a:avLst/>
          </a:prstGeom>
          <a:noFill/>
          <a:ln/>
        </p:spPr>
        <p:txBody>
          <a:bodyPr wrap="square" lIns="0" tIns="0" rIns="0" bIns="0" rtlCol="0" anchor="ctr"/>
          <a:lstStyle/>
          <a:p>
            <a:pPr marL="0" indent="0" algn="ctr">
              <a:buNone/>
            </a:pPr>
            <a:r>
              <a:rPr lang="en-US" sz="1200" b="1" dirty="0">
                <a:solidFill>
                  <a:srgbClr val="6E6E73"/>
                </a:solidFill>
                <a:latin typeface="맑은 고딕" pitchFamily="34" charset="0"/>
                <a:ea typeface="맑은 고딕" pitchFamily="34" charset="-122"/>
                <a:cs typeface="맑은 고딕" pitchFamily="34" charset="-120"/>
              </a:rPr>
              <a:t>5</a:t>
            </a:r>
            <a:endParaRPr lang="en-US" sz="1200" dirty="0"/>
          </a:p>
        </p:txBody>
      </p:sp>
      <p:sp>
        <p:nvSpPr>
          <p:cNvPr id="23" name="Text 21"/>
          <p:cNvSpPr txBox="1"/>
          <p:nvPr/>
        </p:nvSpPr>
        <p:spPr>
          <a:xfrm>
            <a:off x="8046720" y="4809744"/>
            <a:ext cx="3459175" cy="475488"/>
          </a:xfrm>
          <a:prstGeom prst="rect">
            <a:avLst/>
          </a:prstGeom>
          <a:noFill/>
          <a:ln/>
        </p:spPr>
        <p:txBody>
          <a:bodyPr wrap="square" lIns="0" tIns="0" rIns="0" bIns="0" rtlCol="0" anchor="ctr"/>
          <a:lstStyle/>
          <a:p>
            <a:pPr marL="0" indent="0">
              <a:buNone/>
            </a:pPr>
            <a:r>
              <a:rPr lang="en-US" sz="1400" dirty="0">
                <a:solidFill>
                  <a:srgbClr val="3A3A3E"/>
                </a:solidFill>
                <a:latin typeface="맑은 고딕" pitchFamily="34" charset="0"/>
                <a:ea typeface="맑은 고딕" pitchFamily="34" charset="-122"/>
                <a:cs typeface="맑은 고딕" pitchFamily="34" charset="-120"/>
              </a:rPr>
              <a:t>바뀐 상품 정보 출력</a:t>
            </a:r>
            <a:endParaRPr lang="en-US" sz="1400" dirty="0"/>
          </a:p>
        </p:txBody>
      </p:sp>
      <p:sp>
        <p:nvSpPr>
          <p:cNvPr id="24" name="Shape 22"/>
          <p:cNvSpPr/>
          <p:nvPr/>
        </p:nvSpPr>
        <p:spPr>
          <a:xfrm>
            <a:off x="7543800" y="5532120"/>
            <a:ext cx="3962095" cy="685800"/>
          </a:xfrm>
          <a:prstGeom prst="roundRect">
            <a:avLst>
              <a:gd name="adj" fmla="val 8000"/>
            </a:avLst>
          </a:prstGeom>
          <a:solidFill>
            <a:srgbClr val="F3F2F0"/>
          </a:solidFill>
          <a:ln w="12700">
            <a:solidFill>
              <a:srgbClr val="F3F2F0"/>
            </a:solidFill>
            <a:prstDash val="solid"/>
          </a:ln>
        </p:spPr>
      </p:sp>
      <p:sp>
        <p:nvSpPr>
          <p:cNvPr id="25" name="Text 23"/>
          <p:cNvSpPr txBox="1"/>
          <p:nvPr/>
        </p:nvSpPr>
        <p:spPr>
          <a:xfrm>
            <a:off x="7818120" y="5532120"/>
            <a:ext cx="3413455" cy="685800"/>
          </a:xfrm>
          <a:prstGeom prst="rect">
            <a:avLst/>
          </a:prstGeom>
          <a:noFill/>
          <a:ln/>
        </p:spPr>
        <p:txBody>
          <a:bodyPr wrap="square" lIns="0" tIns="0" rIns="0" bIns="0" rtlCol="0" anchor="ctr"/>
          <a:lstStyle/>
          <a:p>
            <a:pPr marL="0" indent="0">
              <a:lnSpc>
                <a:spcPts val="1600"/>
              </a:lnSpc>
              <a:buNone/>
            </a:pPr>
            <a:r>
              <a:rPr lang="en-US" sz="1100" dirty="0">
                <a:solidFill>
                  <a:srgbClr val="6E6E73"/>
                </a:solidFill>
                <a:latin typeface="맑은 고딕" pitchFamily="34" charset="0"/>
                <a:ea typeface="맑은 고딕" pitchFamily="34" charset="-122"/>
                <a:cs typeface="맑은 고딕" pitchFamily="34" charset="-120"/>
              </a:rPr>
              <a:t>오늘 주제는 Scanner와 if문이 아닙니다.</a:t>
            </a:r>
            <a:endParaRPr lang="en-US" sz="1100" dirty="0"/>
          </a:p>
          <a:p>
            <a:pPr marL="0" indent="0">
              <a:lnSpc>
                <a:spcPts val="1600"/>
              </a:lnSpc>
              <a:buNone/>
            </a:pPr>
            <a:r>
              <a:rPr lang="en-US" sz="1100" dirty="0">
                <a:solidFill>
                  <a:srgbClr val="6E6E73"/>
                </a:solidFill>
                <a:latin typeface="맑은 고딕" pitchFamily="34" charset="0"/>
                <a:ea typeface="맑은 고딕" pitchFamily="34" charset="-122"/>
                <a:cs typeface="맑은 고딕" pitchFamily="34" charset="-120"/>
              </a:rPr>
              <a:t>객체를 만들고, 그 객체의 메서드를 부르는 부분만 봅니다.</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85800" y="384048"/>
            <a:ext cx="1234440" cy="292608"/>
          </a:xfrm>
          <a:prstGeom prst="roundRect">
            <a:avLst>
              <a:gd name="adj" fmla="val 50000"/>
            </a:avLst>
          </a:prstGeom>
          <a:solidFill>
            <a:srgbClr val="FBE7E2"/>
          </a:solidFill>
          <a:ln w="12700">
            <a:solidFill>
              <a:srgbClr val="FBE7E2"/>
            </a:solidFill>
            <a:prstDash val="solid"/>
          </a:ln>
        </p:spPr>
      </p:sp>
      <p:sp>
        <p:nvSpPr>
          <p:cNvPr id="3" name="Text 1"/>
          <p:cNvSpPr txBox="1"/>
          <p:nvPr/>
        </p:nvSpPr>
        <p:spPr>
          <a:xfrm>
            <a:off x="685800" y="384048"/>
            <a:ext cx="1234440" cy="292608"/>
          </a:xfrm>
          <a:prstGeom prst="rect">
            <a:avLst/>
          </a:prstGeom>
          <a:noFill/>
          <a:ln/>
        </p:spPr>
        <p:txBody>
          <a:bodyPr wrap="square" lIns="0" tIns="0" rIns="0" bIns="0" rtlCol="0" anchor="ctr"/>
          <a:lstStyle/>
          <a:p>
            <a:pPr marL="0" indent="0" algn="ctr">
              <a:buNone/>
            </a:pPr>
            <a:r>
              <a:rPr lang="en-US" sz="1100" b="1" dirty="0">
                <a:solidFill>
                  <a:srgbClr val="E8482B"/>
                </a:solidFill>
                <a:latin typeface="맑은 고딕" pitchFamily="34" charset="0"/>
                <a:ea typeface="맑은 고딕" pitchFamily="34" charset="-122"/>
                <a:cs typeface="맑은 고딕" pitchFamily="34" charset="-120"/>
              </a:rPr>
              <a:t>실행 결과</a:t>
            </a:r>
            <a:endParaRPr lang="en-US" sz="1100" dirty="0"/>
          </a:p>
        </p:txBody>
      </p:sp>
      <p:sp>
        <p:nvSpPr>
          <p:cNvPr id="4" name="Text 2"/>
          <p:cNvSpPr txBox="1"/>
          <p:nvPr/>
        </p:nvSpPr>
        <p:spPr>
          <a:xfrm>
            <a:off x="685800" y="713232"/>
            <a:ext cx="10820095" cy="603504"/>
          </a:xfrm>
          <a:prstGeom prst="rect">
            <a:avLst/>
          </a:prstGeom>
          <a:noFill/>
          <a:ln/>
        </p:spPr>
        <p:txBody>
          <a:bodyPr wrap="square" lIns="0" tIns="0" rIns="0" bIns="0" rtlCol="0" anchor="ctr"/>
          <a:lstStyle/>
          <a:p>
            <a:pPr marL="0" indent="0">
              <a:buNone/>
            </a:pPr>
            <a:r>
              <a:rPr lang="en-US" sz="3400" b="1" dirty="0">
                <a:solidFill>
                  <a:srgbClr val="111214"/>
                </a:solidFill>
                <a:latin typeface="맑은 고딕" pitchFamily="34" charset="0"/>
                <a:ea typeface="맑은 고딕" pitchFamily="34" charset="-122"/>
                <a:cs typeface="맑은 고딕" pitchFamily="34" charset="-120"/>
              </a:rPr>
              <a:t>실제로 돌려보면</a:t>
            </a:r>
            <a:endParaRPr lang="en-US" sz="3400" dirty="0"/>
          </a:p>
        </p:txBody>
      </p:sp>
      <p:sp>
        <p:nvSpPr>
          <p:cNvPr id="5" name="Text 3"/>
          <p:cNvSpPr txBox="1"/>
          <p:nvPr/>
        </p:nvSpPr>
        <p:spPr>
          <a:xfrm>
            <a:off x="685800" y="1316736"/>
            <a:ext cx="10820095" cy="310896"/>
          </a:xfrm>
          <a:prstGeom prst="rect">
            <a:avLst/>
          </a:prstGeom>
          <a:noFill/>
          <a:ln/>
        </p:spPr>
        <p:txBody>
          <a:bodyPr wrap="square" lIns="0" tIns="0" rIns="0" bIns="0" rtlCol="0" anchor="ctr"/>
          <a:lstStyle/>
          <a:p>
            <a:pPr marL="0" indent="0">
              <a:buNone/>
            </a:pPr>
            <a:r>
              <a:rPr lang="en-US" sz="1400" dirty="0">
                <a:solidFill>
                  <a:srgbClr val="6E6E73"/>
                </a:solidFill>
                <a:latin typeface="맑은 고딕" pitchFamily="34" charset="0"/>
                <a:ea typeface="맑은 고딕" pitchFamily="34" charset="-122"/>
                <a:cs typeface="맑은 고딕" pitchFamily="34" charset="-120"/>
              </a:rPr>
              <a:t>1번 상품을 선택했을 때</a:t>
            </a:r>
            <a:endParaRPr lang="en-US" sz="1400" dirty="0"/>
          </a:p>
        </p:txBody>
      </p:sp>
      <p:sp>
        <p:nvSpPr>
          <p:cNvPr id="6" name="Shape 4"/>
          <p:cNvSpPr/>
          <p:nvPr/>
        </p:nvSpPr>
        <p:spPr>
          <a:xfrm>
            <a:off x="685800" y="2011680"/>
            <a:ext cx="6903720" cy="3977640"/>
          </a:xfrm>
          <a:prstGeom prst="roundRect">
            <a:avLst>
              <a:gd name="adj" fmla="val 1379"/>
            </a:avLst>
          </a:prstGeom>
          <a:solidFill>
            <a:srgbClr val="F3F2F0"/>
          </a:solidFill>
          <a:ln w="12700">
            <a:solidFill>
              <a:srgbClr val="6E6E73"/>
            </a:solidFill>
            <a:prstDash val="dash"/>
          </a:ln>
        </p:spPr>
      </p:sp>
      <p:sp>
        <p:nvSpPr>
          <p:cNvPr id="7" name="Text 5"/>
          <p:cNvSpPr txBox="1"/>
          <p:nvPr/>
        </p:nvSpPr>
        <p:spPr>
          <a:xfrm>
            <a:off x="685800" y="3749040"/>
            <a:ext cx="6903720" cy="365760"/>
          </a:xfrm>
          <a:prstGeom prst="rect">
            <a:avLst/>
          </a:prstGeom>
          <a:noFill/>
          <a:ln/>
        </p:spPr>
        <p:txBody>
          <a:bodyPr wrap="square" lIns="0" tIns="0" rIns="0" bIns="0" rtlCol="0" anchor="ctr"/>
          <a:lstStyle/>
          <a:p>
            <a:pPr marL="0" indent="0" algn="ctr">
              <a:buNone/>
            </a:pPr>
            <a:r>
              <a:rPr lang="en-US" sz="1500" b="1" dirty="0">
                <a:solidFill>
                  <a:srgbClr val="6E6E73"/>
                </a:solidFill>
                <a:latin typeface="맑은 고딕" pitchFamily="34" charset="0"/>
                <a:ea typeface="맑은 고딕" pitchFamily="34" charset="-122"/>
                <a:cs typeface="맑은 고딕" pitchFamily="34" charset="-120"/>
              </a:rPr>
              <a:t>[ 실제 실행 결과 스크린샷 삽입 ]</a:t>
            </a:r>
            <a:endParaRPr lang="en-US" sz="1500" dirty="0"/>
          </a:p>
        </p:txBody>
      </p:sp>
      <p:sp>
        <p:nvSpPr>
          <p:cNvPr id="8" name="Text 6"/>
          <p:cNvSpPr txBox="1"/>
          <p:nvPr/>
        </p:nvSpPr>
        <p:spPr>
          <a:xfrm>
            <a:off x="685800" y="4114800"/>
            <a:ext cx="6903720" cy="274320"/>
          </a:xfrm>
          <a:prstGeom prst="rect">
            <a:avLst/>
          </a:prstGeom>
          <a:noFill/>
          <a:ln/>
        </p:spPr>
        <p:txBody>
          <a:bodyPr wrap="square" lIns="0" tIns="0" rIns="0" bIns="0" rtlCol="0" anchor="ctr"/>
          <a:lstStyle/>
          <a:p>
            <a:pPr marL="0" indent="0" algn="ctr">
              <a:buNone/>
            </a:pPr>
            <a:r>
              <a:rPr lang="en-US" sz="1100" dirty="0">
                <a:solidFill>
                  <a:srgbClr val="9A9A9F"/>
                </a:solidFill>
                <a:latin typeface="맑은 고딕" pitchFamily="34" charset="0"/>
                <a:ea typeface="맑은 고딕" pitchFamily="34" charset="-122"/>
                <a:cs typeface="맑은 고딕" pitchFamily="34" charset="-120"/>
              </a:rPr>
              <a:t>VS Code 터미널 캡처 이미지를 이 영역에 채워 넣기</a:t>
            </a:r>
            <a:endParaRPr lang="en-US" sz="1100" dirty="0"/>
          </a:p>
        </p:txBody>
      </p:sp>
      <p:sp>
        <p:nvSpPr>
          <p:cNvPr id="9" name="Shape 7"/>
          <p:cNvSpPr/>
          <p:nvPr/>
        </p:nvSpPr>
        <p:spPr>
          <a:xfrm>
            <a:off x="7909560" y="2011680"/>
            <a:ext cx="3596335" cy="1783080"/>
          </a:xfrm>
          <a:prstGeom prst="roundRect">
            <a:avLst>
              <a:gd name="adj" fmla="val 3077"/>
            </a:avLst>
          </a:prstGeom>
          <a:solidFill>
            <a:srgbClr val="FFFFFF"/>
          </a:solidFill>
          <a:ln w="12700">
            <a:solidFill>
              <a:srgbClr val="E8482B"/>
            </a:solidFill>
            <a:prstDash val="solid"/>
          </a:ln>
        </p:spPr>
      </p:sp>
      <p:sp>
        <p:nvSpPr>
          <p:cNvPr id="10" name="Text 8"/>
          <p:cNvSpPr txBox="1"/>
          <p:nvPr/>
        </p:nvSpPr>
        <p:spPr>
          <a:xfrm>
            <a:off x="8229600" y="2212848"/>
            <a:ext cx="2956255" cy="274320"/>
          </a:xfrm>
          <a:prstGeom prst="rect">
            <a:avLst/>
          </a:prstGeom>
          <a:noFill/>
          <a:ln/>
        </p:spPr>
        <p:txBody>
          <a:bodyPr wrap="square" lIns="0" tIns="0" rIns="0" bIns="0" rtlCol="0" anchor="ctr"/>
          <a:lstStyle/>
          <a:p>
            <a:pPr marL="0" indent="0">
              <a:buNone/>
            </a:pPr>
            <a:r>
              <a:rPr lang="en-US" sz="1200" b="1" dirty="0">
                <a:solidFill>
                  <a:srgbClr val="6E6E73"/>
                </a:solidFill>
                <a:latin typeface="맑은 고딕" pitchFamily="34" charset="0"/>
                <a:ea typeface="맑은 고딕" pitchFamily="34" charset="-122"/>
                <a:cs typeface="맑은 고딕" pitchFamily="34" charset="-120"/>
              </a:rPr>
              <a:t>product1이 가리키는 객체</a:t>
            </a:r>
            <a:endParaRPr lang="en-US" sz="1200" dirty="0"/>
          </a:p>
        </p:txBody>
      </p:sp>
      <p:sp>
        <p:nvSpPr>
          <p:cNvPr id="11" name="Text 9"/>
          <p:cNvSpPr txBox="1"/>
          <p:nvPr/>
        </p:nvSpPr>
        <p:spPr>
          <a:xfrm>
            <a:off x="8229600" y="2542032"/>
            <a:ext cx="2956255" cy="320040"/>
          </a:xfrm>
          <a:prstGeom prst="rect">
            <a:avLst/>
          </a:prstGeom>
          <a:noFill/>
          <a:ln/>
        </p:spPr>
        <p:txBody>
          <a:bodyPr wrap="square" lIns="0" tIns="0" rIns="0" bIns="0" rtlCol="0" anchor="ctr"/>
          <a:lstStyle/>
          <a:p>
            <a:pPr marL="0" indent="0">
              <a:buNone/>
            </a:pPr>
            <a:r>
              <a:rPr lang="en-US" sz="1700" b="1" dirty="0">
                <a:solidFill>
                  <a:srgbClr val="111214"/>
                </a:solidFill>
                <a:latin typeface="맑은 고딕" pitchFamily="34" charset="0"/>
                <a:ea typeface="맑은 고딕" pitchFamily="34" charset="-122"/>
                <a:cs typeface="맑은 고딕" pitchFamily="34" charset="-120"/>
              </a:rPr>
              <a:t>Erl hoodie</a:t>
            </a:r>
            <a:endParaRPr lang="en-US" sz="1700" dirty="0"/>
          </a:p>
        </p:txBody>
      </p:sp>
      <p:sp>
        <p:nvSpPr>
          <p:cNvPr id="12" name="Text 10"/>
          <p:cNvSpPr txBox="1"/>
          <p:nvPr/>
        </p:nvSpPr>
        <p:spPr>
          <a:xfrm>
            <a:off x="8229600" y="2926080"/>
            <a:ext cx="2956255" cy="365760"/>
          </a:xfrm>
          <a:prstGeom prst="rect">
            <a:avLst/>
          </a:prstGeom>
          <a:noFill/>
          <a:ln/>
        </p:spPr>
        <p:txBody>
          <a:bodyPr wrap="square" lIns="0" tIns="0" rIns="0" bIns="0" rtlCol="0" anchor="ctr"/>
          <a:lstStyle/>
          <a:p>
            <a:pPr marL="0" indent="0">
              <a:buNone/>
            </a:pPr>
            <a:r>
              <a:rPr lang="en-US" sz="2000" b="1" dirty="0">
                <a:solidFill>
                  <a:srgbClr val="6E6E73"/>
                </a:solidFill>
                <a:latin typeface="Consolas" pitchFamily="34" charset="0"/>
                <a:ea typeface="Consolas" pitchFamily="34" charset="-122"/>
                <a:cs typeface="Consolas" pitchFamily="34" charset="-120"/>
              </a:rPr>
              <a:t>stock  3 </a:t>
            </a:r>
            <a:r>
              <a:rPr lang="en-US" sz="2000" b="1" dirty="0">
                <a:solidFill>
                  <a:srgbClr val="E8482B"/>
                </a:solidFill>
                <a:latin typeface="Consolas" pitchFamily="34" charset="0"/>
                <a:ea typeface="Consolas" pitchFamily="34" charset="-122"/>
                <a:cs typeface="Consolas" pitchFamily="34" charset="-120"/>
              </a:rPr>
              <a:t>→ 2</a:t>
            </a:r>
            <a:endParaRPr lang="en-US" sz="2000" dirty="0"/>
          </a:p>
        </p:txBody>
      </p:sp>
      <p:sp>
        <p:nvSpPr>
          <p:cNvPr id="13" name="Text 11"/>
          <p:cNvSpPr txBox="1"/>
          <p:nvPr/>
        </p:nvSpPr>
        <p:spPr>
          <a:xfrm>
            <a:off x="8229600" y="3337560"/>
            <a:ext cx="2956255" cy="274320"/>
          </a:xfrm>
          <a:prstGeom prst="rect">
            <a:avLst/>
          </a:prstGeom>
          <a:noFill/>
          <a:ln/>
        </p:spPr>
        <p:txBody>
          <a:bodyPr wrap="square" lIns="0" tIns="0" rIns="0" bIns="0" rtlCol="0" anchor="ctr"/>
          <a:lstStyle/>
          <a:p>
            <a:pPr marL="0" indent="0">
              <a:buNone/>
            </a:pPr>
            <a:r>
              <a:rPr lang="en-US" sz="1150" dirty="0">
                <a:solidFill>
                  <a:srgbClr val="6E6E73"/>
                </a:solidFill>
                <a:latin typeface="맑은 고딕" pitchFamily="34" charset="0"/>
                <a:ea typeface="맑은 고딕" pitchFamily="34" charset="-122"/>
                <a:cs typeface="맑은 고딕" pitchFamily="34" charset="-120"/>
              </a:rPr>
              <a:t>sell()이 실행되어 재고가 줄었다</a:t>
            </a:r>
            <a:endParaRPr lang="en-US" sz="1150" dirty="0"/>
          </a:p>
        </p:txBody>
      </p:sp>
      <p:sp>
        <p:nvSpPr>
          <p:cNvPr id="14" name="Shape 12"/>
          <p:cNvSpPr/>
          <p:nvPr/>
        </p:nvSpPr>
        <p:spPr>
          <a:xfrm>
            <a:off x="7909560" y="3977640"/>
            <a:ext cx="3596335" cy="1783080"/>
          </a:xfrm>
          <a:prstGeom prst="roundRect">
            <a:avLst>
              <a:gd name="adj" fmla="val 3077"/>
            </a:avLst>
          </a:prstGeom>
          <a:solidFill>
            <a:srgbClr val="F3F2F0"/>
          </a:solidFill>
          <a:ln w="12700">
            <a:solidFill>
              <a:srgbClr val="F3F2F0"/>
            </a:solidFill>
            <a:prstDash val="solid"/>
          </a:ln>
        </p:spPr>
      </p:sp>
      <p:sp>
        <p:nvSpPr>
          <p:cNvPr id="15" name="Text 13"/>
          <p:cNvSpPr txBox="1"/>
          <p:nvPr/>
        </p:nvSpPr>
        <p:spPr>
          <a:xfrm>
            <a:off x="8229600" y="4178808"/>
            <a:ext cx="2956255" cy="274320"/>
          </a:xfrm>
          <a:prstGeom prst="rect">
            <a:avLst/>
          </a:prstGeom>
          <a:noFill/>
          <a:ln/>
        </p:spPr>
        <p:txBody>
          <a:bodyPr wrap="square" lIns="0" tIns="0" rIns="0" bIns="0" rtlCol="0" anchor="ctr"/>
          <a:lstStyle/>
          <a:p>
            <a:pPr marL="0" indent="0">
              <a:buNone/>
            </a:pPr>
            <a:r>
              <a:rPr lang="en-US" sz="1200" b="1" dirty="0">
                <a:solidFill>
                  <a:srgbClr val="6E6E73"/>
                </a:solidFill>
                <a:latin typeface="맑은 고딕" pitchFamily="34" charset="0"/>
                <a:ea typeface="맑은 고딕" pitchFamily="34" charset="-122"/>
                <a:cs typeface="맑은 고딕" pitchFamily="34" charset="-120"/>
              </a:rPr>
              <a:t>product2가 가리키는 객체</a:t>
            </a:r>
            <a:endParaRPr lang="en-US" sz="1200" dirty="0"/>
          </a:p>
        </p:txBody>
      </p:sp>
      <p:sp>
        <p:nvSpPr>
          <p:cNvPr id="16" name="Text 14"/>
          <p:cNvSpPr txBox="1"/>
          <p:nvPr/>
        </p:nvSpPr>
        <p:spPr>
          <a:xfrm>
            <a:off x="8229600" y="4507992"/>
            <a:ext cx="2956255" cy="320040"/>
          </a:xfrm>
          <a:prstGeom prst="rect">
            <a:avLst/>
          </a:prstGeom>
          <a:noFill/>
          <a:ln/>
        </p:spPr>
        <p:txBody>
          <a:bodyPr wrap="square" lIns="0" tIns="0" rIns="0" bIns="0" rtlCol="0" anchor="ctr"/>
          <a:lstStyle/>
          <a:p>
            <a:pPr marL="0" indent="0">
              <a:buNone/>
            </a:pPr>
            <a:r>
              <a:rPr lang="en-US" sz="1700" b="1" dirty="0">
                <a:solidFill>
                  <a:srgbClr val="111214"/>
                </a:solidFill>
                <a:latin typeface="맑은 고딕" pitchFamily="34" charset="0"/>
                <a:ea typeface="맑은 고딕" pitchFamily="34" charset="-122"/>
                <a:cs typeface="맑은 고딕" pitchFamily="34" charset="-120"/>
              </a:rPr>
              <a:t>Diesel Jeans</a:t>
            </a:r>
            <a:endParaRPr lang="en-US" sz="1700" dirty="0"/>
          </a:p>
        </p:txBody>
      </p:sp>
      <p:sp>
        <p:nvSpPr>
          <p:cNvPr id="17" name="Text 15"/>
          <p:cNvSpPr txBox="1"/>
          <p:nvPr/>
        </p:nvSpPr>
        <p:spPr>
          <a:xfrm>
            <a:off x="8229600" y="4892040"/>
            <a:ext cx="2956255" cy="365760"/>
          </a:xfrm>
          <a:prstGeom prst="rect">
            <a:avLst/>
          </a:prstGeom>
          <a:noFill/>
          <a:ln/>
        </p:spPr>
        <p:txBody>
          <a:bodyPr wrap="square" lIns="0" tIns="0" rIns="0" bIns="0" rtlCol="0" anchor="ctr"/>
          <a:lstStyle/>
          <a:p>
            <a:pPr marL="0" indent="0">
              <a:buNone/>
            </a:pPr>
            <a:r>
              <a:rPr lang="en-US" sz="2000" b="1" dirty="0">
                <a:solidFill>
                  <a:srgbClr val="111214"/>
                </a:solidFill>
                <a:latin typeface="Consolas" pitchFamily="34" charset="0"/>
                <a:ea typeface="Consolas" pitchFamily="34" charset="-122"/>
                <a:cs typeface="Consolas" pitchFamily="34" charset="-120"/>
              </a:rPr>
              <a:t>stock  5</a:t>
            </a:r>
            <a:endParaRPr lang="en-US" sz="2000" dirty="0"/>
          </a:p>
        </p:txBody>
      </p:sp>
      <p:sp>
        <p:nvSpPr>
          <p:cNvPr id="18" name="Text 16"/>
          <p:cNvSpPr txBox="1"/>
          <p:nvPr/>
        </p:nvSpPr>
        <p:spPr>
          <a:xfrm>
            <a:off x="8229600" y="5303520"/>
            <a:ext cx="2956255" cy="274320"/>
          </a:xfrm>
          <a:prstGeom prst="rect">
            <a:avLst/>
          </a:prstGeom>
          <a:noFill/>
          <a:ln/>
        </p:spPr>
        <p:txBody>
          <a:bodyPr wrap="square" lIns="0" tIns="0" rIns="0" bIns="0" rtlCol="0" anchor="ctr"/>
          <a:lstStyle/>
          <a:p>
            <a:pPr marL="0" indent="0">
              <a:buNone/>
            </a:pPr>
            <a:r>
              <a:rPr lang="en-US" sz="1150" dirty="0">
                <a:solidFill>
                  <a:srgbClr val="6E6E73"/>
                </a:solidFill>
                <a:latin typeface="맑은 고딕" pitchFamily="34" charset="0"/>
                <a:ea typeface="맑은 고딕" pitchFamily="34" charset="-122"/>
                <a:cs typeface="맑은 고딕" pitchFamily="34" charset="-120"/>
              </a:rPr>
              <a:t>호출하지 않았으므로 그대로</a:t>
            </a:r>
            <a:endParaRPr lang="en-US" sz="1150" dirty="0"/>
          </a:p>
        </p:txBody>
      </p:sp>
      <p:pic>
        <p:nvPicPr>
          <p:cNvPr id="20" name="그림 19">
            <a:extLst>
              <a:ext uri="{FF2B5EF4-FFF2-40B4-BE49-F238E27FC236}">
                <a16:creationId xmlns:a16="http://schemas.microsoft.com/office/drawing/2014/main" id="{C81F27B9-41E2-2270-C8C4-883C0C372D79}"/>
              </a:ext>
            </a:extLst>
          </p:cNvPr>
          <p:cNvPicPr>
            <a:picLocks noChangeAspect="1"/>
          </p:cNvPicPr>
          <p:nvPr/>
        </p:nvPicPr>
        <p:blipFill>
          <a:blip r:embed="rId3"/>
          <a:stretch>
            <a:fillRect/>
          </a:stretch>
        </p:blipFill>
        <p:spPr>
          <a:xfrm>
            <a:off x="416001" y="1920240"/>
            <a:ext cx="7332227" cy="422452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11214"/>
        </a:solidFill>
        <a:effectLst/>
      </p:bgPr>
    </p:bg>
    <p:spTree>
      <p:nvGrpSpPr>
        <p:cNvPr id="1" name=""/>
        <p:cNvGrpSpPr/>
        <p:nvPr/>
      </p:nvGrpSpPr>
      <p:grpSpPr>
        <a:xfrm>
          <a:off x="0" y="0"/>
          <a:ext cx="0" cy="0"/>
          <a:chOff x="0" y="0"/>
          <a:chExt cx="0" cy="0"/>
        </a:xfrm>
      </p:grpSpPr>
      <p:sp>
        <p:nvSpPr>
          <p:cNvPr id="2" name="Shape 0"/>
          <p:cNvSpPr/>
          <p:nvPr/>
        </p:nvSpPr>
        <p:spPr>
          <a:xfrm>
            <a:off x="685800" y="777240"/>
            <a:ext cx="914400" cy="292608"/>
          </a:xfrm>
          <a:prstGeom prst="roundRect">
            <a:avLst>
              <a:gd name="adj" fmla="val 50000"/>
            </a:avLst>
          </a:prstGeom>
          <a:solidFill>
            <a:srgbClr val="24262C"/>
          </a:solidFill>
          <a:ln w="12700">
            <a:solidFill>
              <a:srgbClr val="24262C"/>
            </a:solidFill>
            <a:prstDash val="solid"/>
          </a:ln>
        </p:spPr>
      </p:sp>
      <p:sp>
        <p:nvSpPr>
          <p:cNvPr id="3" name="Text 1"/>
          <p:cNvSpPr txBox="1"/>
          <p:nvPr/>
        </p:nvSpPr>
        <p:spPr>
          <a:xfrm>
            <a:off x="685800" y="777240"/>
            <a:ext cx="914400" cy="292608"/>
          </a:xfrm>
          <a:prstGeom prst="rect">
            <a:avLst/>
          </a:prstGeom>
          <a:noFill/>
          <a:ln/>
        </p:spPr>
        <p:txBody>
          <a:bodyPr wrap="square" lIns="0" tIns="0" rIns="0" bIns="0" rtlCol="0" anchor="ctr"/>
          <a:lstStyle/>
          <a:p>
            <a:pPr marL="0" indent="0" algn="ctr">
              <a:buNone/>
            </a:pPr>
            <a:r>
              <a:rPr lang="en-US" sz="1100" b="1" dirty="0">
                <a:solidFill>
                  <a:srgbClr val="FF8A66"/>
                </a:solidFill>
                <a:latin typeface="맑은 고딕" pitchFamily="34" charset="0"/>
                <a:ea typeface="맑은 고딕" pitchFamily="34" charset="-122"/>
                <a:cs typeface="맑은 고딕" pitchFamily="34" charset="-120"/>
              </a:rPr>
              <a:t>정리</a:t>
            </a:r>
            <a:endParaRPr lang="en-US" sz="1100" dirty="0"/>
          </a:p>
        </p:txBody>
      </p:sp>
      <p:sp>
        <p:nvSpPr>
          <p:cNvPr id="4" name="Text 2"/>
          <p:cNvSpPr txBox="1"/>
          <p:nvPr/>
        </p:nvSpPr>
        <p:spPr>
          <a:xfrm>
            <a:off x="685800" y="1371600"/>
            <a:ext cx="10789920" cy="731520"/>
          </a:xfrm>
          <a:prstGeom prst="rect">
            <a:avLst/>
          </a:prstGeom>
          <a:noFill/>
          <a:ln/>
        </p:spPr>
        <p:txBody>
          <a:bodyPr wrap="square" lIns="0" tIns="0" rIns="0" bIns="0" rtlCol="0" anchor="ctr"/>
          <a:lstStyle/>
          <a:p>
            <a:pPr marL="0" indent="0">
              <a:buNone/>
            </a:pPr>
            <a:r>
              <a:rPr lang="en-US" sz="3400" b="1" dirty="0">
                <a:solidFill>
                  <a:srgbClr val="8E8E96"/>
                </a:solidFill>
                <a:latin typeface="맑은 고딕" pitchFamily="34" charset="0"/>
                <a:ea typeface="맑은 고딕" pitchFamily="34" charset="-122"/>
                <a:cs typeface="맑은 고딕" pitchFamily="34" charset="-120"/>
              </a:rPr>
              <a:t>Java에서 우리는 왜 클래스를 사용할까?</a:t>
            </a:r>
            <a:endParaRPr lang="en-US" sz="3400" dirty="0"/>
          </a:p>
        </p:txBody>
      </p:sp>
      <p:sp>
        <p:nvSpPr>
          <p:cNvPr id="5" name="Text 3"/>
          <p:cNvSpPr txBox="1"/>
          <p:nvPr/>
        </p:nvSpPr>
        <p:spPr>
          <a:xfrm>
            <a:off x="685800" y="2606040"/>
            <a:ext cx="10789920" cy="1737360"/>
          </a:xfrm>
          <a:prstGeom prst="rect">
            <a:avLst/>
          </a:prstGeom>
          <a:noFill/>
          <a:ln/>
        </p:spPr>
        <p:txBody>
          <a:bodyPr wrap="square" lIns="0" tIns="0" rIns="0" bIns="0" rtlCol="0" anchor="ctr"/>
          <a:lstStyle/>
          <a:p>
            <a:pPr marL="0" indent="0">
              <a:lnSpc>
                <a:spcPts val="4600"/>
              </a:lnSpc>
              <a:buNone/>
            </a:pPr>
            <a:r>
              <a:rPr lang="en-US" sz="2700" b="1" dirty="0">
                <a:solidFill>
                  <a:srgbClr val="FFFFFF"/>
                </a:solidFill>
                <a:latin typeface="맑은 고딕" pitchFamily="34" charset="0"/>
                <a:ea typeface="맑은 고딕" pitchFamily="34" charset="-122"/>
                <a:cs typeface="맑은 고딕" pitchFamily="34" charset="-120"/>
              </a:rPr>
              <a:t>현실의 한 대상을 표현하는 데이터와 기능을</a:t>
            </a:r>
            <a:endParaRPr lang="en-US" sz="2700" dirty="0"/>
          </a:p>
          <a:p>
            <a:pPr marL="0" indent="0">
              <a:lnSpc>
                <a:spcPts val="4600"/>
              </a:lnSpc>
              <a:buNone/>
            </a:pPr>
            <a:r>
              <a:rPr lang="en-US" sz="2700" b="1" dirty="0">
                <a:solidFill>
                  <a:srgbClr val="FFFFFF"/>
                </a:solidFill>
                <a:latin typeface="맑은 고딕" pitchFamily="34" charset="0"/>
                <a:ea typeface="맑은 고딕" pitchFamily="34" charset="-122"/>
                <a:cs typeface="맑은 고딕" pitchFamily="34" charset="-120"/>
              </a:rPr>
              <a:t>하나의 클래스로 묶어두고,</a:t>
            </a:r>
            <a:endParaRPr lang="en-US" sz="2700" dirty="0"/>
          </a:p>
          <a:p>
            <a:pPr marL="0" indent="0">
              <a:lnSpc>
                <a:spcPts val="4600"/>
              </a:lnSpc>
              <a:buNone/>
            </a:pPr>
            <a:r>
              <a:rPr lang="en-US" sz="2700" b="1" dirty="0">
                <a:solidFill>
                  <a:srgbClr val="FFFFFF"/>
                </a:solidFill>
                <a:latin typeface="맑은 고딕" pitchFamily="34" charset="0"/>
                <a:ea typeface="맑은 고딕" pitchFamily="34" charset="-122"/>
                <a:cs typeface="맑은 고딕" pitchFamily="34" charset="-120"/>
              </a:rPr>
              <a:t>필요할 때마다 객체로 찍어내서 각자의 상태를 관리하기 위해서.</a:t>
            </a:r>
            <a:endParaRPr lang="en-US" sz="2700" dirty="0"/>
          </a:p>
        </p:txBody>
      </p:sp>
      <p:sp>
        <p:nvSpPr>
          <p:cNvPr id="6" name="Text 4"/>
          <p:cNvSpPr txBox="1"/>
          <p:nvPr/>
        </p:nvSpPr>
        <p:spPr>
          <a:xfrm>
            <a:off x="685800" y="4590288"/>
            <a:ext cx="10789920" cy="365760"/>
          </a:xfrm>
          <a:prstGeom prst="rect">
            <a:avLst/>
          </a:prstGeom>
          <a:noFill/>
          <a:ln/>
        </p:spPr>
        <p:txBody>
          <a:bodyPr wrap="square" lIns="0" tIns="0" rIns="0" bIns="0" rtlCol="0" anchor="ctr"/>
          <a:lstStyle/>
          <a:p>
            <a:pPr marL="0" indent="0">
              <a:buNone/>
            </a:pPr>
            <a:r>
              <a:rPr lang="en-US" sz="1400" dirty="0">
                <a:solidFill>
                  <a:srgbClr val="8E8E96"/>
                </a:solidFill>
                <a:latin typeface="맑은 고딕" pitchFamily="34" charset="0"/>
                <a:ea typeface="맑은 고딕" pitchFamily="34" charset="-122"/>
                <a:cs typeface="맑은 고딕" pitchFamily="34" charset="-120"/>
              </a:rPr>
              <a:t>Product 클래스 하나로 ERL Hoodie도, Diesel Jeans도 만들 수 있었던 이유입니다.</a:t>
            </a:r>
            <a:endParaRPr lang="en-US" sz="1400" dirty="0"/>
          </a:p>
        </p:txBody>
      </p:sp>
      <p:sp>
        <p:nvSpPr>
          <p:cNvPr id="7" name="Shape 5"/>
          <p:cNvSpPr/>
          <p:nvPr/>
        </p:nvSpPr>
        <p:spPr>
          <a:xfrm>
            <a:off x="685800" y="5257800"/>
            <a:ext cx="1420324" cy="384048"/>
          </a:xfrm>
          <a:prstGeom prst="roundRect">
            <a:avLst>
              <a:gd name="adj" fmla="val 23810"/>
            </a:avLst>
          </a:prstGeom>
          <a:solidFill>
            <a:srgbClr val="232428"/>
          </a:solidFill>
          <a:ln w="12700">
            <a:solidFill>
              <a:srgbClr val="232428"/>
            </a:solidFill>
            <a:prstDash val="solid"/>
          </a:ln>
        </p:spPr>
      </p:sp>
      <p:sp>
        <p:nvSpPr>
          <p:cNvPr id="8" name="Text 6"/>
          <p:cNvSpPr txBox="1"/>
          <p:nvPr/>
        </p:nvSpPr>
        <p:spPr>
          <a:xfrm>
            <a:off x="685800" y="5257800"/>
            <a:ext cx="1420324" cy="384048"/>
          </a:xfrm>
          <a:prstGeom prst="rect">
            <a:avLst/>
          </a:prstGeom>
          <a:noFill/>
          <a:ln/>
        </p:spPr>
        <p:txBody>
          <a:bodyPr wrap="square" lIns="0" tIns="0" rIns="0" bIns="0" rtlCol="0" anchor="ctr"/>
          <a:lstStyle/>
          <a:p>
            <a:pPr marL="0" indent="0" algn="ctr">
              <a:buNone/>
            </a:pPr>
            <a:r>
              <a:rPr lang="en-US" sz="1150" dirty="0">
                <a:solidFill>
                  <a:srgbClr val="9A9AA2"/>
                </a:solidFill>
                <a:latin typeface="맑은 고딕" pitchFamily="34" charset="0"/>
                <a:ea typeface="맑은 고딕" pitchFamily="34" charset="-122"/>
                <a:cs typeface="맑은 고딕" pitchFamily="34" charset="-120"/>
              </a:rPr>
              <a:t>문제</a:t>
            </a:r>
            <a:endParaRPr lang="en-US" sz="1150" dirty="0"/>
          </a:p>
        </p:txBody>
      </p:sp>
      <p:sp>
        <p:nvSpPr>
          <p:cNvPr id="9" name="Shape 7"/>
          <p:cNvSpPr/>
          <p:nvPr/>
        </p:nvSpPr>
        <p:spPr>
          <a:xfrm>
            <a:off x="2252428" y="5257800"/>
            <a:ext cx="1420324" cy="384048"/>
          </a:xfrm>
          <a:prstGeom prst="roundRect">
            <a:avLst>
              <a:gd name="adj" fmla="val 23810"/>
            </a:avLst>
          </a:prstGeom>
          <a:solidFill>
            <a:srgbClr val="232428"/>
          </a:solidFill>
          <a:ln w="12700">
            <a:solidFill>
              <a:srgbClr val="232428"/>
            </a:solidFill>
            <a:prstDash val="solid"/>
          </a:ln>
        </p:spPr>
      </p:sp>
      <p:sp>
        <p:nvSpPr>
          <p:cNvPr id="10" name="Text 8"/>
          <p:cNvSpPr txBox="1"/>
          <p:nvPr/>
        </p:nvSpPr>
        <p:spPr>
          <a:xfrm>
            <a:off x="2252428" y="5257800"/>
            <a:ext cx="1420324" cy="384048"/>
          </a:xfrm>
          <a:prstGeom prst="rect">
            <a:avLst/>
          </a:prstGeom>
          <a:noFill/>
          <a:ln/>
        </p:spPr>
        <p:txBody>
          <a:bodyPr wrap="square" lIns="0" tIns="0" rIns="0" bIns="0" rtlCol="0" anchor="ctr"/>
          <a:lstStyle/>
          <a:p>
            <a:pPr marL="0" indent="0" algn="ctr">
              <a:buNone/>
            </a:pPr>
            <a:r>
              <a:rPr lang="en-US" sz="1150" dirty="0">
                <a:solidFill>
                  <a:srgbClr val="9A9AA2"/>
                </a:solidFill>
                <a:latin typeface="맑은 고딕" pitchFamily="34" charset="0"/>
                <a:ea typeface="맑은 고딕" pitchFamily="34" charset="-122"/>
                <a:cs typeface="맑은 고딕" pitchFamily="34" charset="-120"/>
              </a:rPr>
              <a:t>클래스</a:t>
            </a:r>
            <a:endParaRPr lang="en-US" sz="1150" dirty="0"/>
          </a:p>
        </p:txBody>
      </p:sp>
      <p:sp>
        <p:nvSpPr>
          <p:cNvPr id="11" name="Shape 9"/>
          <p:cNvSpPr/>
          <p:nvPr/>
        </p:nvSpPr>
        <p:spPr>
          <a:xfrm>
            <a:off x="3819057" y="5257800"/>
            <a:ext cx="1420324" cy="384048"/>
          </a:xfrm>
          <a:prstGeom prst="roundRect">
            <a:avLst>
              <a:gd name="adj" fmla="val 23810"/>
            </a:avLst>
          </a:prstGeom>
          <a:solidFill>
            <a:srgbClr val="232428"/>
          </a:solidFill>
          <a:ln w="12700">
            <a:solidFill>
              <a:srgbClr val="232428"/>
            </a:solidFill>
            <a:prstDash val="solid"/>
          </a:ln>
        </p:spPr>
      </p:sp>
      <p:sp>
        <p:nvSpPr>
          <p:cNvPr id="12" name="Text 10"/>
          <p:cNvSpPr txBox="1"/>
          <p:nvPr/>
        </p:nvSpPr>
        <p:spPr>
          <a:xfrm>
            <a:off x="3819057" y="5257800"/>
            <a:ext cx="1420324" cy="384048"/>
          </a:xfrm>
          <a:prstGeom prst="rect">
            <a:avLst/>
          </a:prstGeom>
          <a:noFill/>
          <a:ln/>
        </p:spPr>
        <p:txBody>
          <a:bodyPr wrap="square" lIns="0" tIns="0" rIns="0" bIns="0" rtlCol="0" anchor="ctr"/>
          <a:lstStyle/>
          <a:p>
            <a:pPr marL="0" indent="0" algn="ctr">
              <a:buNone/>
            </a:pPr>
            <a:r>
              <a:rPr lang="en-US" sz="1150" dirty="0">
                <a:solidFill>
                  <a:srgbClr val="9A9AA2"/>
                </a:solidFill>
                <a:latin typeface="맑은 고딕" pitchFamily="34" charset="0"/>
                <a:ea typeface="맑은 고딕" pitchFamily="34" charset="-122"/>
                <a:cs typeface="맑은 고딕" pitchFamily="34" charset="-120"/>
              </a:rPr>
              <a:t>객체</a:t>
            </a:r>
            <a:endParaRPr lang="en-US" sz="1150" dirty="0"/>
          </a:p>
        </p:txBody>
      </p:sp>
      <p:sp>
        <p:nvSpPr>
          <p:cNvPr id="13" name="Shape 11"/>
          <p:cNvSpPr/>
          <p:nvPr/>
        </p:nvSpPr>
        <p:spPr>
          <a:xfrm>
            <a:off x="5385685" y="5257800"/>
            <a:ext cx="1420324" cy="384048"/>
          </a:xfrm>
          <a:prstGeom prst="roundRect">
            <a:avLst>
              <a:gd name="adj" fmla="val 23810"/>
            </a:avLst>
          </a:prstGeom>
          <a:solidFill>
            <a:srgbClr val="232428"/>
          </a:solidFill>
          <a:ln w="12700">
            <a:solidFill>
              <a:srgbClr val="232428"/>
            </a:solidFill>
            <a:prstDash val="solid"/>
          </a:ln>
        </p:spPr>
      </p:sp>
      <p:sp>
        <p:nvSpPr>
          <p:cNvPr id="14" name="Text 12"/>
          <p:cNvSpPr txBox="1"/>
          <p:nvPr/>
        </p:nvSpPr>
        <p:spPr>
          <a:xfrm>
            <a:off x="5385685" y="5257800"/>
            <a:ext cx="1420324" cy="384048"/>
          </a:xfrm>
          <a:prstGeom prst="rect">
            <a:avLst/>
          </a:prstGeom>
          <a:noFill/>
          <a:ln/>
        </p:spPr>
        <p:txBody>
          <a:bodyPr wrap="square" lIns="0" tIns="0" rIns="0" bIns="0" rtlCol="0" anchor="ctr"/>
          <a:lstStyle/>
          <a:p>
            <a:pPr marL="0" indent="0" algn="ctr">
              <a:buNone/>
            </a:pPr>
            <a:r>
              <a:rPr lang="en-US" sz="1150" dirty="0">
                <a:solidFill>
                  <a:srgbClr val="9A9AA2"/>
                </a:solidFill>
                <a:latin typeface="맑은 고딕" pitchFamily="34" charset="0"/>
                <a:ea typeface="맑은 고딕" pitchFamily="34" charset="-122"/>
                <a:cs typeface="맑은 고딕" pitchFamily="34" charset="-120"/>
              </a:rPr>
              <a:t>생성자</a:t>
            </a:r>
            <a:endParaRPr lang="en-US" sz="1150" dirty="0"/>
          </a:p>
        </p:txBody>
      </p:sp>
      <p:sp>
        <p:nvSpPr>
          <p:cNvPr id="15" name="Shape 13"/>
          <p:cNvSpPr/>
          <p:nvPr/>
        </p:nvSpPr>
        <p:spPr>
          <a:xfrm>
            <a:off x="6952314" y="5257800"/>
            <a:ext cx="1420324" cy="384048"/>
          </a:xfrm>
          <a:prstGeom prst="roundRect">
            <a:avLst>
              <a:gd name="adj" fmla="val 23810"/>
            </a:avLst>
          </a:prstGeom>
          <a:solidFill>
            <a:srgbClr val="232428"/>
          </a:solidFill>
          <a:ln w="12700">
            <a:solidFill>
              <a:srgbClr val="232428"/>
            </a:solidFill>
            <a:prstDash val="solid"/>
          </a:ln>
        </p:spPr>
      </p:sp>
      <p:sp>
        <p:nvSpPr>
          <p:cNvPr id="16" name="Text 14"/>
          <p:cNvSpPr txBox="1"/>
          <p:nvPr/>
        </p:nvSpPr>
        <p:spPr>
          <a:xfrm>
            <a:off x="6952314" y="5257800"/>
            <a:ext cx="1420324" cy="384048"/>
          </a:xfrm>
          <a:prstGeom prst="rect">
            <a:avLst/>
          </a:prstGeom>
          <a:noFill/>
          <a:ln/>
        </p:spPr>
        <p:txBody>
          <a:bodyPr wrap="square" lIns="0" tIns="0" rIns="0" bIns="0" rtlCol="0" anchor="ctr"/>
          <a:lstStyle/>
          <a:p>
            <a:pPr marL="0" indent="0" algn="ctr">
              <a:buNone/>
            </a:pPr>
            <a:r>
              <a:rPr lang="en-US" sz="1150" dirty="0">
                <a:solidFill>
                  <a:srgbClr val="9A9AA2"/>
                </a:solidFill>
                <a:latin typeface="맑은 고딕" pitchFamily="34" charset="0"/>
                <a:ea typeface="맑은 고딕" pitchFamily="34" charset="-122"/>
                <a:cs typeface="맑은 고딕" pitchFamily="34" charset="-120"/>
              </a:rPr>
              <a:t>메서드</a:t>
            </a:r>
            <a:endParaRPr lang="en-US" sz="1150" dirty="0"/>
          </a:p>
        </p:txBody>
      </p:sp>
      <p:sp>
        <p:nvSpPr>
          <p:cNvPr id="17" name="Shape 15"/>
          <p:cNvSpPr/>
          <p:nvPr/>
        </p:nvSpPr>
        <p:spPr>
          <a:xfrm>
            <a:off x="8518942" y="5257800"/>
            <a:ext cx="1420324" cy="384048"/>
          </a:xfrm>
          <a:prstGeom prst="roundRect">
            <a:avLst>
              <a:gd name="adj" fmla="val 23810"/>
            </a:avLst>
          </a:prstGeom>
          <a:solidFill>
            <a:srgbClr val="232428"/>
          </a:solidFill>
          <a:ln w="12700">
            <a:solidFill>
              <a:srgbClr val="232428"/>
            </a:solidFill>
            <a:prstDash val="solid"/>
          </a:ln>
        </p:spPr>
      </p:sp>
      <p:sp>
        <p:nvSpPr>
          <p:cNvPr id="18" name="Text 16"/>
          <p:cNvSpPr txBox="1"/>
          <p:nvPr/>
        </p:nvSpPr>
        <p:spPr>
          <a:xfrm>
            <a:off x="8518942" y="5257800"/>
            <a:ext cx="1420324" cy="384048"/>
          </a:xfrm>
          <a:prstGeom prst="rect">
            <a:avLst/>
          </a:prstGeom>
          <a:noFill/>
          <a:ln/>
        </p:spPr>
        <p:txBody>
          <a:bodyPr wrap="square" lIns="0" tIns="0" rIns="0" bIns="0" rtlCol="0" anchor="ctr"/>
          <a:lstStyle/>
          <a:p>
            <a:pPr marL="0" indent="0" algn="ctr">
              <a:buNone/>
            </a:pPr>
            <a:r>
              <a:rPr lang="en-US" sz="1150" dirty="0">
                <a:solidFill>
                  <a:srgbClr val="9A9AA2"/>
                </a:solidFill>
                <a:latin typeface="맑은 고딕" pitchFamily="34" charset="0"/>
                <a:ea typeface="맑은 고딕" pitchFamily="34" charset="-122"/>
                <a:cs typeface="맑은 고딕" pitchFamily="34" charset="-120"/>
              </a:rPr>
              <a:t>실제 프로그램</a:t>
            </a:r>
            <a:endParaRPr lang="en-US" sz="1150" dirty="0"/>
          </a:p>
        </p:txBody>
      </p:sp>
      <p:sp>
        <p:nvSpPr>
          <p:cNvPr id="19" name="Shape 17"/>
          <p:cNvSpPr/>
          <p:nvPr/>
        </p:nvSpPr>
        <p:spPr>
          <a:xfrm>
            <a:off x="10085571" y="5257800"/>
            <a:ext cx="1420324" cy="384048"/>
          </a:xfrm>
          <a:prstGeom prst="roundRect">
            <a:avLst>
              <a:gd name="adj" fmla="val 23810"/>
            </a:avLst>
          </a:prstGeom>
          <a:solidFill>
            <a:srgbClr val="E8482B"/>
          </a:solidFill>
          <a:ln w="12700">
            <a:solidFill>
              <a:srgbClr val="E8482B"/>
            </a:solidFill>
            <a:prstDash val="solid"/>
          </a:ln>
        </p:spPr>
      </p:sp>
      <p:sp>
        <p:nvSpPr>
          <p:cNvPr id="20" name="Text 18"/>
          <p:cNvSpPr txBox="1"/>
          <p:nvPr/>
        </p:nvSpPr>
        <p:spPr>
          <a:xfrm>
            <a:off x="10085571" y="5257800"/>
            <a:ext cx="1420324" cy="384048"/>
          </a:xfrm>
          <a:prstGeom prst="rect">
            <a:avLst/>
          </a:prstGeom>
          <a:noFill/>
          <a:ln/>
        </p:spPr>
        <p:txBody>
          <a:bodyPr wrap="square" lIns="0" tIns="0" rIns="0" bIns="0" rtlCol="0" anchor="ctr"/>
          <a:lstStyle/>
          <a:p>
            <a:pPr marL="0" indent="0" algn="ctr">
              <a:buNone/>
            </a:pPr>
            <a:r>
              <a:rPr lang="en-US" sz="1150" b="1" dirty="0">
                <a:solidFill>
                  <a:srgbClr val="FFFFFF"/>
                </a:solidFill>
                <a:latin typeface="맑은 고딕" pitchFamily="34" charset="0"/>
                <a:ea typeface="맑은 고딕" pitchFamily="34" charset="-122"/>
                <a:cs typeface="맑은 고딕" pitchFamily="34" charset="-120"/>
              </a:rPr>
              <a:t>답</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584</TotalTime>
  <Words>2586</Words>
  <Application>Microsoft Office PowerPoint</Application>
  <PresentationFormat>와이드스크린</PresentationFormat>
  <Paragraphs>298</Paragraphs>
  <Slides>15</Slides>
  <Notes>15</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15</vt:i4>
      </vt:variant>
    </vt:vector>
  </HeadingPairs>
  <TitlesOfParts>
    <vt:vector size="19" baseType="lpstr">
      <vt:lpstr>맑은 고딕</vt:lpstr>
      <vt:lpstr>Arial</vt:lpstr>
      <vt:lpstr>Consolas</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편집샵 상품으로 다시 배우는 Java 클래스와 객체</dc:title>
  <dc:subject>PptxGenJS Presentation</dc:subject>
  <dc:creator>Java Study</dc:creator>
  <cp:lastModifiedBy>박우식</cp:lastModifiedBy>
  <cp:revision>3</cp:revision>
  <dcterms:created xsi:type="dcterms:W3CDTF">2026-08-30T13:22:14Z</dcterms:created>
  <dcterms:modified xsi:type="dcterms:W3CDTF">2026-08-31T01:31:25Z</dcterms:modified>
</cp:coreProperties>
</file>